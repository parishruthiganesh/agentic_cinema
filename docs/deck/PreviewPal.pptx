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0:10   SAY:
"This is Preview Pal. No surprises — your child's day, pictured before it happens. It is for autistic children, and the families who prepare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0:35   SAY (slowly — this is the emotional anchor):
"Maya is seven. She is autistic. This morning she is at the dentist, and nobody told her about the light above the chair, or the sound the water makes, or that the person in the mask would count her teeth out loud. Fifteen minutes later the appointment is abandoned. Her mother rebooks for a month away. It was not the dentist that did that. It was not knowing."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SAY:
"And this is not rare. In the United States, one in thirty-one eight-year-olds is autistic. Worldwide, about sixty-two million people. Three in four of these children have documented sensory differences — so the lights, the noise and the surprise land much harder. And when a visit goes badly, the care often does not happen at all: fifteen percent have an unmet dental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1:20   SAY:
"Families already know the fix. It is called a social story — a short, plain account of what will happen, read to the child beforehand. The research says it works. But parents hand-make them, one page at a time, with stock clip-art. A cartoon dentist is not their dentist. So most children never get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1:35   SAY:
"So we built Preview Pal. A parent writes what will happen, in their own words. We turn it into a short film — with their child's face, their clothes, their comfort toy, and a photograph of the actual room they are about to walk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 2:05   SAY (over the recording):
"Here it is. She writes the steps. Gemini directs each picture under locked rules — this face, this outfit, this room. Veo turns every step into a moving clip, and it is rendered into one video with the narration. She never sees a model, a prompt, or a pipeline."
RECORD: signing in, opening the child, writing a story, the status going writing → drawing → moving pictures, then the finished video playing. About 30 seconds.
HOW TO FILL THE BOX: delete the dashed placeholder, then Insert → Video → Video from File. Select the video, open Format → Size &amp; Position and set Height 4.28", Width 7.60", Position from top-left corner: horizontal 0.75", vertical 2.20". Then Playback → Start: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SAY (over the recording):
"Before any of it reaches Maya, a second model checks every frame against those locks and against the family's must-not-show list — no needles, no drills — and re-shoots what fails. Then an adult approves it. Only then does the child watch."
RECORD: the story page with a flagged picture, pressing approve, then the child's player running. About 20 seconds.
HOW TO FILL THE BOX: delete the dashed placeholder, then Insert → Video → Video from File. Select the video, open Format → Size &amp; Position and set Height 4.28", Width 7.60", Position from top-left corner: horizontal 0.75", vertical 2.20". Then Playback → Start: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2:45   SAY:
"Everything is remembered in ClickHouse — her look, her places, her sensory profile, and how each real visit actually went. So the first story takes a few minutes, and the tenth takes a sentence. And when a parent says the waiting room was the hard part, the next story spends more time in the waiting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 – 2:55   SAY:
"It is live at previewpal dot duckdns dot org. Preview Pal. No surprises."
Optional: end on the live site in the browser instead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narrated. Leave it on screen for two seconds at the end, or skip it entirely — it is here so judges can check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23"/>
        </a:solidFill>
      </p:bgPr>
    </p:bg>
    <p:spTree>
      <p:nvGrpSpPr>
        <p:cNvPr id="1" name=""/>
        <p:cNvGrpSpPr/>
        <p:nvPr/>
      </p:nvGrpSpPr>
      <p:grpSpPr>
        <a:xfrm>
          <a:off x="0" y="0"/>
          <a:ext cx="0" cy="0"/>
          <a:chOff x="0" y="0"/>
          <a:chExt cx="0" cy="0"/>
        </a:xfrm>
      </p:grpSpPr>
      <p:sp>
        <p:nvSpPr>
          <p:cNvPr id="2" name="Shape 0"/>
          <p:cNvSpPr/>
          <p:nvPr/>
        </p:nvSpPr>
        <p:spPr>
          <a:xfrm>
            <a:off x="685800" y="1874520"/>
            <a:ext cx="868680" cy="868680"/>
          </a:xfrm>
          <a:prstGeom prst="roundRect">
            <a:avLst>
              <a:gd name="adj" fmla="val 23158"/>
            </a:avLst>
          </a:prstGeom>
          <a:solidFill>
            <a:srgbClr val="2F7D4F"/>
          </a:solidFill>
          <a:ln w="12700">
            <a:solidFill>
              <a:srgbClr val="2F7D4F"/>
            </a:solidFill>
            <a:prstDash val="solid"/>
          </a:ln>
        </p:spPr>
      </p:sp>
      <p:sp>
        <p:nvSpPr>
          <p:cNvPr id="3" name="Text 1"/>
          <p:cNvSpPr txBox="1"/>
          <p:nvPr/>
        </p:nvSpPr>
        <p:spPr>
          <a:xfrm>
            <a:off x="685800" y="1874520"/>
            <a:ext cx="868680" cy="868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P</a:t>
            </a:r>
            <a:endParaRPr lang="en-US" sz="4400" dirty="0"/>
          </a:p>
        </p:txBody>
      </p:sp>
      <p:sp>
        <p:nvSpPr>
          <p:cNvPr id="4" name="Text 2"/>
          <p:cNvSpPr txBox="1"/>
          <p:nvPr/>
        </p:nvSpPr>
        <p:spPr>
          <a:xfrm>
            <a:off x="1783080" y="1828800"/>
            <a:ext cx="9601200" cy="9601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Preview Pal</a:t>
            </a:r>
            <a:endParaRPr lang="en-US" sz="5400" dirty="0"/>
          </a:p>
        </p:txBody>
      </p:sp>
      <p:sp>
        <p:nvSpPr>
          <p:cNvPr id="5" name="Text 3"/>
          <p:cNvSpPr txBox="1"/>
          <p:nvPr/>
        </p:nvSpPr>
        <p:spPr>
          <a:xfrm>
            <a:off x="685800" y="3108960"/>
            <a:ext cx="10515600" cy="457200"/>
          </a:xfrm>
          <a:prstGeom prst="rect">
            <a:avLst/>
          </a:prstGeom>
          <a:noFill/>
          <a:ln/>
        </p:spPr>
        <p:txBody>
          <a:bodyPr wrap="square" lIns="0" tIns="0" rIns="0" bIns="0" rtlCol="0" anchor="ctr"/>
          <a:lstStyle/>
          <a:p>
            <a:pPr indent="0" marL="0">
              <a:buNone/>
            </a:pPr>
            <a:r>
              <a:rPr lang="en-US" sz="2200" dirty="0">
                <a:solidFill>
                  <a:srgbClr val="E8E4D9"/>
                </a:solidFill>
                <a:latin typeface="Calibri" pitchFamily="34" charset="0"/>
                <a:ea typeface="Calibri" pitchFamily="34" charset="-122"/>
                <a:cs typeface="Calibri" pitchFamily="34" charset="-120"/>
              </a:rPr>
              <a:t>No surprises. Your child's day, pictured before it happens.</a:t>
            </a:r>
            <a:endParaRPr lang="en-US" sz="2200" dirty="0"/>
          </a:p>
        </p:txBody>
      </p:sp>
      <p:sp>
        <p:nvSpPr>
          <p:cNvPr id="6" name="Text 4"/>
          <p:cNvSpPr txBox="1"/>
          <p:nvPr/>
        </p:nvSpPr>
        <p:spPr>
          <a:xfrm>
            <a:off x="685800" y="3703320"/>
            <a:ext cx="8778240" cy="411480"/>
          </a:xfrm>
          <a:prstGeom prst="rect">
            <a:avLst/>
          </a:prstGeom>
          <a:noFill/>
          <a:ln/>
        </p:spPr>
        <p:txBody>
          <a:bodyPr wrap="square" lIns="0" tIns="0" rIns="0" bIns="0" rtlCol="0" anchor="ctr"/>
          <a:lstStyle/>
          <a:p>
            <a:pPr indent="0" marL="0">
              <a:buNone/>
            </a:pPr>
            <a:r>
              <a:rPr lang="en-US" sz="1500" dirty="0">
                <a:solidFill>
                  <a:srgbClr val="A8B3AC"/>
                </a:solidFill>
                <a:latin typeface="Calibri" pitchFamily="34" charset="0"/>
                <a:ea typeface="Calibri" pitchFamily="34" charset="-122"/>
                <a:cs typeface="Calibri" pitchFamily="34" charset="-120"/>
              </a:rPr>
              <a:t>For autistic children, and the families who prepare them.</a:t>
            </a:r>
            <a:endParaRPr lang="en-US" sz="1500" dirty="0"/>
          </a:p>
        </p:txBody>
      </p:sp>
      <p:sp>
        <p:nvSpPr>
          <p:cNvPr id="7" name="Text 5"/>
          <p:cNvSpPr txBox="1"/>
          <p:nvPr/>
        </p:nvSpPr>
        <p:spPr>
          <a:xfrm>
            <a:off x="685800" y="4754880"/>
            <a:ext cx="5486400" cy="320040"/>
          </a:xfrm>
          <a:prstGeom prst="rect">
            <a:avLst/>
          </a:prstGeom>
          <a:noFill/>
          <a:ln/>
        </p:spPr>
        <p:txBody>
          <a:bodyPr wrap="square" lIns="0" tIns="0" rIns="0" bIns="0" rtlCol="0" anchor="ctr"/>
          <a:lstStyle/>
          <a:p>
            <a:pPr indent="0" marL="0">
              <a:buNone/>
            </a:pPr>
            <a:r>
              <a:rPr lang="en-US" sz="1400" b="1" dirty="0">
                <a:solidFill>
                  <a:srgbClr val="2F7D4F"/>
                </a:solidFill>
                <a:latin typeface="Calibri" pitchFamily="34" charset="0"/>
                <a:ea typeface="Calibri" pitchFamily="34" charset="-122"/>
                <a:cs typeface="Calibri" pitchFamily="34" charset="-120"/>
              </a:rPr>
              <a:t>previewpal.duckdns.org</a:t>
            </a:r>
            <a:endParaRPr lang="en-US" sz="1400" dirty="0"/>
          </a:p>
        </p:txBody>
      </p:sp>
      <p:sp>
        <p:nvSpPr>
          <p:cNvPr id="8" name="Text 6"/>
          <p:cNvSpPr txBox="1"/>
          <p:nvPr/>
        </p:nvSpPr>
        <p:spPr>
          <a:xfrm>
            <a:off x="685800" y="5120640"/>
            <a:ext cx="7315200" cy="320040"/>
          </a:xfrm>
          <a:prstGeom prst="rect">
            <a:avLst/>
          </a:prstGeom>
          <a:noFill/>
          <a:ln/>
        </p:spPr>
        <p:txBody>
          <a:bodyPr wrap="square" lIns="0" tIns="0" rIns="0" bIns="0" rtlCol="0" anchor="ctr"/>
          <a:lstStyle/>
          <a:p>
            <a:pPr indent="0" marL="0">
              <a:buNone/>
            </a:pPr>
            <a:r>
              <a:rPr lang="en-US" sz="1200" dirty="0">
                <a:solidFill>
                  <a:srgbClr val="8C958E"/>
                </a:solidFill>
                <a:latin typeface="Calibri" pitchFamily="34" charset="0"/>
                <a:ea typeface="Calibri" pitchFamily="34" charset="-122"/>
                <a:cs typeface="Calibri" pitchFamily="34" charset="-120"/>
              </a:rPr>
              <a:t>Agentic Cinema: The Blockbuster Hackathon  ·  ClickHouse partner track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WHY WE BUILT THIS</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A dentist's waiting room, 9:40 a.m.</a:t>
            </a:r>
            <a:endParaRPr lang="en-US" sz="3400" dirty="0"/>
          </a:p>
        </p:txBody>
      </p:sp>
      <p:sp>
        <p:nvSpPr>
          <p:cNvPr id="4" name="Shape 2"/>
          <p:cNvSpPr/>
          <p:nvPr/>
        </p:nvSpPr>
        <p:spPr>
          <a:xfrm>
            <a:off x="685800" y="1874520"/>
            <a:ext cx="5852160" cy="3566160"/>
          </a:xfrm>
          <a:prstGeom prst="roundRect">
            <a:avLst>
              <a:gd name="adj" fmla="val 3077"/>
            </a:avLst>
          </a:prstGeom>
          <a:solidFill>
            <a:srgbClr val="F3F1EA"/>
          </a:solidFill>
          <a:ln w="12700">
            <a:solidFill>
              <a:srgbClr val="F3F1EA"/>
            </a:solidFill>
            <a:prstDash val="solid"/>
          </a:ln>
          <a:effectLst>
            <a:outerShdw sx="100000" sy="100000" kx="0" ky="0" algn="bl" rotWithShape="0" blurRad="127000" dist="25400" dir="5400000">
              <a:srgbClr val="8A8578">
                <a:alpha val="18000"/>
              </a:srgbClr>
            </a:outerShdw>
          </a:effectLst>
        </p:spPr>
      </p:sp>
      <p:sp>
        <p:nvSpPr>
          <p:cNvPr id="5" name="Text 3"/>
          <p:cNvSpPr txBox="1"/>
          <p:nvPr/>
        </p:nvSpPr>
        <p:spPr>
          <a:xfrm>
            <a:off x="1097280" y="2240280"/>
            <a:ext cx="5029200" cy="2834640"/>
          </a:xfrm>
          <a:prstGeom prst="rect">
            <a:avLst/>
          </a:prstGeom>
          <a:noFill/>
          <a:ln/>
        </p:spPr>
        <p:txBody>
          <a:bodyPr wrap="square" lIns="0" tIns="0" rIns="0" bIns="0" rtlCol="0" anchor="ctr"/>
          <a:lstStyle/>
          <a:p>
            <a:pPr indent="0" marL="0">
              <a:lnSpc>
                <a:spcPts val="2500"/>
              </a:lnSpc>
              <a:buNone/>
            </a:pPr>
            <a:r>
              <a:rPr lang="en-US" sz="1550" b="1" dirty="0">
                <a:solidFill>
                  <a:srgbClr val="24312A"/>
                </a:solidFill>
                <a:latin typeface="Calibri" pitchFamily="34" charset="0"/>
                <a:ea typeface="Calibri" pitchFamily="34" charset="-122"/>
                <a:cs typeface="Calibri" pitchFamily="34" charset="-120"/>
              </a:rPr>
              <a:t>Maya is seven. She is autistic.</a:t>
            </a:r>
            <a:endParaRPr lang="en-US" sz="1550" dirty="0"/>
          </a:p>
          <a:p>
            <a:pPr indent="0" marL="0">
              <a:lnSpc>
                <a:spcPts val="2500"/>
              </a:lnSpc>
              <a:buNone/>
            </a:pPr>
            <a:r>
              <a:rPr lang="en-US" sz="1550" dirty="0">
                <a:solidFill>
                  <a:srgbClr val="24312A"/>
                </a:solidFill>
                <a:latin typeface="Calibri" pitchFamily="34" charset="0"/>
                <a:ea typeface="Calibri" pitchFamily="34" charset="-122"/>
                <a:cs typeface="Calibri" pitchFamily="34" charset="-120"/>
              </a:rPr>
              <a:t> </a:t>
            </a:r>
            <a:endParaRPr lang="en-US" sz="1550" dirty="0"/>
          </a:p>
          <a:p>
            <a:pPr indent="0" marL="0">
              <a:lnSpc>
                <a:spcPts val="2500"/>
              </a:lnSpc>
              <a:buNone/>
            </a:pPr>
            <a:r>
              <a:rPr lang="en-US" sz="1550" dirty="0">
                <a:solidFill>
                  <a:srgbClr val="24312A"/>
                </a:solidFill>
                <a:latin typeface="Calibri" pitchFamily="34" charset="0"/>
                <a:ea typeface="Calibri" pitchFamily="34" charset="-122"/>
                <a:cs typeface="Calibri" pitchFamily="34" charset="-120"/>
              </a:rPr>
              <a:t>Nobody told her about the light above the chair, or the sound the water makes, or that the person in the mask would count her teeth out loud.</a:t>
            </a:r>
            <a:endParaRPr lang="en-US" sz="1550" dirty="0"/>
          </a:p>
          <a:p>
            <a:pPr indent="0" marL="0">
              <a:lnSpc>
                <a:spcPts val="2500"/>
              </a:lnSpc>
              <a:buNone/>
            </a:pPr>
            <a:r>
              <a:rPr lang="en-US" sz="1550" dirty="0">
                <a:solidFill>
                  <a:srgbClr val="24312A"/>
                </a:solidFill>
                <a:latin typeface="Calibri" pitchFamily="34" charset="0"/>
                <a:ea typeface="Calibri" pitchFamily="34" charset="-122"/>
                <a:cs typeface="Calibri" pitchFamily="34" charset="-120"/>
              </a:rPr>
              <a:t> </a:t>
            </a:r>
            <a:endParaRPr lang="en-US" sz="1550" dirty="0"/>
          </a:p>
          <a:p>
            <a:pPr indent="0" marL="0">
              <a:lnSpc>
                <a:spcPts val="2500"/>
              </a:lnSpc>
              <a:buNone/>
            </a:pPr>
            <a:r>
              <a:rPr lang="en-US" sz="1550" dirty="0">
                <a:solidFill>
                  <a:srgbClr val="24312A"/>
                </a:solidFill>
                <a:latin typeface="Calibri" pitchFamily="34" charset="0"/>
                <a:ea typeface="Calibri" pitchFamily="34" charset="-122"/>
                <a:cs typeface="Calibri" pitchFamily="34" charset="-120"/>
              </a:rPr>
              <a:t>Fifteen minutes later the appointment is abandoned. Her mother rebooks for a month away.</a:t>
            </a:r>
            <a:endParaRPr lang="en-US" sz="1550" dirty="0"/>
          </a:p>
        </p:txBody>
      </p:sp>
      <p:sp>
        <p:nvSpPr>
          <p:cNvPr id="6" name="Text 4"/>
          <p:cNvSpPr txBox="1"/>
          <p:nvPr/>
        </p:nvSpPr>
        <p:spPr>
          <a:xfrm>
            <a:off x="7086600" y="2286000"/>
            <a:ext cx="4434840" cy="1463040"/>
          </a:xfrm>
          <a:prstGeom prst="rect">
            <a:avLst/>
          </a:prstGeom>
          <a:noFill/>
          <a:ln/>
        </p:spPr>
        <p:txBody>
          <a:bodyPr wrap="square" lIns="0" tIns="0" rIns="0" bIns="0" rtlCol="0" anchor="ctr"/>
          <a:lstStyle/>
          <a:p>
            <a:pPr indent="0" marL="0">
              <a:lnSpc>
                <a:spcPts val="3600"/>
              </a:lnSpc>
              <a:buNone/>
            </a:pPr>
            <a:r>
              <a:rPr lang="en-US" sz="2700" b="1" dirty="0">
                <a:solidFill>
                  <a:srgbClr val="215B39"/>
                </a:solidFill>
                <a:latin typeface="Cambria" pitchFamily="34" charset="0"/>
                <a:ea typeface="Cambria" pitchFamily="34" charset="-122"/>
                <a:cs typeface="Cambria" pitchFamily="34" charset="-120"/>
              </a:rPr>
              <a:t>“It was not the dentist.</a:t>
            </a:r>
            <a:endParaRPr lang="en-US" sz="2700" dirty="0"/>
          </a:p>
          <a:p>
            <a:pPr indent="0" marL="0">
              <a:lnSpc>
                <a:spcPts val="3600"/>
              </a:lnSpc>
              <a:buNone/>
            </a:pPr>
            <a:r>
              <a:rPr lang="en-US" sz="2700" b="1" dirty="0">
                <a:solidFill>
                  <a:srgbClr val="215B39"/>
                </a:solidFill>
                <a:latin typeface="Cambria" pitchFamily="34" charset="0"/>
                <a:ea typeface="Cambria" pitchFamily="34" charset="-122"/>
                <a:cs typeface="Cambria" pitchFamily="34" charset="-120"/>
              </a:rPr>
              <a:t>It was not knowing.”</a:t>
            </a:r>
            <a:endParaRPr lang="en-US" sz="2700" dirty="0"/>
          </a:p>
        </p:txBody>
      </p:sp>
      <p:sp>
        <p:nvSpPr>
          <p:cNvPr id="7" name="Text 5"/>
          <p:cNvSpPr txBox="1"/>
          <p:nvPr/>
        </p:nvSpPr>
        <p:spPr>
          <a:xfrm>
            <a:off x="7086600" y="3840480"/>
            <a:ext cx="4434840" cy="1371600"/>
          </a:xfrm>
          <a:prstGeom prst="rect">
            <a:avLst/>
          </a:prstGeom>
          <a:noFill/>
          <a:ln/>
        </p:spPr>
        <p:txBody>
          <a:bodyPr wrap="square" lIns="0" tIns="0" rIns="0" bIns="0" rtlCol="0" anchor="ctr"/>
          <a:lstStyle/>
          <a:p>
            <a:pPr indent="0" marL="0">
              <a:lnSpc>
                <a:spcPts val="2300"/>
              </a:lnSpc>
              <a:buNone/>
            </a:pPr>
            <a:r>
              <a:rPr lang="en-US" sz="1450" dirty="0">
                <a:solidFill>
                  <a:srgbClr val="6E6A61"/>
                </a:solidFill>
                <a:latin typeface="Calibri" pitchFamily="34" charset="0"/>
                <a:ea typeface="Calibri" pitchFamily="34" charset="-122"/>
                <a:cs typeface="Calibri" pitchFamily="34" charset="-120"/>
              </a:rPr>
              <a:t>Unpredictability — not the dentist, the haircut or the classroom itself — is what turns an ordinary appointment into a crisis.</a:t>
            </a:r>
            <a:endParaRPr lang="en-US" sz="1450" dirty="0"/>
          </a:p>
        </p:txBody>
      </p:sp>
      <p:sp>
        <p:nvSpPr>
          <p:cNvPr id="8" name="Shape 6"/>
          <p:cNvSpPr/>
          <p:nvPr/>
        </p:nvSpPr>
        <p:spPr>
          <a:xfrm>
            <a:off x="685800" y="5669280"/>
            <a:ext cx="10817352" cy="777240"/>
          </a:xfrm>
          <a:prstGeom prst="roundRect">
            <a:avLst>
              <a:gd name="adj" fmla="val 14118"/>
            </a:avLst>
          </a:prstGeom>
          <a:solidFill>
            <a:srgbClr val="EAF1EB"/>
          </a:solidFill>
          <a:ln w="12700">
            <a:solidFill>
              <a:srgbClr val="EAF1EB"/>
            </a:solidFill>
            <a:prstDash val="solid"/>
          </a:ln>
          <a:effectLst>
            <a:outerShdw sx="100000" sy="100000" kx="0" ky="0" algn="bl" rotWithShape="0" blurRad="127000" dist="25400" dir="5400000">
              <a:srgbClr val="8A8578">
                <a:alpha val="18000"/>
              </a:srgbClr>
            </a:outerShdw>
          </a:effectLst>
        </p:spPr>
      </p:sp>
      <p:sp>
        <p:nvSpPr>
          <p:cNvPr id="9" name="Text 7"/>
          <p:cNvSpPr txBox="1"/>
          <p:nvPr/>
        </p:nvSpPr>
        <p:spPr>
          <a:xfrm>
            <a:off x="1097280" y="5669280"/>
            <a:ext cx="10058400" cy="777240"/>
          </a:xfrm>
          <a:prstGeom prst="rect">
            <a:avLst/>
          </a:prstGeom>
          <a:noFill/>
          <a:ln/>
        </p:spPr>
        <p:txBody>
          <a:bodyPr wrap="square" lIns="0" tIns="0" rIns="0" bIns="0" rtlCol="0" anchor="ctr"/>
          <a:lstStyle/>
          <a:p>
            <a:pPr indent="0" marL="0">
              <a:buNone/>
            </a:pPr>
            <a:r>
              <a:rPr lang="en-US" sz="1500" b="1" dirty="0">
                <a:solidFill>
                  <a:srgbClr val="215B39"/>
                </a:solidFill>
                <a:latin typeface="Calibri" pitchFamily="34" charset="0"/>
                <a:ea typeface="Calibri" pitchFamily="34" charset="-122"/>
                <a:cs typeface="Calibri" pitchFamily="34" charset="-120"/>
              </a:rPr>
              <a:t>Change how much a child knows in advance, and you change the day.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23"/>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74320"/>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HOW MANY CHILDREN</a:t>
            </a:r>
            <a:endParaRPr lang="en-US" sz="1100" dirty="0"/>
          </a:p>
        </p:txBody>
      </p:sp>
      <p:sp>
        <p:nvSpPr>
          <p:cNvPr id="3" name="Text 1"/>
          <p:cNvSpPr txBox="1"/>
          <p:nvPr/>
        </p:nvSpPr>
        <p:spPr>
          <a:xfrm>
            <a:off x="685800" y="822960"/>
            <a:ext cx="731520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This is not a rare problem</a:t>
            </a:r>
            <a:endParaRPr lang="en-US" sz="3400" dirty="0"/>
          </a:p>
        </p:txBody>
      </p:sp>
      <p:sp>
        <p:nvSpPr>
          <p:cNvPr id="4" name="Text 2"/>
          <p:cNvSpPr txBox="1"/>
          <p:nvPr/>
        </p:nvSpPr>
        <p:spPr>
          <a:xfrm>
            <a:off x="685800" y="1783080"/>
            <a:ext cx="51206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1 in 31</a:t>
            </a:r>
            <a:endParaRPr lang="en-US" sz="5800" dirty="0"/>
          </a:p>
        </p:txBody>
      </p:sp>
      <p:sp>
        <p:nvSpPr>
          <p:cNvPr id="5" name="Text 3"/>
          <p:cNvSpPr txBox="1"/>
          <p:nvPr/>
        </p:nvSpPr>
        <p:spPr>
          <a:xfrm>
            <a:off x="685800" y="2788920"/>
            <a:ext cx="4937760" cy="822960"/>
          </a:xfrm>
          <a:prstGeom prst="rect">
            <a:avLst/>
          </a:prstGeom>
          <a:noFill/>
          <a:ln/>
        </p:spPr>
        <p:txBody>
          <a:bodyPr wrap="square" lIns="0" tIns="0" rIns="0" bIns="0" rtlCol="0" anchor="ctr"/>
          <a:lstStyle/>
          <a:p>
            <a:pPr indent="0" marL="0">
              <a:lnSpc>
                <a:spcPts val="2300"/>
              </a:lnSpc>
              <a:buNone/>
            </a:pPr>
            <a:r>
              <a:rPr lang="en-US" sz="1500" dirty="0">
                <a:solidFill>
                  <a:srgbClr val="E8E4D9"/>
                </a:solidFill>
                <a:latin typeface="Calibri" pitchFamily="34" charset="0"/>
                <a:ea typeface="Calibri" pitchFamily="34" charset="-122"/>
                <a:cs typeface="Calibri" pitchFamily="34" charset="-120"/>
              </a:rPr>
              <a:t>8-year-old children in the United States are identified with autism.</a:t>
            </a:r>
            <a:endParaRPr lang="en-US" sz="1500" dirty="0"/>
          </a:p>
        </p:txBody>
      </p:sp>
      <p:sp>
        <p:nvSpPr>
          <p:cNvPr id="6" name="Shape 4"/>
          <p:cNvSpPr/>
          <p:nvPr/>
        </p:nvSpPr>
        <p:spPr>
          <a:xfrm>
            <a:off x="6675120" y="1828800"/>
            <a:ext cx="420624" cy="420624"/>
          </a:xfrm>
          <a:prstGeom prst="roundRect">
            <a:avLst>
              <a:gd name="adj" fmla="val 13043"/>
            </a:avLst>
          </a:prstGeom>
          <a:solidFill>
            <a:srgbClr val="2E3D35"/>
          </a:solidFill>
          <a:ln w="12700">
            <a:solidFill>
              <a:srgbClr val="3A4A41"/>
            </a:solidFill>
            <a:prstDash val="solid"/>
          </a:ln>
        </p:spPr>
      </p:sp>
      <p:sp>
        <p:nvSpPr>
          <p:cNvPr id="7" name="Shape 5"/>
          <p:cNvSpPr/>
          <p:nvPr/>
        </p:nvSpPr>
        <p:spPr>
          <a:xfrm>
            <a:off x="7214616" y="1828800"/>
            <a:ext cx="420624" cy="420624"/>
          </a:xfrm>
          <a:prstGeom prst="roundRect">
            <a:avLst>
              <a:gd name="adj" fmla="val 13043"/>
            </a:avLst>
          </a:prstGeom>
          <a:solidFill>
            <a:srgbClr val="2E3D35"/>
          </a:solidFill>
          <a:ln w="12700">
            <a:solidFill>
              <a:srgbClr val="3A4A41"/>
            </a:solidFill>
            <a:prstDash val="solid"/>
          </a:ln>
        </p:spPr>
      </p:sp>
      <p:sp>
        <p:nvSpPr>
          <p:cNvPr id="8" name="Shape 6"/>
          <p:cNvSpPr/>
          <p:nvPr/>
        </p:nvSpPr>
        <p:spPr>
          <a:xfrm>
            <a:off x="7754112" y="1828800"/>
            <a:ext cx="420624" cy="420624"/>
          </a:xfrm>
          <a:prstGeom prst="roundRect">
            <a:avLst>
              <a:gd name="adj" fmla="val 13043"/>
            </a:avLst>
          </a:prstGeom>
          <a:solidFill>
            <a:srgbClr val="2E3D35"/>
          </a:solidFill>
          <a:ln w="12700">
            <a:solidFill>
              <a:srgbClr val="3A4A41"/>
            </a:solidFill>
            <a:prstDash val="solid"/>
          </a:ln>
        </p:spPr>
      </p:sp>
      <p:sp>
        <p:nvSpPr>
          <p:cNvPr id="9" name="Shape 7"/>
          <p:cNvSpPr/>
          <p:nvPr/>
        </p:nvSpPr>
        <p:spPr>
          <a:xfrm>
            <a:off x="8293608" y="1828800"/>
            <a:ext cx="420624" cy="420624"/>
          </a:xfrm>
          <a:prstGeom prst="roundRect">
            <a:avLst>
              <a:gd name="adj" fmla="val 13043"/>
            </a:avLst>
          </a:prstGeom>
          <a:solidFill>
            <a:srgbClr val="2E3D35"/>
          </a:solidFill>
          <a:ln w="12700">
            <a:solidFill>
              <a:srgbClr val="3A4A41"/>
            </a:solidFill>
            <a:prstDash val="solid"/>
          </a:ln>
        </p:spPr>
      </p:sp>
      <p:sp>
        <p:nvSpPr>
          <p:cNvPr id="10" name="Shape 8"/>
          <p:cNvSpPr/>
          <p:nvPr/>
        </p:nvSpPr>
        <p:spPr>
          <a:xfrm>
            <a:off x="8833104" y="1828800"/>
            <a:ext cx="420624" cy="420624"/>
          </a:xfrm>
          <a:prstGeom prst="roundRect">
            <a:avLst>
              <a:gd name="adj" fmla="val 13043"/>
            </a:avLst>
          </a:prstGeom>
          <a:solidFill>
            <a:srgbClr val="2E3D35"/>
          </a:solidFill>
          <a:ln w="12700">
            <a:solidFill>
              <a:srgbClr val="3A4A41"/>
            </a:solidFill>
            <a:prstDash val="solid"/>
          </a:ln>
        </p:spPr>
      </p:sp>
      <p:sp>
        <p:nvSpPr>
          <p:cNvPr id="11" name="Shape 9"/>
          <p:cNvSpPr/>
          <p:nvPr/>
        </p:nvSpPr>
        <p:spPr>
          <a:xfrm>
            <a:off x="9372600" y="1828800"/>
            <a:ext cx="420624" cy="420624"/>
          </a:xfrm>
          <a:prstGeom prst="roundRect">
            <a:avLst>
              <a:gd name="adj" fmla="val 13043"/>
            </a:avLst>
          </a:prstGeom>
          <a:solidFill>
            <a:srgbClr val="2E3D35"/>
          </a:solidFill>
          <a:ln w="12700">
            <a:solidFill>
              <a:srgbClr val="3A4A41"/>
            </a:solidFill>
            <a:prstDash val="solid"/>
          </a:ln>
        </p:spPr>
      </p:sp>
      <p:sp>
        <p:nvSpPr>
          <p:cNvPr id="12" name="Shape 10"/>
          <p:cNvSpPr/>
          <p:nvPr/>
        </p:nvSpPr>
        <p:spPr>
          <a:xfrm>
            <a:off x="9912096" y="1828800"/>
            <a:ext cx="420624" cy="420624"/>
          </a:xfrm>
          <a:prstGeom prst="roundRect">
            <a:avLst>
              <a:gd name="adj" fmla="val 13043"/>
            </a:avLst>
          </a:prstGeom>
          <a:solidFill>
            <a:srgbClr val="2E3D35"/>
          </a:solidFill>
          <a:ln w="12700">
            <a:solidFill>
              <a:srgbClr val="3A4A41"/>
            </a:solidFill>
            <a:prstDash val="solid"/>
          </a:ln>
        </p:spPr>
      </p:sp>
      <p:sp>
        <p:nvSpPr>
          <p:cNvPr id="13" name="Shape 11"/>
          <p:cNvSpPr/>
          <p:nvPr/>
        </p:nvSpPr>
        <p:spPr>
          <a:xfrm>
            <a:off x="10451592" y="1828800"/>
            <a:ext cx="420624" cy="420624"/>
          </a:xfrm>
          <a:prstGeom prst="roundRect">
            <a:avLst>
              <a:gd name="adj" fmla="val 13043"/>
            </a:avLst>
          </a:prstGeom>
          <a:solidFill>
            <a:srgbClr val="2E3D35"/>
          </a:solidFill>
          <a:ln w="12700">
            <a:solidFill>
              <a:srgbClr val="3A4A41"/>
            </a:solidFill>
            <a:prstDash val="solid"/>
          </a:ln>
        </p:spPr>
      </p:sp>
      <p:sp>
        <p:nvSpPr>
          <p:cNvPr id="14" name="Shape 12"/>
          <p:cNvSpPr/>
          <p:nvPr/>
        </p:nvSpPr>
        <p:spPr>
          <a:xfrm>
            <a:off x="6675120" y="2368296"/>
            <a:ext cx="420624" cy="420624"/>
          </a:xfrm>
          <a:prstGeom prst="roundRect">
            <a:avLst>
              <a:gd name="adj" fmla="val 13043"/>
            </a:avLst>
          </a:prstGeom>
          <a:solidFill>
            <a:srgbClr val="2E3D35"/>
          </a:solidFill>
          <a:ln w="12700">
            <a:solidFill>
              <a:srgbClr val="3A4A41"/>
            </a:solidFill>
            <a:prstDash val="solid"/>
          </a:ln>
        </p:spPr>
      </p:sp>
      <p:sp>
        <p:nvSpPr>
          <p:cNvPr id="15" name="Shape 13"/>
          <p:cNvSpPr/>
          <p:nvPr/>
        </p:nvSpPr>
        <p:spPr>
          <a:xfrm>
            <a:off x="7214616" y="2368296"/>
            <a:ext cx="420624" cy="420624"/>
          </a:xfrm>
          <a:prstGeom prst="roundRect">
            <a:avLst>
              <a:gd name="adj" fmla="val 13043"/>
            </a:avLst>
          </a:prstGeom>
          <a:solidFill>
            <a:srgbClr val="2E3D35"/>
          </a:solidFill>
          <a:ln w="12700">
            <a:solidFill>
              <a:srgbClr val="3A4A41"/>
            </a:solidFill>
            <a:prstDash val="solid"/>
          </a:ln>
        </p:spPr>
      </p:sp>
      <p:sp>
        <p:nvSpPr>
          <p:cNvPr id="16" name="Shape 14"/>
          <p:cNvSpPr/>
          <p:nvPr/>
        </p:nvSpPr>
        <p:spPr>
          <a:xfrm>
            <a:off x="7754112" y="2368296"/>
            <a:ext cx="420624" cy="420624"/>
          </a:xfrm>
          <a:prstGeom prst="roundRect">
            <a:avLst>
              <a:gd name="adj" fmla="val 13043"/>
            </a:avLst>
          </a:prstGeom>
          <a:solidFill>
            <a:srgbClr val="2E3D35"/>
          </a:solidFill>
          <a:ln w="12700">
            <a:solidFill>
              <a:srgbClr val="3A4A41"/>
            </a:solidFill>
            <a:prstDash val="solid"/>
          </a:ln>
        </p:spPr>
      </p:sp>
      <p:sp>
        <p:nvSpPr>
          <p:cNvPr id="17" name="Shape 15"/>
          <p:cNvSpPr/>
          <p:nvPr/>
        </p:nvSpPr>
        <p:spPr>
          <a:xfrm>
            <a:off x="8293608" y="2368296"/>
            <a:ext cx="420624" cy="420624"/>
          </a:xfrm>
          <a:prstGeom prst="roundRect">
            <a:avLst>
              <a:gd name="adj" fmla="val 13043"/>
            </a:avLst>
          </a:prstGeom>
          <a:solidFill>
            <a:srgbClr val="2E3D35"/>
          </a:solidFill>
          <a:ln w="12700">
            <a:solidFill>
              <a:srgbClr val="3A4A41"/>
            </a:solidFill>
            <a:prstDash val="solid"/>
          </a:ln>
        </p:spPr>
      </p:sp>
      <p:sp>
        <p:nvSpPr>
          <p:cNvPr id="18" name="Shape 16"/>
          <p:cNvSpPr/>
          <p:nvPr/>
        </p:nvSpPr>
        <p:spPr>
          <a:xfrm>
            <a:off x="8833104" y="2368296"/>
            <a:ext cx="420624" cy="420624"/>
          </a:xfrm>
          <a:prstGeom prst="roundRect">
            <a:avLst>
              <a:gd name="adj" fmla="val 13043"/>
            </a:avLst>
          </a:prstGeom>
          <a:solidFill>
            <a:srgbClr val="C2603E"/>
          </a:solidFill>
          <a:ln w="12700">
            <a:solidFill>
              <a:srgbClr val="C2603E"/>
            </a:solidFill>
            <a:prstDash val="solid"/>
          </a:ln>
        </p:spPr>
      </p:sp>
      <p:sp>
        <p:nvSpPr>
          <p:cNvPr id="19" name="Shape 17"/>
          <p:cNvSpPr/>
          <p:nvPr/>
        </p:nvSpPr>
        <p:spPr>
          <a:xfrm>
            <a:off x="9372600" y="2368296"/>
            <a:ext cx="420624" cy="420624"/>
          </a:xfrm>
          <a:prstGeom prst="roundRect">
            <a:avLst>
              <a:gd name="adj" fmla="val 13043"/>
            </a:avLst>
          </a:prstGeom>
          <a:solidFill>
            <a:srgbClr val="2E3D35"/>
          </a:solidFill>
          <a:ln w="12700">
            <a:solidFill>
              <a:srgbClr val="3A4A41"/>
            </a:solidFill>
            <a:prstDash val="solid"/>
          </a:ln>
        </p:spPr>
      </p:sp>
      <p:sp>
        <p:nvSpPr>
          <p:cNvPr id="20" name="Shape 18"/>
          <p:cNvSpPr/>
          <p:nvPr/>
        </p:nvSpPr>
        <p:spPr>
          <a:xfrm>
            <a:off x="9912096" y="2368296"/>
            <a:ext cx="420624" cy="420624"/>
          </a:xfrm>
          <a:prstGeom prst="roundRect">
            <a:avLst>
              <a:gd name="adj" fmla="val 13043"/>
            </a:avLst>
          </a:prstGeom>
          <a:solidFill>
            <a:srgbClr val="2E3D35"/>
          </a:solidFill>
          <a:ln w="12700">
            <a:solidFill>
              <a:srgbClr val="3A4A41"/>
            </a:solidFill>
            <a:prstDash val="solid"/>
          </a:ln>
        </p:spPr>
      </p:sp>
      <p:sp>
        <p:nvSpPr>
          <p:cNvPr id="21" name="Shape 19"/>
          <p:cNvSpPr/>
          <p:nvPr/>
        </p:nvSpPr>
        <p:spPr>
          <a:xfrm>
            <a:off x="10451592" y="2368296"/>
            <a:ext cx="420624" cy="420624"/>
          </a:xfrm>
          <a:prstGeom prst="roundRect">
            <a:avLst>
              <a:gd name="adj" fmla="val 13043"/>
            </a:avLst>
          </a:prstGeom>
          <a:solidFill>
            <a:srgbClr val="2E3D35"/>
          </a:solidFill>
          <a:ln w="12700">
            <a:solidFill>
              <a:srgbClr val="3A4A41"/>
            </a:solidFill>
            <a:prstDash val="solid"/>
          </a:ln>
        </p:spPr>
      </p:sp>
      <p:sp>
        <p:nvSpPr>
          <p:cNvPr id="22" name="Shape 20"/>
          <p:cNvSpPr/>
          <p:nvPr/>
        </p:nvSpPr>
        <p:spPr>
          <a:xfrm>
            <a:off x="6675120" y="2907792"/>
            <a:ext cx="420624" cy="420624"/>
          </a:xfrm>
          <a:prstGeom prst="roundRect">
            <a:avLst>
              <a:gd name="adj" fmla="val 13043"/>
            </a:avLst>
          </a:prstGeom>
          <a:solidFill>
            <a:srgbClr val="2E3D35"/>
          </a:solidFill>
          <a:ln w="12700">
            <a:solidFill>
              <a:srgbClr val="3A4A41"/>
            </a:solidFill>
            <a:prstDash val="solid"/>
          </a:ln>
        </p:spPr>
      </p:sp>
      <p:sp>
        <p:nvSpPr>
          <p:cNvPr id="23" name="Shape 21"/>
          <p:cNvSpPr/>
          <p:nvPr/>
        </p:nvSpPr>
        <p:spPr>
          <a:xfrm>
            <a:off x="7214616" y="2907792"/>
            <a:ext cx="420624" cy="420624"/>
          </a:xfrm>
          <a:prstGeom prst="roundRect">
            <a:avLst>
              <a:gd name="adj" fmla="val 13043"/>
            </a:avLst>
          </a:prstGeom>
          <a:solidFill>
            <a:srgbClr val="2E3D35"/>
          </a:solidFill>
          <a:ln w="12700">
            <a:solidFill>
              <a:srgbClr val="3A4A41"/>
            </a:solidFill>
            <a:prstDash val="solid"/>
          </a:ln>
        </p:spPr>
      </p:sp>
      <p:sp>
        <p:nvSpPr>
          <p:cNvPr id="24" name="Shape 22"/>
          <p:cNvSpPr/>
          <p:nvPr/>
        </p:nvSpPr>
        <p:spPr>
          <a:xfrm>
            <a:off x="7754112" y="2907792"/>
            <a:ext cx="420624" cy="420624"/>
          </a:xfrm>
          <a:prstGeom prst="roundRect">
            <a:avLst>
              <a:gd name="adj" fmla="val 13043"/>
            </a:avLst>
          </a:prstGeom>
          <a:solidFill>
            <a:srgbClr val="2E3D35"/>
          </a:solidFill>
          <a:ln w="12700">
            <a:solidFill>
              <a:srgbClr val="3A4A41"/>
            </a:solidFill>
            <a:prstDash val="solid"/>
          </a:ln>
        </p:spPr>
      </p:sp>
      <p:sp>
        <p:nvSpPr>
          <p:cNvPr id="25" name="Shape 23"/>
          <p:cNvSpPr/>
          <p:nvPr/>
        </p:nvSpPr>
        <p:spPr>
          <a:xfrm>
            <a:off x="8293608" y="2907792"/>
            <a:ext cx="420624" cy="420624"/>
          </a:xfrm>
          <a:prstGeom prst="roundRect">
            <a:avLst>
              <a:gd name="adj" fmla="val 13043"/>
            </a:avLst>
          </a:prstGeom>
          <a:solidFill>
            <a:srgbClr val="2E3D35"/>
          </a:solidFill>
          <a:ln w="12700">
            <a:solidFill>
              <a:srgbClr val="3A4A41"/>
            </a:solidFill>
            <a:prstDash val="solid"/>
          </a:ln>
        </p:spPr>
      </p:sp>
      <p:sp>
        <p:nvSpPr>
          <p:cNvPr id="26" name="Shape 24"/>
          <p:cNvSpPr/>
          <p:nvPr/>
        </p:nvSpPr>
        <p:spPr>
          <a:xfrm>
            <a:off x="8833104" y="2907792"/>
            <a:ext cx="420624" cy="420624"/>
          </a:xfrm>
          <a:prstGeom prst="roundRect">
            <a:avLst>
              <a:gd name="adj" fmla="val 13043"/>
            </a:avLst>
          </a:prstGeom>
          <a:solidFill>
            <a:srgbClr val="2E3D35"/>
          </a:solidFill>
          <a:ln w="12700">
            <a:solidFill>
              <a:srgbClr val="3A4A41"/>
            </a:solidFill>
            <a:prstDash val="solid"/>
          </a:ln>
        </p:spPr>
      </p:sp>
      <p:sp>
        <p:nvSpPr>
          <p:cNvPr id="27" name="Shape 25"/>
          <p:cNvSpPr/>
          <p:nvPr/>
        </p:nvSpPr>
        <p:spPr>
          <a:xfrm>
            <a:off x="9372600" y="2907792"/>
            <a:ext cx="420624" cy="420624"/>
          </a:xfrm>
          <a:prstGeom prst="roundRect">
            <a:avLst>
              <a:gd name="adj" fmla="val 13043"/>
            </a:avLst>
          </a:prstGeom>
          <a:solidFill>
            <a:srgbClr val="2E3D35"/>
          </a:solidFill>
          <a:ln w="12700">
            <a:solidFill>
              <a:srgbClr val="3A4A41"/>
            </a:solidFill>
            <a:prstDash val="solid"/>
          </a:ln>
        </p:spPr>
      </p:sp>
      <p:sp>
        <p:nvSpPr>
          <p:cNvPr id="28" name="Shape 26"/>
          <p:cNvSpPr/>
          <p:nvPr/>
        </p:nvSpPr>
        <p:spPr>
          <a:xfrm>
            <a:off x="9912096" y="2907792"/>
            <a:ext cx="420624" cy="420624"/>
          </a:xfrm>
          <a:prstGeom prst="roundRect">
            <a:avLst>
              <a:gd name="adj" fmla="val 13043"/>
            </a:avLst>
          </a:prstGeom>
          <a:solidFill>
            <a:srgbClr val="2E3D35"/>
          </a:solidFill>
          <a:ln w="12700">
            <a:solidFill>
              <a:srgbClr val="3A4A41"/>
            </a:solidFill>
            <a:prstDash val="solid"/>
          </a:ln>
        </p:spPr>
      </p:sp>
      <p:sp>
        <p:nvSpPr>
          <p:cNvPr id="29" name="Shape 27"/>
          <p:cNvSpPr/>
          <p:nvPr/>
        </p:nvSpPr>
        <p:spPr>
          <a:xfrm>
            <a:off x="10451592" y="2907792"/>
            <a:ext cx="420624" cy="420624"/>
          </a:xfrm>
          <a:prstGeom prst="roundRect">
            <a:avLst>
              <a:gd name="adj" fmla="val 13043"/>
            </a:avLst>
          </a:prstGeom>
          <a:solidFill>
            <a:srgbClr val="2E3D35"/>
          </a:solidFill>
          <a:ln w="12700">
            <a:solidFill>
              <a:srgbClr val="3A4A41"/>
            </a:solidFill>
            <a:prstDash val="solid"/>
          </a:ln>
        </p:spPr>
      </p:sp>
      <p:sp>
        <p:nvSpPr>
          <p:cNvPr id="30" name="Shape 28"/>
          <p:cNvSpPr/>
          <p:nvPr/>
        </p:nvSpPr>
        <p:spPr>
          <a:xfrm>
            <a:off x="6675120" y="3447288"/>
            <a:ext cx="420624" cy="420624"/>
          </a:xfrm>
          <a:prstGeom prst="roundRect">
            <a:avLst>
              <a:gd name="adj" fmla="val 13043"/>
            </a:avLst>
          </a:prstGeom>
          <a:solidFill>
            <a:srgbClr val="2E3D35"/>
          </a:solidFill>
          <a:ln w="12700">
            <a:solidFill>
              <a:srgbClr val="3A4A41"/>
            </a:solidFill>
            <a:prstDash val="solid"/>
          </a:ln>
        </p:spPr>
      </p:sp>
      <p:sp>
        <p:nvSpPr>
          <p:cNvPr id="31" name="Shape 29"/>
          <p:cNvSpPr/>
          <p:nvPr/>
        </p:nvSpPr>
        <p:spPr>
          <a:xfrm>
            <a:off x="7214616" y="3447288"/>
            <a:ext cx="420624" cy="420624"/>
          </a:xfrm>
          <a:prstGeom prst="roundRect">
            <a:avLst>
              <a:gd name="adj" fmla="val 13043"/>
            </a:avLst>
          </a:prstGeom>
          <a:solidFill>
            <a:srgbClr val="2E3D35"/>
          </a:solidFill>
          <a:ln w="12700">
            <a:solidFill>
              <a:srgbClr val="3A4A41"/>
            </a:solidFill>
            <a:prstDash val="solid"/>
          </a:ln>
        </p:spPr>
      </p:sp>
      <p:sp>
        <p:nvSpPr>
          <p:cNvPr id="32" name="Shape 30"/>
          <p:cNvSpPr/>
          <p:nvPr/>
        </p:nvSpPr>
        <p:spPr>
          <a:xfrm>
            <a:off x="7754112" y="3447288"/>
            <a:ext cx="420624" cy="420624"/>
          </a:xfrm>
          <a:prstGeom prst="roundRect">
            <a:avLst>
              <a:gd name="adj" fmla="val 13043"/>
            </a:avLst>
          </a:prstGeom>
          <a:solidFill>
            <a:srgbClr val="2E3D35"/>
          </a:solidFill>
          <a:ln w="12700">
            <a:solidFill>
              <a:srgbClr val="3A4A41"/>
            </a:solidFill>
            <a:prstDash val="solid"/>
          </a:ln>
        </p:spPr>
      </p:sp>
      <p:sp>
        <p:nvSpPr>
          <p:cNvPr id="33" name="Shape 31"/>
          <p:cNvSpPr/>
          <p:nvPr/>
        </p:nvSpPr>
        <p:spPr>
          <a:xfrm>
            <a:off x="8293608" y="3447288"/>
            <a:ext cx="420624" cy="420624"/>
          </a:xfrm>
          <a:prstGeom prst="roundRect">
            <a:avLst>
              <a:gd name="adj" fmla="val 13043"/>
            </a:avLst>
          </a:prstGeom>
          <a:solidFill>
            <a:srgbClr val="2E3D35"/>
          </a:solidFill>
          <a:ln w="12700">
            <a:solidFill>
              <a:srgbClr val="3A4A41"/>
            </a:solidFill>
            <a:prstDash val="solid"/>
          </a:ln>
        </p:spPr>
      </p:sp>
      <p:sp>
        <p:nvSpPr>
          <p:cNvPr id="34" name="Shape 32"/>
          <p:cNvSpPr/>
          <p:nvPr/>
        </p:nvSpPr>
        <p:spPr>
          <a:xfrm>
            <a:off x="8833104" y="3447288"/>
            <a:ext cx="420624" cy="420624"/>
          </a:xfrm>
          <a:prstGeom prst="roundRect">
            <a:avLst>
              <a:gd name="adj" fmla="val 13043"/>
            </a:avLst>
          </a:prstGeom>
          <a:solidFill>
            <a:srgbClr val="2E3D35"/>
          </a:solidFill>
          <a:ln w="12700">
            <a:solidFill>
              <a:srgbClr val="3A4A41"/>
            </a:solidFill>
            <a:prstDash val="solid"/>
          </a:ln>
        </p:spPr>
      </p:sp>
      <p:sp>
        <p:nvSpPr>
          <p:cNvPr id="35" name="Shape 33"/>
          <p:cNvSpPr/>
          <p:nvPr/>
        </p:nvSpPr>
        <p:spPr>
          <a:xfrm>
            <a:off x="9372600" y="3447288"/>
            <a:ext cx="420624" cy="420624"/>
          </a:xfrm>
          <a:prstGeom prst="roundRect">
            <a:avLst>
              <a:gd name="adj" fmla="val 13043"/>
            </a:avLst>
          </a:prstGeom>
          <a:solidFill>
            <a:srgbClr val="2E3D35"/>
          </a:solidFill>
          <a:ln w="12700">
            <a:solidFill>
              <a:srgbClr val="3A4A41"/>
            </a:solidFill>
            <a:prstDash val="solid"/>
          </a:ln>
        </p:spPr>
      </p:sp>
      <p:sp>
        <p:nvSpPr>
          <p:cNvPr id="36" name="Shape 34"/>
          <p:cNvSpPr/>
          <p:nvPr/>
        </p:nvSpPr>
        <p:spPr>
          <a:xfrm>
            <a:off x="9912096" y="3447288"/>
            <a:ext cx="420624" cy="420624"/>
          </a:xfrm>
          <a:prstGeom prst="roundRect">
            <a:avLst>
              <a:gd name="adj" fmla="val 13043"/>
            </a:avLst>
          </a:prstGeom>
          <a:solidFill>
            <a:srgbClr val="2E3D35"/>
          </a:solidFill>
          <a:ln w="12700">
            <a:solidFill>
              <a:srgbClr val="3A4A41"/>
            </a:solidFill>
            <a:prstDash val="solid"/>
          </a:ln>
        </p:spPr>
      </p:sp>
      <p:sp>
        <p:nvSpPr>
          <p:cNvPr id="37" name="Text 35"/>
          <p:cNvSpPr txBox="1"/>
          <p:nvPr/>
        </p:nvSpPr>
        <p:spPr>
          <a:xfrm>
            <a:off x="6675120" y="3931920"/>
            <a:ext cx="4754880" cy="365760"/>
          </a:xfrm>
          <a:prstGeom prst="rect">
            <a:avLst/>
          </a:prstGeom>
          <a:noFill/>
          <a:ln/>
        </p:spPr>
        <p:txBody>
          <a:bodyPr wrap="square" lIns="0" tIns="0" rIns="0" bIns="0" rtlCol="0" anchor="ctr"/>
          <a:lstStyle/>
          <a:p>
            <a:pPr indent="0" marL="0">
              <a:buNone/>
            </a:pPr>
            <a:r>
              <a:rPr lang="en-US" sz="1400" i="1" dirty="0">
                <a:solidFill>
                  <a:srgbClr val="E8E4D9"/>
                </a:solidFill>
                <a:latin typeface="Calibri" pitchFamily="34" charset="0"/>
                <a:ea typeface="Calibri" pitchFamily="34" charset="-122"/>
                <a:cs typeface="Calibri" pitchFamily="34" charset="-120"/>
              </a:rPr>
              <a:t>Every classroom of thirty has one.</a:t>
            </a:r>
            <a:endParaRPr lang="en-US" sz="1400" dirty="0"/>
          </a:p>
        </p:txBody>
      </p:sp>
      <p:sp>
        <p:nvSpPr>
          <p:cNvPr id="38" name="Shape 36"/>
          <p:cNvSpPr/>
          <p:nvPr/>
        </p:nvSpPr>
        <p:spPr>
          <a:xfrm>
            <a:off x="685800" y="4526280"/>
            <a:ext cx="3410712" cy="1600200"/>
          </a:xfrm>
          <a:prstGeom prst="roundRect">
            <a:avLst>
              <a:gd name="adj" fmla="val 6857"/>
            </a:avLst>
          </a:prstGeom>
          <a:solidFill>
            <a:srgbClr val="24352C"/>
          </a:solidFill>
          <a:ln w="12700">
            <a:solidFill>
              <a:srgbClr val="31463A"/>
            </a:solidFill>
            <a:prstDash val="solid"/>
          </a:ln>
        </p:spPr>
      </p:sp>
      <p:sp>
        <p:nvSpPr>
          <p:cNvPr id="39" name="Text 37"/>
          <p:cNvSpPr txBox="1"/>
          <p:nvPr/>
        </p:nvSpPr>
        <p:spPr>
          <a:xfrm>
            <a:off x="1005840" y="4736592"/>
            <a:ext cx="2834640" cy="5029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61.8 million</a:t>
            </a:r>
            <a:endParaRPr lang="en-US" sz="2600" dirty="0"/>
          </a:p>
        </p:txBody>
      </p:sp>
      <p:sp>
        <p:nvSpPr>
          <p:cNvPr id="40" name="Text 38"/>
          <p:cNvSpPr txBox="1"/>
          <p:nvPr/>
        </p:nvSpPr>
        <p:spPr>
          <a:xfrm>
            <a:off x="1005840" y="5285232"/>
            <a:ext cx="2788920" cy="777240"/>
          </a:xfrm>
          <a:prstGeom prst="rect">
            <a:avLst/>
          </a:prstGeom>
          <a:noFill/>
          <a:ln/>
        </p:spPr>
        <p:txBody>
          <a:bodyPr wrap="square" lIns="0" tIns="0" rIns="0" bIns="0" rtlCol="0" anchor="ctr"/>
          <a:lstStyle/>
          <a:p>
            <a:pPr indent="0" marL="0">
              <a:lnSpc>
                <a:spcPts val="1800"/>
              </a:lnSpc>
              <a:buNone/>
            </a:pPr>
            <a:r>
              <a:rPr lang="en-US" sz="1200" dirty="0">
                <a:solidFill>
                  <a:srgbClr val="A8B3AC"/>
                </a:solidFill>
                <a:latin typeface="Calibri" pitchFamily="34" charset="0"/>
                <a:ea typeface="Calibri" pitchFamily="34" charset="-122"/>
                <a:cs typeface="Calibri" pitchFamily="34" charset="-120"/>
              </a:rPr>
              <a:t>people are on the autism spectrum worldwide — about 1 in 127.</a:t>
            </a:r>
            <a:endParaRPr lang="en-US" sz="1200" dirty="0"/>
          </a:p>
        </p:txBody>
      </p:sp>
      <p:sp>
        <p:nvSpPr>
          <p:cNvPr id="41" name="Shape 39"/>
          <p:cNvSpPr/>
          <p:nvPr/>
        </p:nvSpPr>
        <p:spPr>
          <a:xfrm>
            <a:off x="4370832" y="4526280"/>
            <a:ext cx="3410712" cy="1600200"/>
          </a:xfrm>
          <a:prstGeom prst="roundRect">
            <a:avLst>
              <a:gd name="adj" fmla="val 6857"/>
            </a:avLst>
          </a:prstGeom>
          <a:solidFill>
            <a:srgbClr val="24352C"/>
          </a:solidFill>
          <a:ln w="12700">
            <a:solidFill>
              <a:srgbClr val="31463A"/>
            </a:solidFill>
            <a:prstDash val="solid"/>
          </a:ln>
        </p:spPr>
      </p:sp>
      <p:sp>
        <p:nvSpPr>
          <p:cNvPr id="42" name="Text 40"/>
          <p:cNvSpPr txBox="1"/>
          <p:nvPr/>
        </p:nvSpPr>
        <p:spPr>
          <a:xfrm>
            <a:off x="4690872" y="4736592"/>
            <a:ext cx="2834640" cy="5029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74%</a:t>
            </a:r>
            <a:endParaRPr lang="en-US" sz="2600" dirty="0"/>
          </a:p>
        </p:txBody>
      </p:sp>
      <p:sp>
        <p:nvSpPr>
          <p:cNvPr id="43" name="Text 41"/>
          <p:cNvSpPr txBox="1"/>
          <p:nvPr/>
        </p:nvSpPr>
        <p:spPr>
          <a:xfrm>
            <a:off x="4690872" y="5285232"/>
            <a:ext cx="2788920" cy="777240"/>
          </a:xfrm>
          <a:prstGeom prst="rect">
            <a:avLst/>
          </a:prstGeom>
          <a:noFill/>
          <a:ln/>
        </p:spPr>
        <p:txBody>
          <a:bodyPr wrap="square" lIns="0" tIns="0" rIns="0" bIns="0" rtlCol="0" anchor="ctr"/>
          <a:lstStyle/>
          <a:p>
            <a:pPr indent="0" marL="0">
              <a:lnSpc>
                <a:spcPts val="1800"/>
              </a:lnSpc>
              <a:buNone/>
            </a:pPr>
            <a:r>
              <a:rPr lang="en-US" sz="1200" dirty="0">
                <a:solidFill>
                  <a:srgbClr val="A8B3AC"/>
                </a:solidFill>
                <a:latin typeface="Calibri" pitchFamily="34" charset="0"/>
                <a:ea typeface="Calibri" pitchFamily="34" charset="-122"/>
                <a:cs typeface="Calibri" pitchFamily="34" charset="-120"/>
              </a:rPr>
              <a:t>of autistic children in a national US study had documented sensory features.</a:t>
            </a:r>
            <a:endParaRPr lang="en-US" sz="1200" dirty="0"/>
          </a:p>
        </p:txBody>
      </p:sp>
      <p:sp>
        <p:nvSpPr>
          <p:cNvPr id="44" name="Shape 42"/>
          <p:cNvSpPr/>
          <p:nvPr/>
        </p:nvSpPr>
        <p:spPr>
          <a:xfrm>
            <a:off x="8055864" y="4526280"/>
            <a:ext cx="3410712" cy="1600200"/>
          </a:xfrm>
          <a:prstGeom prst="roundRect">
            <a:avLst>
              <a:gd name="adj" fmla="val 6857"/>
            </a:avLst>
          </a:prstGeom>
          <a:solidFill>
            <a:srgbClr val="24352C"/>
          </a:solidFill>
          <a:ln w="12700">
            <a:solidFill>
              <a:srgbClr val="31463A"/>
            </a:solidFill>
            <a:prstDash val="solid"/>
          </a:ln>
        </p:spPr>
      </p:sp>
      <p:sp>
        <p:nvSpPr>
          <p:cNvPr id="45" name="Text 43"/>
          <p:cNvSpPr txBox="1"/>
          <p:nvPr/>
        </p:nvSpPr>
        <p:spPr>
          <a:xfrm>
            <a:off x="8375904" y="4736592"/>
            <a:ext cx="2834640" cy="5029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15.1%</a:t>
            </a:r>
            <a:endParaRPr lang="en-US" sz="2600" dirty="0"/>
          </a:p>
        </p:txBody>
      </p:sp>
      <p:sp>
        <p:nvSpPr>
          <p:cNvPr id="46" name="Text 44"/>
          <p:cNvSpPr txBox="1"/>
          <p:nvPr/>
        </p:nvSpPr>
        <p:spPr>
          <a:xfrm>
            <a:off x="8375904" y="5285232"/>
            <a:ext cx="2788920" cy="777240"/>
          </a:xfrm>
          <a:prstGeom prst="rect">
            <a:avLst/>
          </a:prstGeom>
          <a:noFill/>
          <a:ln/>
        </p:spPr>
        <p:txBody>
          <a:bodyPr wrap="square" lIns="0" tIns="0" rIns="0" bIns="0" rtlCol="0" anchor="ctr"/>
          <a:lstStyle/>
          <a:p>
            <a:pPr indent="0" marL="0">
              <a:lnSpc>
                <a:spcPts val="1800"/>
              </a:lnSpc>
              <a:buNone/>
            </a:pPr>
            <a:r>
              <a:rPr lang="en-US" sz="1200" dirty="0">
                <a:solidFill>
                  <a:srgbClr val="A8B3AC"/>
                </a:solidFill>
                <a:latin typeface="Calibri" pitchFamily="34" charset="0"/>
                <a:ea typeface="Calibri" pitchFamily="34" charset="-122"/>
                <a:cs typeface="Calibri" pitchFamily="34" charset="-120"/>
              </a:rPr>
              <a:t>of US children with autism had an unmet dental need.</a:t>
            </a:r>
            <a:endParaRPr lang="en-US" sz="1200" dirty="0"/>
          </a:p>
        </p:txBody>
      </p:sp>
      <p:sp>
        <p:nvSpPr>
          <p:cNvPr id="47" name="Text 45"/>
          <p:cNvSpPr txBox="1"/>
          <p:nvPr/>
        </p:nvSpPr>
        <p:spPr>
          <a:xfrm>
            <a:off x="685800" y="6355080"/>
            <a:ext cx="10789920" cy="274320"/>
          </a:xfrm>
          <a:prstGeom prst="rect">
            <a:avLst/>
          </a:prstGeom>
          <a:noFill/>
          <a:ln/>
        </p:spPr>
        <p:txBody>
          <a:bodyPr wrap="square" lIns="0" tIns="0" rIns="0" bIns="0" rtlCol="0" anchor="ctr"/>
          <a:lstStyle/>
          <a:p>
            <a:pPr indent="0" marL="0">
              <a:buNone/>
            </a:pPr>
            <a:r>
              <a:rPr lang="en-US" sz="900" i="1" dirty="0">
                <a:solidFill>
                  <a:srgbClr val="7C857E"/>
                </a:solidFill>
                <a:latin typeface="Calibri" pitchFamily="34" charset="0"/>
                <a:ea typeface="Calibri" pitchFamily="34" charset="-122"/>
                <a:cs typeface="Calibri" pitchFamily="34" charset="-120"/>
              </a:rPr>
              <a:t>CDC ADDM Network, MMWR Surveillance Summaries, April 2025 · Global Burden of Disease Study 2021, The Lancet Psychiatry, 2024 · Autism Research, 2022 · Academic Pediatrics, 2014.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TODAY</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Families already have the answer</a:t>
            </a:r>
            <a:endParaRPr lang="en-US" sz="3400" dirty="0"/>
          </a:p>
        </p:txBody>
      </p:sp>
      <p:sp>
        <p:nvSpPr>
          <p:cNvPr id="4" name="Shape 2"/>
          <p:cNvSpPr/>
          <p:nvPr/>
        </p:nvSpPr>
        <p:spPr>
          <a:xfrm>
            <a:off x="685800" y="1874520"/>
            <a:ext cx="5257800" cy="3840480"/>
          </a:xfrm>
          <a:prstGeom prst="roundRect">
            <a:avLst>
              <a:gd name="adj" fmla="val 2857"/>
            </a:avLst>
          </a:prstGeom>
          <a:solidFill>
            <a:srgbClr val="EAF1EB"/>
          </a:solidFill>
          <a:ln w="12700">
            <a:solidFill>
              <a:srgbClr val="EAF1EB"/>
            </a:solidFill>
            <a:prstDash val="solid"/>
          </a:ln>
          <a:effectLst>
            <a:outerShdw sx="100000" sy="100000" kx="0" ky="0" algn="bl" rotWithShape="0" blurRad="127000" dist="25400" dir="5400000">
              <a:srgbClr val="8A8578">
                <a:alpha val="18000"/>
              </a:srgbClr>
            </a:outerShdw>
          </a:effectLst>
        </p:spPr>
      </p:sp>
      <p:sp>
        <p:nvSpPr>
          <p:cNvPr id="5" name="Text 3"/>
          <p:cNvSpPr txBox="1"/>
          <p:nvPr/>
        </p:nvSpPr>
        <p:spPr>
          <a:xfrm>
            <a:off x="1097280" y="2194560"/>
            <a:ext cx="4480560" cy="457200"/>
          </a:xfrm>
          <a:prstGeom prst="rect">
            <a:avLst/>
          </a:prstGeom>
          <a:noFill/>
          <a:ln/>
        </p:spPr>
        <p:txBody>
          <a:bodyPr wrap="square" lIns="0" tIns="0" rIns="0" bIns="0" rtlCol="0" anchor="ctr"/>
          <a:lstStyle/>
          <a:p>
            <a:pPr indent="0" marL="0">
              <a:buNone/>
            </a:pPr>
            <a:r>
              <a:rPr lang="en-US" sz="2300" b="1" dirty="0">
                <a:solidFill>
                  <a:srgbClr val="215B39"/>
                </a:solidFill>
                <a:latin typeface="Cambria" pitchFamily="34" charset="0"/>
                <a:ea typeface="Cambria" pitchFamily="34" charset="-122"/>
                <a:cs typeface="Cambria" pitchFamily="34" charset="-120"/>
              </a:rPr>
              <a:t>The social story</a:t>
            </a:r>
            <a:endParaRPr lang="en-US" sz="2300" dirty="0"/>
          </a:p>
        </p:txBody>
      </p:sp>
      <p:sp>
        <p:nvSpPr>
          <p:cNvPr id="6" name="Text 4"/>
          <p:cNvSpPr txBox="1"/>
          <p:nvPr/>
        </p:nvSpPr>
        <p:spPr>
          <a:xfrm>
            <a:off x="1097280" y="2743200"/>
            <a:ext cx="4480560" cy="1371600"/>
          </a:xfrm>
          <a:prstGeom prst="rect">
            <a:avLst/>
          </a:prstGeom>
          <a:noFill/>
          <a:ln/>
        </p:spPr>
        <p:txBody>
          <a:bodyPr wrap="square" lIns="0" tIns="0" rIns="0" bIns="0" rtlCol="0" anchor="ctr"/>
          <a:lstStyle/>
          <a:p>
            <a:pPr indent="0" marL="0">
              <a:lnSpc>
                <a:spcPts val="2300"/>
              </a:lnSpc>
              <a:buNone/>
            </a:pPr>
            <a:r>
              <a:rPr lang="en-US" sz="1450" dirty="0">
                <a:solidFill>
                  <a:srgbClr val="24312A"/>
                </a:solidFill>
                <a:latin typeface="Calibri" pitchFamily="34" charset="0"/>
                <a:ea typeface="Calibri" pitchFamily="34" charset="-122"/>
                <a:cs typeface="Calibri" pitchFamily="34" charset="-120"/>
              </a:rPr>
              <a:t>A short, plain, first-person account of an event, read to the child before it happens: what will happen, in what order, what they can do.</a:t>
            </a:r>
            <a:endParaRPr lang="en-US" sz="1450" dirty="0"/>
          </a:p>
        </p:txBody>
      </p:sp>
      <p:sp>
        <p:nvSpPr>
          <p:cNvPr id="7" name="Text 5"/>
          <p:cNvSpPr txBox="1"/>
          <p:nvPr/>
        </p:nvSpPr>
        <p:spPr>
          <a:xfrm>
            <a:off x="1097280" y="4297680"/>
            <a:ext cx="4480560" cy="1097280"/>
          </a:xfrm>
          <a:prstGeom prst="rect">
            <a:avLst/>
          </a:prstGeom>
          <a:noFill/>
          <a:ln/>
        </p:spPr>
        <p:txBody>
          <a:bodyPr wrap="square" lIns="0" tIns="0" rIns="0" bIns="0" rtlCol="0" anchor="ctr"/>
          <a:lstStyle/>
          <a:p>
            <a:pPr indent="0" marL="0">
              <a:lnSpc>
                <a:spcPts val="2200"/>
              </a:lnSpc>
              <a:buNone/>
            </a:pPr>
            <a:r>
              <a:rPr lang="en-US" sz="1350" i="1" dirty="0">
                <a:solidFill>
                  <a:srgbClr val="215B39"/>
                </a:solidFill>
                <a:latin typeface="Calibri" pitchFamily="34" charset="0"/>
                <a:ea typeface="Calibri" pitchFamily="34" charset="-122"/>
                <a:cs typeface="Calibri" pitchFamily="34" charset="-120"/>
              </a:rPr>
              <a:t>Meta-analyses find a moderate overall effect, strongest for school-aged children.</a:t>
            </a:r>
            <a:endParaRPr lang="en-US" sz="1350" dirty="0"/>
          </a:p>
        </p:txBody>
      </p:sp>
      <p:sp>
        <p:nvSpPr>
          <p:cNvPr id="8" name="Text 6"/>
          <p:cNvSpPr txBox="1"/>
          <p:nvPr/>
        </p:nvSpPr>
        <p:spPr>
          <a:xfrm>
            <a:off x="6492240" y="1920240"/>
            <a:ext cx="5029200" cy="457200"/>
          </a:xfrm>
          <a:prstGeom prst="rect">
            <a:avLst/>
          </a:prstGeom>
          <a:noFill/>
          <a:ln/>
        </p:spPr>
        <p:txBody>
          <a:bodyPr wrap="square" lIns="0" tIns="0" rIns="0" bIns="0" rtlCol="0" anchor="ctr"/>
          <a:lstStyle/>
          <a:p>
            <a:pPr indent="0" marL="0">
              <a:buNone/>
            </a:pPr>
            <a:r>
              <a:rPr lang="en-US" sz="2300" b="1" dirty="0">
                <a:solidFill>
                  <a:srgbClr val="24312A"/>
                </a:solidFill>
                <a:latin typeface="Cambria" pitchFamily="34" charset="0"/>
                <a:ea typeface="Cambria" pitchFamily="34" charset="-122"/>
                <a:cs typeface="Cambria" pitchFamily="34" charset="-120"/>
              </a:rPr>
              <a:t>Why most children never get one</a:t>
            </a:r>
            <a:endParaRPr lang="en-US" sz="2300" dirty="0"/>
          </a:p>
        </p:txBody>
      </p:sp>
      <p:sp>
        <p:nvSpPr>
          <p:cNvPr id="9" name="Shape 7"/>
          <p:cNvSpPr/>
          <p:nvPr/>
        </p:nvSpPr>
        <p:spPr>
          <a:xfrm>
            <a:off x="6492240" y="2660904"/>
            <a:ext cx="256032" cy="256032"/>
          </a:xfrm>
          <a:prstGeom prst="ellipse">
            <a:avLst/>
          </a:prstGeom>
          <a:solidFill>
            <a:srgbClr val="C2603E"/>
          </a:solidFill>
          <a:ln w="12700">
            <a:solidFill>
              <a:srgbClr val="C2603E"/>
            </a:solidFill>
            <a:prstDash val="solid"/>
          </a:ln>
        </p:spPr>
      </p:sp>
      <p:sp>
        <p:nvSpPr>
          <p:cNvPr id="10" name="Text 8"/>
          <p:cNvSpPr txBox="1"/>
          <p:nvPr/>
        </p:nvSpPr>
        <p:spPr>
          <a:xfrm>
            <a:off x="6949440" y="2606040"/>
            <a:ext cx="4572000" cy="320040"/>
          </a:xfrm>
          <a:prstGeom prst="rect">
            <a:avLst/>
          </a:prstGeom>
          <a:noFill/>
          <a:ln/>
        </p:spPr>
        <p:txBody>
          <a:bodyPr wrap="square" lIns="0" tIns="0" rIns="0" bIns="0" rtlCol="0" anchor="ctr"/>
          <a:lstStyle/>
          <a:p>
            <a:pPr indent="0" marL="0">
              <a:buNone/>
            </a:pPr>
            <a:r>
              <a:rPr lang="en-US" sz="1550" b="1" dirty="0">
                <a:solidFill>
                  <a:srgbClr val="24312A"/>
                </a:solidFill>
                <a:latin typeface="Calibri" pitchFamily="34" charset="0"/>
                <a:ea typeface="Calibri" pitchFamily="34" charset="-122"/>
                <a:cs typeface="Calibri" pitchFamily="34" charset="-120"/>
              </a:rPr>
              <a:t>Hours per story</a:t>
            </a:r>
            <a:endParaRPr lang="en-US" sz="1550" dirty="0"/>
          </a:p>
        </p:txBody>
      </p:sp>
      <p:sp>
        <p:nvSpPr>
          <p:cNvPr id="11" name="Text 9"/>
          <p:cNvSpPr txBox="1"/>
          <p:nvPr/>
        </p:nvSpPr>
        <p:spPr>
          <a:xfrm>
            <a:off x="6949440" y="2971800"/>
            <a:ext cx="4572000" cy="7315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Hand-drawn or clip-art, one page at a time, by a parent who is already exhausted.</a:t>
            </a:r>
            <a:endParaRPr lang="en-US" sz="1300" dirty="0"/>
          </a:p>
        </p:txBody>
      </p:sp>
      <p:sp>
        <p:nvSpPr>
          <p:cNvPr id="12" name="Shape 10"/>
          <p:cNvSpPr/>
          <p:nvPr/>
        </p:nvSpPr>
        <p:spPr>
          <a:xfrm>
            <a:off x="6492240" y="3895344"/>
            <a:ext cx="256032" cy="256032"/>
          </a:xfrm>
          <a:prstGeom prst="ellipse">
            <a:avLst/>
          </a:prstGeom>
          <a:solidFill>
            <a:srgbClr val="C2603E"/>
          </a:solidFill>
          <a:ln w="12700">
            <a:solidFill>
              <a:srgbClr val="C2603E"/>
            </a:solidFill>
            <a:prstDash val="solid"/>
          </a:ln>
        </p:spPr>
      </p:sp>
      <p:sp>
        <p:nvSpPr>
          <p:cNvPr id="13" name="Text 11"/>
          <p:cNvSpPr txBox="1"/>
          <p:nvPr/>
        </p:nvSpPr>
        <p:spPr>
          <a:xfrm>
            <a:off x="6949440" y="3840480"/>
            <a:ext cx="4572000" cy="320040"/>
          </a:xfrm>
          <a:prstGeom prst="rect">
            <a:avLst/>
          </a:prstGeom>
          <a:noFill/>
          <a:ln/>
        </p:spPr>
        <p:txBody>
          <a:bodyPr wrap="square" lIns="0" tIns="0" rIns="0" bIns="0" rtlCol="0" anchor="ctr"/>
          <a:lstStyle/>
          <a:p>
            <a:pPr indent="0" marL="0">
              <a:buNone/>
            </a:pPr>
            <a:r>
              <a:rPr lang="en-US" sz="1550" b="1" dirty="0">
                <a:solidFill>
                  <a:srgbClr val="24312A"/>
                </a:solidFill>
                <a:latin typeface="Calibri" pitchFamily="34" charset="0"/>
                <a:ea typeface="Calibri" pitchFamily="34" charset="-122"/>
                <a:cs typeface="Calibri" pitchFamily="34" charset="-120"/>
              </a:rPr>
              <a:t>Generic pictures</a:t>
            </a:r>
            <a:endParaRPr lang="en-US" sz="1550" dirty="0"/>
          </a:p>
        </p:txBody>
      </p:sp>
      <p:sp>
        <p:nvSpPr>
          <p:cNvPr id="14" name="Text 12"/>
          <p:cNvSpPr txBox="1"/>
          <p:nvPr/>
        </p:nvSpPr>
        <p:spPr>
          <a:xfrm>
            <a:off x="6949440" y="4206240"/>
            <a:ext cx="4572000" cy="7315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A stock cartoon dentist is not their dentist. That room is not the room they will walk into.</a:t>
            </a:r>
            <a:endParaRPr lang="en-US" sz="1300" dirty="0"/>
          </a:p>
        </p:txBody>
      </p:sp>
      <p:sp>
        <p:nvSpPr>
          <p:cNvPr id="15" name="Shape 13"/>
          <p:cNvSpPr/>
          <p:nvPr/>
        </p:nvSpPr>
        <p:spPr>
          <a:xfrm>
            <a:off x="6492240" y="5129784"/>
            <a:ext cx="256032" cy="256032"/>
          </a:xfrm>
          <a:prstGeom prst="ellipse">
            <a:avLst/>
          </a:prstGeom>
          <a:solidFill>
            <a:srgbClr val="C2603E"/>
          </a:solidFill>
          <a:ln w="12700">
            <a:solidFill>
              <a:srgbClr val="C2603E"/>
            </a:solidFill>
            <a:prstDash val="solid"/>
          </a:ln>
        </p:spPr>
      </p:sp>
      <p:sp>
        <p:nvSpPr>
          <p:cNvPr id="16" name="Text 14"/>
          <p:cNvSpPr txBox="1"/>
          <p:nvPr/>
        </p:nvSpPr>
        <p:spPr>
          <a:xfrm>
            <a:off x="6949440" y="5074920"/>
            <a:ext cx="4572000" cy="320040"/>
          </a:xfrm>
          <a:prstGeom prst="rect">
            <a:avLst/>
          </a:prstGeom>
          <a:noFill/>
          <a:ln/>
        </p:spPr>
        <p:txBody>
          <a:bodyPr wrap="square" lIns="0" tIns="0" rIns="0" bIns="0" rtlCol="0" anchor="ctr"/>
          <a:lstStyle/>
          <a:p>
            <a:pPr indent="0" marL="0">
              <a:buNone/>
            </a:pPr>
            <a:r>
              <a:rPr lang="en-US" sz="1550" b="1" dirty="0">
                <a:solidFill>
                  <a:srgbClr val="24312A"/>
                </a:solidFill>
                <a:latin typeface="Calibri" pitchFamily="34" charset="0"/>
                <a:ea typeface="Calibri" pitchFamily="34" charset="-122"/>
                <a:cs typeface="Calibri" pitchFamily="34" charset="-120"/>
              </a:rPr>
              <a:t>Single use</a:t>
            </a:r>
            <a:endParaRPr lang="en-US" sz="1550" dirty="0"/>
          </a:p>
        </p:txBody>
      </p:sp>
      <p:sp>
        <p:nvSpPr>
          <p:cNvPr id="17" name="Text 15"/>
          <p:cNvSpPr txBox="1"/>
          <p:nvPr/>
        </p:nvSpPr>
        <p:spPr>
          <a:xfrm>
            <a:off x="6949440" y="5440680"/>
            <a:ext cx="4572000" cy="7315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The work is thrown away. The next event starts from a blank page.</a:t>
            </a:r>
            <a:endParaRPr lang="en-US" sz="1300" dirty="0"/>
          </a:p>
        </p:txBody>
      </p:sp>
      <p:sp>
        <p:nvSpPr>
          <p:cNvPr id="18" name="Text 16"/>
          <p:cNvSpPr txBox="1"/>
          <p:nvPr/>
        </p:nvSpPr>
        <p:spPr>
          <a:xfrm>
            <a:off x="685800" y="6355080"/>
            <a:ext cx="10789920" cy="274320"/>
          </a:xfrm>
          <a:prstGeom prst="rect">
            <a:avLst/>
          </a:prstGeom>
          <a:noFill/>
          <a:ln/>
        </p:spPr>
        <p:txBody>
          <a:bodyPr wrap="square" lIns="0" tIns="0" rIns="0" bIns="0" rtlCol="0" anchor="ctr"/>
          <a:lstStyle/>
          <a:p>
            <a:pPr indent="0" marL="0">
              <a:buNone/>
            </a:pPr>
            <a:r>
              <a:rPr lang="en-US" sz="950" i="1" dirty="0">
                <a:solidFill>
                  <a:srgbClr val="6E6A61"/>
                </a:solidFill>
                <a:latin typeface="Calibri" pitchFamily="34" charset="0"/>
                <a:ea typeface="Calibri" pitchFamily="34" charset="-122"/>
                <a:cs typeface="Calibri" pitchFamily="34" charset="-120"/>
              </a:rPr>
              <a:t>The effects of social story interventions on individuals with autism spectrum disorders: a meta-analysis of single-case experimental studies. Frontiers in Psychology, 2026.</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WHAT WE BUILT</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Three things a parent does</a:t>
            </a:r>
            <a:endParaRPr lang="en-US" sz="3400" dirty="0"/>
          </a:p>
        </p:txBody>
      </p:sp>
      <p:sp>
        <p:nvSpPr>
          <p:cNvPr id="4" name="Shape 2"/>
          <p:cNvSpPr/>
          <p:nvPr/>
        </p:nvSpPr>
        <p:spPr>
          <a:xfrm>
            <a:off x="685800" y="2011680"/>
            <a:ext cx="3410712" cy="2743200"/>
          </a:xfrm>
          <a:prstGeom prst="roundRect">
            <a:avLst>
              <a:gd name="adj" fmla="val 4000"/>
            </a:avLst>
          </a:prstGeom>
          <a:solidFill>
            <a:srgbClr val="F3F1EA"/>
          </a:solidFill>
          <a:ln w="12700">
            <a:solidFill>
              <a:srgbClr val="F3F1EA"/>
            </a:solidFill>
            <a:prstDash val="solid"/>
          </a:ln>
          <a:effectLst>
            <a:outerShdw sx="100000" sy="100000" kx="0" ky="0" algn="bl" rotWithShape="0" blurRad="127000" dist="25400" dir="5400000">
              <a:srgbClr val="8A8578">
                <a:alpha val="18000"/>
              </a:srgbClr>
            </a:outerShdw>
          </a:effectLst>
        </p:spPr>
      </p:sp>
      <p:sp>
        <p:nvSpPr>
          <p:cNvPr id="5" name="Shape 3"/>
          <p:cNvSpPr/>
          <p:nvPr/>
        </p:nvSpPr>
        <p:spPr>
          <a:xfrm>
            <a:off x="1005840" y="2331720"/>
            <a:ext cx="457200" cy="457200"/>
          </a:xfrm>
          <a:prstGeom prst="ellipse">
            <a:avLst/>
          </a:prstGeom>
          <a:solidFill>
            <a:srgbClr val="2F7D4F"/>
          </a:solidFill>
          <a:ln w="12700">
            <a:solidFill>
              <a:srgbClr val="2F7D4F"/>
            </a:solidFill>
            <a:prstDash val="solid"/>
          </a:ln>
        </p:spPr>
      </p:sp>
      <p:sp>
        <p:nvSpPr>
          <p:cNvPr id="6" name="Text 4"/>
          <p:cNvSpPr txBox="1"/>
          <p:nvPr/>
        </p:nvSpPr>
        <p:spPr>
          <a:xfrm>
            <a:off x="10058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005840" y="2926080"/>
            <a:ext cx="2788920" cy="411480"/>
          </a:xfrm>
          <a:prstGeom prst="rect">
            <a:avLst/>
          </a:prstGeom>
          <a:noFill/>
          <a:ln/>
        </p:spPr>
        <p:txBody>
          <a:bodyPr wrap="square" lIns="0" tIns="0" rIns="0" bIns="0" rtlCol="0" anchor="ctr"/>
          <a:lstStyle/>
          <a:p>
            <a:pPr indent="0" marL="0">
              <a:buNone/>
            </a:pPr>
            <a:r>
              <a:rPr lang="en-US" sz="2000" b="1" dirty="0">
                <a:solidFill>
                  <a:srgbClr val="24312A"/>
                </a:solidFill>
                <a:latin typeface="Cambria" pitchFamily="34" charset="0"/>
                <a:ea typeface="Cambria" pitchFamily="34" charset="-122"/>
                <a:cs typeface="Cambria" pitchFamily="34" charset="-120"/>
              </a:rPr>
              <a:t>Write what happens</a:t>
            </a:r>
            <a:endParaRPr lang="en-US" sz="2000" dirty="0"/>
          </a:p>
        </p:txBody>
      </p:sp>
      <p:sp>
        <p:nvSpPr>
          <p:cNvPr id="8" name="Text 6"/>
          <p:cNvSpPr txBox="1"/>
          <p:nvPr/>
        </p:nvSpPr>
        <p:spPr>
          <a:xfrm>
            <a:off x="1005840" y="3429000"/>
            <a:ext cx="2788920" cy="11887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Plain sentences, in their own words: “We will drive to the dentist. I will sit in the big chair.”</a:t>
            </a:r>
            <a:endParaRPr lang="en-US" sz="1300" dirty="0"/>
          </a:p>
        </p:txBody>
      </p:sp>
      <p:sp>
        <p:nvSpPr>
          <p:cNvPr id="9" name="Shape 7"/>
          <p:cNvSpPr/>
          <p:nvPr/>
        </p:nvSpPr>
        <p:spPr>
          <a:xfrm>
            <a:off x="4370832" y="2011680"/>
            <a:ext cx="3410712" cy="2743200"/>
          </a:xfrm>
          <a:prstGeom prst="roundRect">
            <a:avLst>
              <a:gd name="adj" fmla="val 4000"/>
            </a:avLst>
          </a:prstGeom>
          <a:solidFill>
            <a:srgbClr val="F3F1EA"/>
          </a:solidFill>
          <a:ln w="12700">
            <a:solidFill>
              <a:srgbClr val="F3F1EA"/>
            </a:solidFill>
            <a:prstDash val="solid"/>
          </a:ln>
          <a:effectLst>
            <a:outerShdw sx="100000" sy="100000" kx="0" ky="0" algn="bl" rotWithShape="0" blurRad="127000" dist="25400" dir="5400000">
              <a:srgbClr val="8A8578">
                <a:alpha val="18000"/>
              </a:srgbClr>
            </a:outerShdw>
          </a:effectLst>
        </p:spPr>
      </p:sp>
      <p:sp>
        <p:nvSpPr>
          <p:cNvPr id="10" name="Shape 8"/>
          <p:cNvSpPr/>
          <p:nvPr/>
        </p:nvSpPr>
        <p:spPr>
          <a:xfrm>
            <a:off x="4690872" y="2331720"/>
            <a:ext cx="457200" cy="457200"/>
          </a:xfrm>
          <a:prstGeom prst="ellipse">
            <a:avLst/>
          </a:prstGeom>
          <a:solidFill>
            <a:srgbClr val="2F7D4F"/>
          </a:solidFill>
          <a:ln w="12700">
            <a:solidFill>
              <a:srgbClr val="2F7D4F"/>
            </a:solidFill>
            <a:prstDash val="solid"/>
          </a:ln>
        </p:spPr>
      </p:sp>
      <p:sp>
        <p:nvSpPr>
          <p:cNvPr id="11" name="Text 9"/>
          <p:cNvSpPr txBox="1"/>
          <p:nvPr/>
        </p:nvSpPr>
        <p:spPr>
          <a:xfrm>
            <a:off x="4690872"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4690872" y="2926080"/>
            <a:ext cx="2788920" cy="411480"/>
          </a:xfrm>
          <a:prstGeom prst="rect">
            <a:avLst/>
          </a:prstGeom>
          <a:noFill/>
          <a:ln/>
        </p:spPr>
        <p:txBody>
          <a:bodyPr wrap="square" lIns="0" tIns="0" rIns="0" bIns="0" rtlCol="0" anchor="ctr"/>
          <a:lstStyle/>
          <a:p>
            <a:pPr indent="0" marL="0">
              <a:buNone/>
            </a:pPr>
            <a:r>
              <a:rPr lang="en-US" sz="2000" b="1" dirty="0">
                <a:solidFill>
                  <a:srgbClr val="24312A"/>
                </a:solidFill>
                <a:latin typeface="Cambria" pitchFamily="34" charset="0"/>
                <a:ea typeface="Cambria" pitchFamily="34" charset="-122"/>
                <a:cs typeface="Cambria" pitchFamily="34" charset="-120"/>
              </a:rPr>
              <a:t>Check the pictures</a:t>
            </a:r>
            <a:endParaRPr lang="en-US" sz="2000" dirty="0"/>
          </a:p>
        </p:txBody>
      </p:sp>
      <p:sp>
        <p:nvSpPr>
          <p:cNvPr id="13" name="Text 11"/>
          <p:cNvSpPr txBox="1"/>
          <p:nvPr/>
        </p:nvSpPr>
        <p:spPr>
          <a:xfrm>
            <a:off x="4690872" y="3429000"/>
            <a:ext cx="2788920" cy="11887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Every picture is shown to the adult first, with anything that looks wrong flagged.</a:t>
            </a:r>
            <a:endParaRPr lang="en-US" sz="1300" dirty="0"/>
          </a:p>
        </p:txBody>
      </p:sp>
      <p:sp>
        <p:nvSpPr>
          <p:cNvPr id="14" name="Shape 12"/>
          <p:cNvSpPr/>
          <p:nvPr/>
        </p:nvSpPr>
        <p:spPr>
          <a:xfrm>
            <a:off x="8055864" y="2011680"/>
            <a:ext cx="3410712" cy="2743200"/>
          </a:xfrm>
          <a:prstGeom prst="roundRect">
            <a:avLst>
              <a:gd name="adj" fmla="val 4000"/>
            </a:avLst>
          </a:prstGeom>
          <a:solidFill>
            <a:srgbClr val="F3F1EA"/>
          </a:solidFill>
          <a:ln w="12700">
            <a:solidFill>
              <a:srgbClr val="F3F1EA"/>
            </a:solidFill>
            <a:prstDash val="solid"/>
          </a:ln>
          <a:effectLst>
            <a:outerShdw sx="100000" sy="100000" kx="0" ky="0" algn="bl" rotWithShape="0" blurRad="127000" dist="25400" dir="5400000">
              <a:srgbClr val="8A8578">
                <a:alpha val="18000"/>
              </a:srgbClr>
            </a:outerShdw>
          </a:effectLst>
        </p:spPr>
      </p:sp>
      <p:sp>
        <p:nvSpPr>
          <p:cNvPr id="15" name="Shape 13"/>
          <p:cNvSpPr/>
          <p:nvPr/>
        </p:nvSpPr>
        <p:spPr>
          <a:xfrm>
            <a:off x="8375904" y="2331720"/>
            <a:ext cx="457200" cy="457200"/>
          </a:xfrm>
          <a:prstGeom prst="ellipse">
            <a:avLst/>
          </a:prstGeom>
          <a:solidFill>
            <a:srgbClr val="2F7D4F"/>
          </a:solidFill>
          <a:ln w="12700">
            <a:solidFill>
              <a:srgbClr val="2F7D4F"/>
            </a:solidFill>
            <a:prstDash val="solid"/>
          </a:ln>
        </p:spPr>
      </p:sp>
      <p:sp>
        <p:nvSpPr>
          <p:cNvPr id="16" name="Text 14"/>
          <p:cNvSpPr txBox="1"/>
          <p:nvPr/>
        </p:nvSpPr>
        <p:spPr>
          <a:xfrm>
            <a:off x="8375904"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375904" y="2926080"/>
            <a:ext cx="2788920" cy="411480"/>
          </a:xfrm>
          <a:prstGeom prst="rect">
            <a:avLst/>
          </a:prstGeom>
          <a:noFill/>
          <a:ln/>
        </p:spPr>
        <p:txBody>
          <a:bodyPr wrap="square" lIns="0" tIns="0" rIns="0" bIns="0" rtlCol="0" anchor="ctr"/>
          <a:lstStyle/>
          <a:p>
            <a:pPr indent="0" marL="0">
              <a:buNone/>
            </a:pPr>
            <a:r>
              <a:rPr lang="en-US" sz="2000" b="1" dirty="0">
                <a:solidFill>
                  <a:srgbClr val="24312A"/>
                </a:solidFill>
                <a:latin typeface="Cambria" pitchFamily="34" charset="0"/>
                <a:ea typeface="Cambria" pitchFamily="34" charset="-122"/>
                <a:cs typeface="Cambria" pitchFamily="34" charset="-120"/>
              </a:rPr>
              <a:t>Watch it together</a:t>
            </a:r>
            <a:endParaRPr lang="en-US" sz="2000" dirty="0"/>
          </a:p>
        </p:txBody>
      </p:sp>
      <p:sp>
        <p:nvSpPr>
          <p:cNvPr id="18" name="Text 16"/>
          <p:cNvSpPr txBox="1"/>
          <p:nvPr/>
        </p:nvSpPr>
        <p:spPr>
          <a:xfrm>
            <a:off x="8375904" y="3429000"/>
            <a:ext cx="2788920" cy="118872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A calm, full-screen player — quiet colours, one step at a time. Or print it as a booklet.</a:t>
            </a:r>
            <a:endParaRPr lang="en-US" sz="1300" dirty="0"/>
          </a:p>
        </p:txBody>
      </p:sp>
      <p:sp>
        <p:nvSpPr>
          <p:cNvPr id="19" name="Text 17"/>
          <p:cNvSpPr txBox="1"/>
          <p:nvPr/>
        </p:nvSpPr>
        <p:spPr>
          <a:xfrm>
            <a:off x="685800" y="5074920"/>
            <a:ext cx="10817352" cy="548640"/>
          </a:xfrm>
          <a:prstGeom prst="rect">
            <a:avLst/>
          </a:prstGeom>
          <a:noFill/>
          <a:ln/>
        </p:spPr>
        <p:txBody>
          <a:bodyPr wrap="square" lIns="0" tIns="0" rIns="0" bIns="0" rtlCol="0" anchor="ctr"/>
          <a:lstStyle/>
          <a:p>
            <a:pPr indent="0" marL="0">
              <a:buNone/>
            </a:pPr>
            <a:r>
              <a:rPr lang="en-US" sz="1600" b="1" dirty="0">
                <a:solidFill>
                  <a:srgbClr val="215B39"/>
                </a:solidFill>
                <a:latin typeface="Calibri" pitchFamily="34" charset="0"/>
                <a:ea typeface="Calibri" pitchFamily="34" charset="-122"/>
                <a:cs typeface="Calibri" pitchFamily="34" charset="-120"/>
              </a:rPr>
              <a:t>Their child's face. Their clothes. Their comfort toy. A photograph of the actual room.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LIVE DEMO</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Making a story</a:t>
            </a:r>
            <a:endParaRPr lang="en-US" sz="3400" dirty="0"/>
          </a:p>
        </p:txBody>
      </p:sp>
      <p:sp>
        <p:nvSpPr>
          <p:cNvPr id="4" name="Shape 2"/>
          <p:cNvSpPr/>
          <p:nvPr/>
        </p:nvSpPr>
        <p:spPr>
          <a:xfrm>
            <a:off x="685800" y="2011680"/>
            <a:ext cx="6949440" cy="3913632"/>
          </a:xfrm>
          <a:prstGeom prst="roundRect">
            <a:avLst>
              <a:gd name="adj" fmla="val 1869"/>
            </a:avLst>
          </a:prstGeom>
          <a:solidFill>
            <a:srgbClr val="F7F5F0"/>
          </a:solidFill>
          <a:ln w="19050">
            <a:solidFill>
              <a:srgbClr val="B9B4A8"/>
            </a:solidFill>
            <a:prstDash val="dash"/>
          </a:ln>
        </p:spPr>
      </p:sp>
      <p:sp>
        <p:nvSpPr>
          <p:cNvPr id="5" name="Text 3"/>
          <p:cNvSpPr txBox="1"/>
          <p:nvPr/>
        </p:nvSpPr>
        <p:spPr>
          <a:xfrm>
            <a:off x="685800" y="3401568"/>
            <a:ext cx="6949440" cy="457200"/>
          </a:xfrm>
          <a:prstGeom prst="rect">
            <a:avLst/>
          </a:prstGeom>
          <a:noFill/>
          <a:ln/>
        </p:spPr>
        <p:txBody>
          <a:bodyPr wrap="square" lIns="0" tIns="0" rIns="0" bIns="0" rtlCol="0" anchor="ctr"/>
          <a:lstStyle/>
          <a:p>
            <a:pPr algn="ctr" indent="0" marL="0">
              <a:buNone/>
            </a:pPr>
            <a:r>
              <a:rPr lang="en-US" sz="2600" dirty="0">
                <a:solidFill>
                  <a:srgbClr val="B9B4A8"/>
                </a:solidFill>
                <a:latin typeface="Calibri" pitchFamily="34" charset="0"/>
                <a:ea typeface="Calibri" pitchFamily="34" charset="-122"/>
                <a:cs typeface="Calibri" pitchFamily="34" charset="-120"/>
              </a:rPr>
              <a:t>▶</a:t>
            </a:r>
            <a:endParaRPr lang="en-US" sz="2600" dirty="0"/>
          </a:p>
        </p:txBody>
      </p:sp>
      <p:sp>
        <p:nvSpPr>
          <p:cNvPr id="6" name="Text 4"/>
          <p:cNvSpPr txBox="1"/>
          <p:nvPr/>
        </p:nvSpPr>
        <p:spPr>
          <a:xfrm>
            <a:off x="685800" y="3858768"/>
            <a:ext cx="6949440" cy="320040"/>
          </a:xfrm>
          <a:prstGeom prst="rect">
            <a:avLst/>
          </a:prstGeom>
          <a:noFill/>
          <a:ln/>
        </p:spPr>
        <p:txBody>
          <a:bodyPr wrap="square" lIns="0" tIns="0" rIns="0" bIns="0" rtlCol="0" anchor="ctr"/>
          <a:lstStyle/>
          <a:p>
            <a:pPr algn="ctr" indent="0" marL="0">
              <a:buNone/>
            </a:pPr>
            <a:r>
              <a:rPr lang="en-US" sz="1400" b="1" spc="200" kern="0" dirty="0">
                <a:solidFill>
                  <a:srgbClr val="8F897C"/>
                </a:solidFill>
                <a:latin typeface="Calibri" pitchFamily="34" charset="0"/>
                <a:ea typeface="Calibri" pitchFamily="34" charset="-122"/>
                <a:cs typeface="Calibri" pitchFamily="34" charset="-120"/>
              </a:rPr>
              <a:t>SCREEN RECORDING</a:t>
            </a:r>
            <a:endParaRPr lang="en-US" sz="1400" dirty="0"/>
          </a:p>
        </p:txBody>
      </p:sp>
      <p:sp>
        <p:nvSpPr>
          <p:cNvPr id="7" name="Text 5"/>
          <p:cNvSpPr txBox="1"/>
          <p:nvPr/>
        </p:nvSpPr>
        <p:spPr>
          <a:xfrm>
            <a:off x="1143000" y="4197096"/>
            <a:ext cx="6035040" cy="457200"/>
          </a:xfrm>
          <a:prstGeom prst="rect">
            <a:avLst/>
          </a:prstGeom>
          <a:noFill/>
          <a:ln/>
        </p:spPr>
        <p:txBody>
          <a:bodyPr wrap="square" lIns="0" tIns="0" rIns="0" bIns="0" rtlCol="0" anchor="ctr"/>
          <a:lstStyle/>
          <a:p>
            <a:pPr algn="ctr" indent="0" marL="0">
              <a:buNone/>
            </a:pPr>
            <a:r>
              <a:rPr lang="en-US" sz="1200" i="1" dirty="0">
                <a:solidFill>
                  <a:srgbClr val="9A9488"/>
                </a:solidFill>
                <a:latin typeface="Calibri" pitchFamily="34" charset="0"/>
                <a:ea typeface="Calibri" pitchFamily="34" charset="-122"/>
                <a:cs typeface="Calibri" pitchFamily="34" charset="-120"/>
              </a:rPr>
              <a:t>Writing the steps → the pictures being drawn → the finished video playing</a:t>
            </a:r>
            <a:endParaRPr lang="en-US" sz="1200" dirty="0"/>
          </a:p>
        </p:txBody>
      </p:sp>
      <p:sp>
        <p:nvSpPr>
          <p:cNvPr id="8" name="Text 6"/>
          <p:cNvSpPr txBox="1"/>
          <p:nvPr/>
        </p:nvSpPr>
        <p:spPr>
          <a:xfrm>
            <a:off x="7909560" y="2103120"/>
            <a:ext cx="3611880" cy="320040"/>
          </a:xfrm>
          <a:prstGeom prst="rect">
            <a:avLst/>
          </a:prstGeom>
          <a:noFill/>
          <a:ln/>
        </p:spPr>
        <p:txBody>
          <a:bodyPr wrap="square" lIns="0" tIns="0" rIns="0" bIns="0" rtlCol="0" anchor="ctr"/>
          <a:lstStyle/>
          <a:p>
            <a:pPr indent="0" marL="0">
              <a:buNone/>
            </a:pPr>
            <a:r>
              <a:rPr lang="en-US" sz="1900" b="1" dirty="0">
                <a:solidFill>
                  <a:srgbClr val="24312A"/>
                </a:solidFill>
                <a:latin typeface="Cambria" pitchFamily="34" charset="0"/>
                <a:ea typeface="Cambria" pitchFamily="34" charset="-122"/>
                <a:cs typeface="Cambria" pitchFamily="34" charset="-120"/>
              </a:rPr>
              <a:t>Gemini directs</a:t>
            </a:r>
            <a:endParaRPr lang="en-US" sz="1900" dirty="0"/>
          </a:p>
        </p:txBody>
      </p:sp>
      <p:sp>
        <p:nvSpPr>
          <p:cNvPr id="9" name="Text 7"/>
          <p:cNvSpPr txBox="1"/>
          <p:nvPr/>
        </p:nvSpPr>
        <p:spPr>
          <a:xfrm>
            <a:off x="7909560" y="24871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each picture under locked rules: this face, this outfit, this room.</a:t>
            </a:r>
            <a:endParaRPr lang="en-US" sz="1300" dirty="0"/>
          </a:p>
        </p:txBody>
      </p:sp>
      <p:sp>
        <p:nvSpPr>
          <p:cNvPr id="10" name="Text 8"/>
          <p:cNvSpPr txBox="1"/>
          <p:nvPr/>
        </p:nvSpPr>
        <p:spPr>
          <a:xfrm>
            <a:off x="7909560" y="3474720"/>
            <a:ext cx="3611880" cy="320040"/>
          </a:xfrm>
          <a:prstGeom prst="rect">
            <a:avLst/>
          </a:prstGeom>
          <a:noFill/>
          <a:ln/>
        </p:spPr>
        <p:txBody>
          <a:bodyPr wrap="square" lIns="0" tIns="0" rIns="0" bIns="0" rtlCol="0" anchor="ctr"/>
          <a:lstStyle/>
          <a:p>
            <a:pPr indent="0" marL="0">
              <a:buNone/>
            </a:pPr>
            <a:r>
              <a:rPr lang="en-US" sz="1900" b="1" dirty="0">
                <a:solidFill>
                  <a:srgbClr val="24312A"/>
                </a:solidFill>
                <a:latin typeface="Cambria" pitchFamily="34" charset="0"/>
                <a:ea typeface="Cambria" pitchFamily="34" charset="-122"/>
                <a:cs typeface="Cambria" pitchFamily="34" charset="-120"/>
              </a:rPr>
              <a:t>Veo films</a:t>
            </a:r>
            <a:endParaRPr lang="en-US" sz="1900" dirty="0"/>
          </a:p>
        </p:txBody>
      </p:sp>
      <p:sp>
        <p:nvSpPr>
          <p:cNvPr id="11" name="Text 9"/>
          <p:cNvSpPr txBox="1"/>
          <p:nvPr/>
        </p:nvSpPr>
        <p:spPr>
          <a:xfrm>
            <a:off x="7909560" y="38587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every step as a moving clip, rendered into one video with the narration.</a:t>
            </a:r>
            <a:endParaRPr lang="en-US" sz="1300" dirty="0"/>
          </a:p>
        </p:txBody>
      </p:sp>
      <p:sp>
        <p:nvSpPr>
          <p:cNvPr id="12" name="Text 10"/>
          <p:cNvSpPr txBox="1"/>
          <p:nvPr/>
        </p:nvSpPr>
        <p:spPr>
          <a:xfrm>
            <a:off x="7909560" y="4846320"/>
            <a:ext cx="3611880" cy="320040"/>
          </a:xfrm>
          <a:prstGeom prst="rect">
            <a:avLst/>
          </a:prstGeom>
          <a:noFill/>
          <a:ln/>
        </p:spPr>
        <p:txBody>
          <a:bodyPr wrap="square" lIns="0" tIns="0" rIns="0" bIns="0" rtlCol="0" anchor="ctr"/>
          <a:lstStyle/>
          <a:p>
            <a:pPr indent="0" marL="0">
              <a:buNone/>
            </a:pPr>
            <a:r>
              <a:rPr lang="en-US" sz="1900" b="1" dirty="0">
                <a:solidFill>
                  <a:srgbClr val="24312A"/>
                </a:solidFill>
                <a:latin typeface="Cambria" pitchFamily="34" charset="0"/>
                <a:ea typeface="Cambria" pitchFamily="34" charset="-122"/>
                <a:cs typeface="Cambria" pitchFamily="34" charset="-120"/>
              </a:rPr>
              <a:t>Nothing leaks</a:t>
            </a:r>
            <a:endParaRPr lang="en-US" sz="1900" dirty="0"/>
          </a:p>
        </p:txBody>
      </p:sp>
      <p:sp>
        <p:nvSpPr>
          <p:cNvPr id="13" name="Text 11"/>
          <p:cNvSpPr txBox="1"/>
          <p:nvPr/>
        </p:nvSpPr>
        <p:spPr>
          <a:xfrm>
            <a:off x="7909560" y="52303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no model, no prompt, no pipeline is ever shown to the parent.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LIVE DEMO</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Checked, then approved by an adult</a:t>
            </a:r>
            <a:endParaRPr lang="en-US" sz="3400" dirty="0"/>
          </a:p>
        </p:txBody>
      </p:sp>
      <p:sp>
        <p:nvSpPr>
          <p:cNvPr id="4" name="Shape 2"/>
          <p:cNvSpPr/>
          <p:nvPr/>
        </p:nvSpPr>
        <p:spPr>
          <a:xfrm>
            <a:off x="685800" y="2011680"/>
            <a:ext cx="6949440" cy="3913632"/>
          </a:xfrm>
          <a:prstGeom prst="roundRect">
            <a:avLst>
              <a:gd name="adj" fmla="val 1869"/>
            </a:avLst>
          </a:prstGeom>
          <a:solidFill>
            <a:srgbClr val="F7F5F0"/>
          </a:solidFill>
          <a:ln w="19050">
            <a:solidFill>
              <a:srgbClr val="B9B4A8"/>
            </a:solidFill>
            <a:prstDash val="dash"/>
          </a:ln>
        </p:spPr>
      </p:sp>
      <p:sp>
        <p:nvSpPr>
          <p:cNvPr id="5" name="Text 3"/>
          <p:cNvSpPr txBox="1"/>
          <p:nvPr/>
        </p:nvSpPr>
        <p:spPr>
          <a:xfrm>
            <a:off x="685800" y="3401568"/>
            <a:ext cx="6949440" cy="457200"/>
          </a:xfrm>
          <a:prstGeom prst="rect">
            <a:avLst/>
          </a:prstGeom>
          <a:noFill/>
          <a:ln/>
        </p:spPr>
        <p:txBody>
          <a:bodyPr wrap="square" lIns="0" tIns="0" rIns="0" bIns="0" rtlCol="0" anchor="ctr"/>
          <a:lstStyle/>
          <a:p>
            <a:pPr algn="ctr" indent="0" marL="0">
              <a:buNone/>
            </a:pPr>
            <a:r>
              <a:rPr lang="en-US" sz="2600" dirty="0">
                <a:solidFill>
                  <a:srgbClr val="B9B4A8"/>
                </a:solidFill>
                <a:latin typeface="Calibri" pitchFamily="34" charset="0"/>
                <a:ea typeface="Calibri" pitchFamily="34" charset="-122"/>
                <a:cs typeface="Calibri" pitchFamily="34" charset="-120"/>
              </a:rPr>
              <a:t>▶</a:t>
            </a:r>
            <a:endParaRPr lang="en-US" sz="2600" dirty="0"/>
          </a:p>
        </p:txBody>
      </p:sp>
      <p:sp>
        <p:nvSpPr>
          <p:cNvPr id="6" name="Text 4"/>
          <p:cNvSpPr txBox="1"/>
          <p:nvPr/>
        </p:nvSpPr>
        <p:spPr>
          <a:xfrm>
            <a:off x="685800" y="3858768"/>
            <a:ext cx="6949440" cy="320040"/>
          </a:xfrm>
          <a:prstGeom prst="rect">
            <a:avLst/>
          </a:prstGeom>
          <a:noFill/>
          <a:ln/>
        </p:spPr>
        <p:txBody>
          <a:bodyPr wrap="square" lIns="0" tIns="0" rIns="0" bIns="0" rtlCol="0" anchor="ctr"/>
          <a:lstStyle/>
          <a:p>
            <a:pPr algn="ctr" indent="0" marL="0">
              <a:buNone/>
            </a:pPr>
            <a:r>
              <a:rPr lang="en-US" sz="1400" b="1" spc="200" kern="0" dirty="0">
                <a:solidFill>
                  <a:srgbClr val="8F897C"/>
                </a:solidFill>
                <a:latin typeface="Calibri" pitchFamily="34" charset="0"/>
                <a:ea typeface="Calibri" pitchFamily="34" charset="-122"/>
                <a:cs typeface="Calibri" pitchFamily="34" charset="-120"/>
              </a:rPr>
              <a:t>SCREEN RECORDING</a:t>
            </a:r>
            <a:endParaRPr lang="en-US" sz="1400" dirty="0"/>
          </a:p>
        </p:txBody>
      </p:sp>
      <p:sp>
        <p:nvSpPr>
          <p:cNvPr id="7" name="Text 5"/>
          <p:cNvSpPr txBox="1"/>
          <p:nvPr/>
        </p:nvSpPr>
        <p:spPr>
          <a:xfrm>
            <a:off x="1143000" y="4197096"/>
            <a:ext cx="6035040" cy="457200"/>
          </a:xfrm>
          <a:prstGeom prst="rect">
            <a:avLst/>
          </a:prstGeom>
          <a:noFill/>
          <a:ln/>
        </p:spPr>
        <p:txBody>
          <a:bodyPr wrap="square" lIns="0" tIns="0" rIns="0" bIns="0" rtlCol="0" anchor="ctr"/>
          <a:lstStyle/>
          <a:p>
            <a:pPr algn="ctr" indent="0" marL="0">
              <a:buNone/>
            </a:pPr>
            <a:r>
              <a:rPr lang="en-US" sz="1200" i="1" dirty="0">
                <a:solidFill>
                  <a:srgbClr val="9A9488"/>
                </a:solidFill>
                <a:latin typeface="Calibri" pitchFamily="34" charset="0"/>
                <a:ea typeface="Calibri" pitchFamily="34" charset="-122"/>
                <a:cs typeface="Calibri" pitchFamily="34" charset="-120"/>
              </a:rPr>
              <a:t>A flagged picture on the approval screen → approving → the child's player</a:t>
            </a:r>
            <a:endParaRPr lang="en-US" sz="1200" dirty="0"/>
          </a:p>
        </p:txBody>
      </p:sp>
      <p:sp>
        <p:nvSpPr>
          <p:cNvPr id="8" name="Text 6"/>
          <p:cNvSpPr txBox="1"/>
          <p:nvPr/>
        </p:nvSpPr>
        <p:spPr>
          <a:xfrm>
            <a:off x="7909560" y="2103120"/>
            <a:ext cx="3611880" cy="320040"/>
          </a:xfrm>
          <a:prstGeom prst="rect">
            <a:avLst/>
          </a:prstGeom>
          <a:noFill/>
          <a:ln/>
        </p:spPr>
        <p:txBody>
          <a:bodyPr wrap="square" lIns="0" tIns="0" rIns="0" bIns="0" rtlCol="0" anchor="ctr"/>
          <a:lstStyle/>
          <a:p>
            <a:pPr indent="0" marL="0">
              <a:buNone/>
            </a:pPr>
            <a:r>
              <a:rPr lang="en-US" sz="1800" b="1" dirty="0">
                <a:solidFill>
                  <a:srgbClr val="24312A"/>
                </a:solidFill>
                <a:latin typeface="Cambria" pitchFamily="34" charset="0"/>
                <a:ea typeface="Cambria" pitchFamily="34" charset="-122"/>
                <a:cs typeface="Cambria" pitchFamily="34" charset="-120"/>
              </a:rPr>
              <a:t>The words never change</a:t>
            </a:r>
            <a:endParaRPr lang="en-US" sz="1800" dirty="0"/>
          </a:p>
        </p:txBody>
      </p:sp>
      <p:sp>
        <p:nvSpPr>
          <p:cNvPr id="9" name="Text 7"/>
          <p:cNvSpPr txBox="1"/>
          <p:nvPr/>
        </p:nvSpPr>
        <p:spPr>
          <a:xfrm>
            <a:off x="7909560" y="24871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The model draws. It does not rewrite what the parent promised.</a:t>
            </a:r>
            <a:endParaRPr lang="en-US" sz="1300" dirty="0"/>
          </a:p>
        </p:txBody>
      </p:sp>
      <p:sp>
        <p:nvSpPr>
          <p:cNvPr id="10" name="Text 8"/>
          <p:cNvSpPr txBox="1"/>
          <p:nvPr/>
        </p:nvSpPr>
        <p:spPr>
          <a:xfrm>
            <a:off x="7909560" y="3474720"/>
            <a:ext cx="3611880" cy="320040"/>
          </a:xfrm>
          <a:prstGeom prst="rect">
            <a:avLst/>
          </a:prstGeom>
          <a:noFill/>
          <a:ln/>
        </p:spPr>
        <p:txBody>
          <a:bodyPr wrap="square" lIns="0" tIns="0" rIns="0" bIns="0" rtlCol="0" anchor="ctr"/>
          <a:lstStyle/>
          <a:p>
            <a:pPr indent="0" marL="0">
              <a:buNone/>
            </a:pPr>
            <a:r>
              <a:rPr lang="en-US" sz="1800" b="1" dirty="0">
                <a:solidFill>
                  <a:srgbClr val="24312A"/>
                </a:solidFill>
                <a:latin typeface="Cambria" pitchFamily="34" charset="0"/>
                <a:ea typeface="Cambria" pitchFamily="34" charset="-122"/>
                <a:cs typeface="Cambria" pitchFamily="34" charset="-120"/>
              </a:rPr>
              <a:t>A must-not-show list</a:t>
            </a:r>
            <a:endParaRPr lang="en-US" sz="1800" dirty="0"/>
          </a:p>
        </p:txBody>
      </p:sp>
      <p:sp>
        <p:nvSpPr>
          <p:cNvPr id="11" name="Text 9"/>
          <p:cNvSpPr txBox="1"/>
          <p:nvPr/>
        </p:nvSpPr>
        <p:spPr>
          <a:xfrm>
            <a:off x="7909560" y="38587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No needles, no drills — whatever this family names. Anything that slips through is re-shot.</a:t>
            </a:r>
            <a:endParaRPr lang="en-US" sz="1300" dirty="0"/>
          </a:p>
        </p:txBody>
      </p:sp>
      <p:sp>
        <p:nvSpPr>
          <p:cNvPr id="12" name="Text 10"/>
          <p:cNvSpPr txBox="1"/>
          <p:nvPr/>
        </p:nvSpPr>
        <p:spPr>
          <a:xfrm>
            <a:off x="7909560" y="4846320"/>
            <a:ext cx="3611880" cy="320040"/>
          </a:xfrm>
          <a:prstGeom prst="rect">
            <a:avLst/>
          </a:prstGeom>
          <a:noFill/>
          <a:ln/>
        </p:spPr>
        <p:txBody>
          <a:bodyPr wrap="square" lIns="0" tIns="0" rIns="0" bIns="0" rtlCol="0" anchor="ctr"/>
          <a:lstStyle/>
          <a:p>
            <a:pPr indent="0" marL="0">
              <a:buNone/>
            </a:pPr>
            <a:r>
              <a:rPr lang="en-US" sz="1800" b="1" dirty="0">
                <a:solidFill>
                  <a:srgbClr val="24312A"/>
                </a:solidFill>
                <a:latin typeface="Cambria" pitchFamily="34" charset="0"/>
                <a:ea typeface="Cambria" pitchFamily="34" charset="-122"/>
                <a:cs typeface="Cambria" pitchFamily="34" charset="-120"/>
              </a:rPr>
              <a:t>An adult says yes</a:t>
            </a:r>
            <a:endParaRPr lang="en-US" sz="1800" dirty="0"/>
          </a:p>
        </p:txBody>
      </p:sp>
      <p:sp>
        <p:nvSpPr>
          <p:cNvPr id="13" name="Text 11"/>
          <p:cNvSpPr txBox="1"/>
          <p:nvPr/>
        </p:nvSpPr>
        <p:spPr>
          <a:xfrm>
            <a:off x="7909560" y="5230368"/>
            <a:ext cx="3611880" cy="868680"/>
          </a:xfrm>
          <a:prstGeom prst="rect">
            <a:avLst/>
          </a:prstGeom>
          <a:noFill/>
          <a:ln/>
        </p:spPr>
        <p:txBody>
          <a:bodyPr wrap="square" lIns="0" tIns="0" rIns="0" bIns="0" rtlCol="0" anchor="ctr"/>
          <a:lstStyle/>
          <a:p>
            <a:pPr indent="0" marL="0">
              <a:lnSpc>
                <a:spcPts val="2000"/>
              </a:lnSpc>
              <a:buNone/>
            </a:pPr>
            <a:r>
              <a:rPr lang="en-US" sz="1300" dirty="0">
                <a:solidFill>
                  <a:srgbClr val="6E6A61"/>
                </a:solidFill>
                <a:latin typeface="Calibri" pitchFamily="34" charset="0"/>
                <a:ea typeface="Calibri" pitchFamily="34" charset="-122"/>
                <a:cs typeface="Calibri" pitchFamily="34" charset="-120"/>
              </a:rPr>
              <a:t>Nothing reaches the child until a person has approved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MEMORY</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The tenth story takes a sentence</a:t>
            </a:r>
            <a:endParaRPr lang="en-US" sz="3400" dirty="0"/>
          </a:p>
        </p:txBody>
      </p:sp>
      <p:sp>
        <p:nvSpPr>
          <p:cNvPr id="4" name="Shape 2"/>
          <p:cNvSpPr/>
          <p:nvPr/>
        </p:nvSpPr>
        <p:spPr>
          <a:xfrm>
            <a:off x="685800" y="1965960"/>
            <a:ext cx="5285232" cy="3840480"/>
          </a:xfrm>
          <a:prstGeom prst="roundRect">
            <a:avLst>
              <a:gd name="adj" fmla="val 2857"/>
            </a:avLst>
          </a:prstGeom>
          <a:solidFill>
            <a:srgbClr val="F3F1EA"/>
          </a:solidFill>
          <a:ln w="12700">
            <a:solidFill>
              <a:srgbClr val="F3F1EA"/>
            </a:solidFill>
            <a:prstDash val="solid"/>
          </a:ln>
          <a:effectLst>
            <a:outerShdw sx="100000" sy="100000" kx="0" ky="0" algn="bl" rotWithShape="0" blurRad="127000" dist="25400" dir="5400000">
              <a:srgbClr val="8A8578">
                <a:alpha val="18000"/>
              </a:srgbClr>
            </a:outerShdw>
          </a:effectLst>
        </p:spPr>
      </p:sp>
      <p:sp>
        <p:nvSpPr>
          <p:cNvPr id="5" name="Text 3"/>
          <p:cNvSpPr txBox="1"/>
          <p:nvPr/>
        </p:nvSpPr>
        <p:spPr>
          <a:xfrm>
            <a:off x="1097280" y="2240280"/>
            <a:ext cx="4480560" cy="411480"/>
          </a:xfrm>
          <a:prstGeom prst="rect">
            <a:avLst/>
          </a:prstGeom>
          <a:noFill/>
          <a:ln/>
        </p:spPr>
        <p:txBody>
          <a:bodyPr wrap="square" lIns="0" tIns="0" rIns="0" bIns="0" rtlCol="0" anchor="ctr"/>
          <a:lstStyle/>
          <a:p>
            <a:pPr indent="0" marL="0">
              <a:buNone/>
            </a:pPr>
            <a:r>
              <a:rPr lang="en-US" sz="2100" b="1" dirty="0">
                <a:solidFill>
                  <a:srgbClr val="24312A"/>
                </a:solidFill>
                <a:latin typeface="Cambria" pitchFamily="34" charset="0"/>
                <a:ea typeface="Cambria" pitchFamily="34" charset="-122"/>
                <a:cs typeface="Cambria" pitchFamily="34" charset="-120"/>
              </a:rPr>
              <a:t>What is remembered</a:t>
            </a:r>
            <a:endParaRPr lang="en-US" sz="2100" dirty="0"/>
          </a:p>
        </p:txBody>
      </p:sp>
      <p:sp>
        <p:nvSpPr>
          <p:cNvPr id="6" name="Text 4"/>
          <p:cNvSpPr txBox="1"/>
          <p:nvPr/>
        </p:nvSpPr>
        <p:spPr>
          <a:xfrm>
            <a:off x="1097280" y="2788920"/>
            <a:ext cx="4480560" cy="2651760"/>
          </a:xfrm>
          <a:prstGeom prst="rect">
            <a:avLst/>
          </a:prstGeom>
          <a:noFill/>
          <a:ln/>
        </p:spPr>
        <p:txBody>
          <a:bodyPr wrap="square" lIns="0" tIns="0" rIns="0" bIns="0" rtlCol="0" anchor="ctr"/>
          <a:lstStyle/>
          <a:p>
            <a:pPr marL="342900" indent="-342900">
              <a:lnSpc>
                <a:spcPts val="2200"/>
              </a:lnSpc>
              <a:spcAft>
                <a:spcPts val="1200"/>
              </a:spcAft>
              <a:buSzPct val="100000"/>
              <a:buChar char="•"/>
            </a:pPr>
            <a:r>
              <a:rPr lang="en-US" sz="1400" dirty="0">
                <a:solidFill>
                  <a:srgbClr val="24312A"/>
                </a:solidFill>
                <a:latin typeface="Calibri" pitchFamily="34" charset="0"/>
                <a:ea typeface="Calibri" pitchFamily="34" charset="-122"/>
                <a:cs typeface="Calibri" pitchFamily="34" charset="-120"/>
              </a:rPr>
              <a:t>Her look, her clothes, her comfort items</a:t>
            </a:r>
            <a:endParaRPr lang="en-US" sz="1400" dirty="0"/>
          </a:p>
          <a:p>
            <a:pPr marL="342900" indent="-342900">
              <a:lnSpc>
                <a:spcPts val="2200"/>
              </a:lnSpc>
              <a:spcAft>
                <a:spcPts val="1200"/>
              </a:spcAft>
              <a:buSzPct val="100000"/>
              <a:buChar char="•"/>
            </a:pPr>
            <a:r>
              <a:rPr lang="en-US" sz="1400" dirty="0">
                <a:solidFill>
                  <a:srgbClr val="24312A"/>
                </a:solidFill>
                <a:latin typeface="Calibri" pitchFamily="34" charset="0"/>
                <a:ea typeface="Calibri" pitchFamily="34" charset="-122"/>
                <a:cs typeface="Calibri" pitchFamily="34" charset="-120"/>
              </a:rPr>
              <a:t>Places she has already been — the real dentist's door</a:t>
            </a:r>
            <a:endParaRPr lang="en-US" sz="1400" dirty="0"/>
          </a:p>
          <a:p>
            <a:pPr marL="342900" indent="-342900">
              <a:lnSpc>
                <a:spcPts val="2200"/>
              </a:lnSpc>
              <a:spcAft>
                <a:spcPts val="1200"/>
              </a:spcAft>
              <a:buSzPct val="100000"/>
              <a:buChar char="•"/>
            </a:pPr>
            <a:r>
              <a:rPr lang="en-US" sz="1400" dirty="0">
                <a:solidFill>
                  <a:srgbClr val="24312A"/>
                </a:solidFill>
                <a:latin typeface="Calibri" pitchFamily="34" charset="0"/>
                <a:ea typeface="Calibri" pitchFamily="34" charset="-122"/>
                <a:cs typeface="Calibri" pitchFamily="34" charset="-120"/>
              </a:rPr>
              <a:t>Her sensory profile: sound, brightness, motion</a:t>
            </a:r>
            <a:endParaRPr lang="en-US" sz="1400" dirty="0"/>
          </a:p>
          <a:p>
            <a:pPr marL="342900" indent="-342900">
              <a:lnSpc>
                <a:spcPts val="2200"/>
              </a:lnSpc>
              <a:spcAft>
                <a:spcPts val="1200"/>
              </a:spcAft>
              <a:buSzPct val="100000"/>
              <a:buChar char="•"/>
            </a:pPr>
            <a:r>
              <a:rPr lang="en-US" sz="1400" dirty="0">
                <a:solidFill>
                  <a:srgbClr val="24312A"/>
                </a:solidFill>
                <a:latin typeface="Calibri" pitchFamily="34" charset="0"/>
                <a:ea typeface="Calibri" pitchFamily="34" charset="-122"/>
                <a:cs typeface="Calibri" pitchFamily="34" charset="-120"/>
              </a:rPr>
              <a:t>How each real visit actually went</a:t>
            </a:r>
            <a:endParaRPr lang="en-US" sz="1400" dirty="0"/>
          </a:p>
        </p:txBody>
      </p:sp>
      <p:sp>
        <p:nvSpPr>
          <p:cNvPr id="7" name="Text 5"/>
          <p:cNvSpPr txBox="1"/>
          <p:nvPr/>
        </p:nvSpPr>
        <p:spPr>
          <a:xfrm>
            <a:off x="6492240" y="2011680"/>
            <a:ext cx="5029200" cy="411480"/>
          </a:xfrm>
          <a:prstGeom prst="rect">
            <a:avLst/>
          </a:prstGeom>
          <a:noFill/>
          <a:ln/>
        </p:spPr>
        <p:txBody>
          <a:bodyPr wrap="square" lIns="0" tIns="0" rIns="0" bIns="0" rtlCol="0" anchor="ctr"/>
          <a:lstStyle/>
          <a:p>
            <a:pPr indent="0" marL="0">
              <a:buNone/>
            </a:pPr>
            <a:r>
              <a:rPr lang="en-US" sz="2100" b="1" dirty="0">
                <a:solidFill>
                  <a:srgbClr val="24312A"/>
                </a:solidFill>
                <a:latin typeface="Cambria" pitchFamily="34" charset="0"/>
                <a:ea typeface="Cambria" pitchFamily="34" charset="-122"/>
                <a:cs typeface="Cambria" pitchFamily="34" charset="-120"/>
              </a:rPr>
              <a:t>Why that matters</a:t>
            </a:r>
            <a:endParaRPr lang="en-US" sz="2100" dirty="0"/>
          </a:p>
        </p:txBody>
      </p:sp>
      <p:sp>
        <p:nvSpPr>
          <p:cNvPr id="8" name="Text 6"/>
          <p:cNvSpPr txBox="1"/>
          <p:nvPr/>
        </p:nvSpPr>
        <p:spPr>
          <a:xfrm>
            <a:off x="6492240" y="2560320"/>
            <a:ext cx="5029200" cy="2286000"/>
          </a:xfrm>
          <a:prstGeom prst="rect">
            <a:avLst/>
          </a:prstGeom>
          <a:noFill/>
          <a:ln/>
        </p:spPr>
        <p:txBody>
          <a:bodyPr wrap="square" lIns="0" tIns="0" rIns="0" bIns="0" rtlCol="0" anchor="ctr"/>
          <a:lstStyle/>
          <a:p>
            <a:pPr indent="0" marL="0">
              <a:lnSpc>
                <a:spcPts val="2400"/>
              </a:lnSpc>
              <a:buNone/>
            </a:pPr>
            <a:r>
              <a:rPr lang="en-US" sz="1400" dirty="0">
                <a:solidFill>
                  <a:srgbClr val="6E6A61"/>
                </a:solidFill>
                <a:latin typeface="Calibri" pitchFamily="34" charset="0"/>
                <a:ea typeface="Calibri" pitchFamily="34" charset="-122"/>
                <a:cs typeface="Calibri" pitchFamily="34" charset="-120"/>
              </a:rPr>
              <a:t>The first story takes a few minutes of setup. The tenth takes a sentence, because the child, her world and what has already worked are all still there.</a:t>
            </a:r>
            <a:endParaRPr lang="en-US" sz="1400" dirty="0"/>
          </a:p>
          <a:p>
            <a:pPr indent="0" marL="0">
              <a:lnSpc>
                <a:spcPts val="2400"/>
              </a:lnSpc>
              <a:buNone/>
            </a:pPr>
            <a:endParaRPr lang="en-US" sz="1400" dirty="0"/>
          </a:p>
          <a:p>
            <a:pPr indent="0" marL="0">
              <a:lnSpc>
                <a:spcPts val="2400"/>
              </a:lnSpc>
              <a:buNone/>
            </a:pPr>
            <a:r>
              <a:rPr lang="en-US" sz="1400" dirty="0">
                <a:solidFill>
                  <a:srgbClr val="6E6A61"/>
                </a:solidFill>
                <a:latin typeface="Calibri" pitchFamily="34" charset="0"/>
                <a:ea typeface="Calibri" pitchFamily="34" charset="-122"/>
                <a:cs typeface="Calibri" pitchFamily="34" charset="-120"/>
              </a:rPr>
              <a:t>When a parent says the waiting room was the hard part, the next story spends more time in the waiting room.</a:t>
            </a:r>
            <a:endParaRPr lang="en-US" sz="1400" dirty="0"/>
          </a:p>
        </p:txBody>
      </p:sp>
      <p:sp>
        <p:nvSpPr>
          <p:cNvPr id="9" name="Shape 7"/>
          <p:cNvSpPr/>
          <p:nvPr/>
        </p:nvSpPr>
        <p:spPr>
          <a:xfrm>
            <a:off x="6492240" y="4983480"/>
            <a:ext cx="5029200" cy="868680"/>
          </a:xfrm>
          <a:prstGeom prst="roundRect">
            <a:avLst>
              <a:gd name="adj" fmla="val 12632"/>
            </a:avLst>
          </a:prstGeom>
          <a:solidFill>
            <a:srgbClr val="EAF1EB"/>
          </a:solidFill>
          <a:ln w="12700">
            <a:solidFill>
              <a:srgbClr val="EAF1EB"/>
            </a:solidFill>
            <a:prstDash val="solid"/>
          </a:ln>
          <a:effectLst>
            <a:outerShdw sx="100000" sy="100000" kx="0" ky="0" algn="bl" rotWithShape="0" blurRad="127000" dist="25400" dir="5400000">
              <a:srgbClr val="8A8578">
                <a:alpha val="18000"/>
              </a:srgbClr>
            </a:outerShdw>
          </a:effectLst>
        </p:spPr>
      </p:sp>
      <p:sp>
        <p:nvSpPr>
          <p:cNvPr id="10" name="Text 8"/>
          <p:cNvSpPr txBox="1"/>
          <p:nvPr/>
        </p:nvSpPr>
        <p:spPr>
          <a:xfrm>
            <a:off x="6812280" y="4983480"/>
            <a:ext cx="4480560" cy="868680"/>
          </a:xfrm>
          <a:prstGeom prst="rect">
            <a:avLst/>
          </a:prstGeom>
          <a:noFill/>
          <a:ln/>
        </p:spPr>
        <p:txBody>
          <a:bodyPr wrap="square" lIns="0" tIns="0" rIns="0" bIns="0" rtlCol="0" anchor="ctr"/>
          <a:lstStyle/>
          <a:p>
            <a:pPr indent="0" marL="0">
              <a:buNone/>
            </a:pPr>
            <a:r>
              <a:rPr lang="en-US" sz="1350" b="1" dirty="0">
                <a:solidFill>
                  <a:srgbClr val="215B39"/>
                </a:solidFill>
                <a:latin typeface="Calibri" pitchFamily="34" charset="0"/>
                <a:ea typeface="Calibri" pitchFamily="34" charset="-122"/>
                <a:cs typeface="Calibri" pitchFamily="34" charset="-120"/>
              </a:rPr>
              <a:t>Stored in ClickHouse — profiles, outcomes, every generation event.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23"/>
        </a:solidFill>
      </p:bgPr>
    </p:bg>
    <p:spTree>
      <p:nvGrpSpPr>
        <p:cNvPr id="1" name=""/>
        <p:cNvGrpSpPr/>
        <p:nvPr/>
      </p:nvGrpSpPr>
      <p:grpSpPr>
        <a:xfrm>
          <a:off x="0" y="0"/>
          <a:ext cx="0" cy="0"/>
          <a:chOff x="0" y="0"/>
          <a:chExt cx="0" cy="0"/>
        </a:xfrm>
      </p:grpSpPr>
      <p:sp>
        <p:nvSpPr>
          <p:cNvPr id="2" name="Shape 0"/>
          <p:cNvSpPr/>
          <p:nvPr/>
        </p:nvSpPr>
        <p:spPr>
          <a:xfrm>
            <a:off x="685800" y="1600200"/>
            <a:ext cx="731520" cy="731520"/>
          </a:xfrm>
          <a:prstGeom prst="roundRect">
            <a:avLst>
              <a:gd name="adj" fmla="val 22500"/>
            </a:avLst>
          </a:prstGeom>
          <a:solidFill>
            <a:srgbClr val="2F7D4F"/>
          </a:solidFill>
          <a:ln w="12700">
            <a:solidFill>
              <a:srgbClr val="2F7D4F"/>
            </a:solidFill>
            <a:prstDash val="solid"/>
          </a:ln>
        </p:spPr>
      </p:sp>
      <p:sp>
        <p:nvSpPr>
          <p:cNvPr id="3" name="Text 1"/>
          <p:cNvSpPr txBox="1"/>
          <p:nvPr/>
        </p:nvSpPr>
        <p:spPr>
          <a:xfrm>
            <a:off x="685800" y="1600200"/>
            <a:ext cx="73152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P</a:t>
            </a:r>
            <a:endParaRPr lang="en-US" sz="3600" dirty="0"/>
          </a:p>
        </p:txBody>
      </p:sp>
      <p:sp>
        <p:nvSpPr>
          <p:cNvPr id="4" name="Text 2"/>
          <p:cNvSpPr txBox="1"/>
          <p:nvPr/>
        </p:nvSpPr>
        <p:spPr>
          <a:xfrm>
            <a:off x="685800" y="2560320"/>
            <a:ext cx="1051560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It is live. Try it.</a:t>
            </a:r>
            <a:endParaRPr lang="en-US" sz="4600" dirty="0"/>
          </a:p>
        </p:txBody>
      </p:sp>
      <p:sp>
        <p:nvSpPr>
          <p:cNvPr id="5" name="Text 3"/>
          <p:cNvSpPr txBox="1"/>
          <p:nvPr/>
        </p:nvSpPr>
        <p:spPr>
          <a:xfrm>
            <a:off x="685800" y="3520440"/>
            <a:ext cx="7315200" cy="502920"/>
          </a:xfrm>
          <a:prstGeom prst="rect">
            <a:avLst/>
          </a:prstGeom>
          <a:noFill/>
          <a:ln/>
        </p:spPr>
        <p:txBody>
          <a:bodyPr wrap="square" lIns="0" tIns="0" rIns="0" bIns="0" rtlCol="0" anchor="ctr"/>
          <a:lstStyle/>
          <a:p>
            <a:pPr indent="0" marL="0">
              <a:buNone/>
            </a:pPr>
            <a:r>
              <a:rPr lang="en-US" sz="2600" b="1" dirty="0">
                <a:solidFill>
                  <a:srgbClr val="2F7D4F"/>
                </a:solidFill>
                <a:latin typeface="Calibri" pitchFamily="34" charset="0"/>
                <a:ea typeface="Calibri" pitchFamily="34" charset="-122"/>
                <a:cs typeface="Calibri" pitchFamily="34" charset="-120"/>
              </a:rPr>
              <a:t>previewpal.duckdns.org</a:t>
            </a:r>
            <a:endParaRPr lang="en-US" sz="2600" dirty="0"/>
          </a:p>
        </p:txBody>
      </p:sp>
      <p:sp>
        <p:nvSpPr>
          <p:cNvPr id="6" name="Text 4"/>
          <p:cNvSpPr txBox="1"/>
          <p:nvPr/>
        </p:nvSpPr>
        <p:spPr>
          <a:xfrm>
            <a:off x="685800" y="4069080"/>
            <a:ext cx="7315200" cy="411480"/>
          </a:xfrm>
          <a:prstGeom prst="rect">
            <a:avLst/>
          </a:prstGeom>
          <a:noFill/>
          <a:ln/>
        </p:spPr>
        <p:txBody>
          <a:bodyPr wrap="square" lIns="0" tIns="0" rIns="0" bIns="0" rtlCol="0" anchor="ctr"/>
          <a:lstStyle/>
          <a:p>
            <a:pPr indent="0" marL="0">
              <a:buNone/>
            </a:pPr>
            <a:r>
              <a:rPr lang="en-US" sz="1700" dirty="0">
                <a:solidFill>
                  <a:srgbClr val="E8E4D9"/>
                </a:solidFill>
                <a:latin typeface="Calibri" pitchFamily="34" charset="0"/>
                <a:ea typeface="Calibri" pitchFamily="34" charset="-122"/>
                <a:cs typeface="Calibri" pitchFamily="34" charset="-120"/>
              </a:rPr>
              <a:t>github.com/ParishruthiGanesh/Agentic_Cinema</a:t>
            </a:r>
            <a:endParaRPr lang="en-US" sz="1700" dirty="0"/>
          </a:p>
        </p:txBody>
      </p:sp>
      <p:sp>
        <p:nvSpPr>
          <p:cNvPr id="7" name="Text 5"/>
          <p:cNvSpPr txBox="1"/>
          <p:nvPr/>
        </p:nvSpPr>
        <p:spPr>
          <a:xfrm>
            <a:off x="685800" y="5029200"/>
            <a:ext cx="10515600" cy="457200"/>
          </a:xfrm>
          <a:prstGeom prst="rect">
            <a:avLst/>
          </a:prstGeom>
          <a:noFill/>
          <a:ln/>
        </p:spPr>
        <p:txBody>
          <a:bodyPr wrap="square" lIns="0" tIns="0" rIns="0" bIns="0" rtlCol="0" anchor="ctr"/>
          <a:lstStyle/>
          <a:p>
            <a:pPr indent="0" marL="0">
              <a:buNone/>
            </a:pPr>
            <a:r>
              <a:rPr lang="en-US" sz="2000" i="1" dirty="0">
                <a:solidFill>
                  <a:srgbClr val="A8B3AC"/>
                </a:solidFill>
                <a:latin typeface="Cambria" pitchFamily="34" charset="0"/>
                <a:ea typeface="Cambria" pitchFamily="34" charset="-122"/>
                <a:cs typeface="Cambria" pitchFamily="34" charset="-120"/>
              </a:rPr>
              <a:t>No surprises. Your child's day, pictured before it happens.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11480"/>
            <a:ext cx="10789920" cy="256032"/>
          </a:xfrm>
          <a:prstGeom prst="rect">
            <a:avLst/>
          </a:prstGeom>
          <a:noFill/>
          <a:ln/>
        </p:spPr>
        <p:txBody>
          <a:bodyPr wrap="square" lIns="0" tIns="0" rIns="0" bIns="0" rtlCol="0" anchor="ctr"/>
          <a:lstStyle/>
          <a:p>
            <a:pPr indent="0" marL="0">
              <a:buNone/>
            </a:pPr>
            <a:r>
              <a:rPr lang="en-US" sz="1100" b="1" spc="200" kern="0" dirty="0">
                <a:solidFill>
                  <a:srgbClr val="2F7D4F"/>
                </a:solidFill>
                <a:latin typeface="Calibri" pitchFamily="34" charset="0"/>
                <a:ea typeface="Calibri" pitchFamily="34" charset="-122"/>
                <a:cs typeface="Calibri" pitchFamily="34" charset="-120"/>
              </a:rPr>
              <a:t>EVERY FIGURE IN THIS DECK</a:t>
            </a:r>
            <a:endParaRPr lang="en-US" sz="1100" dirty="0"/>
          </a:p>
        </p:txBody>
      </p:sp>
      <p:sp>
        <p:nvSpPr>
          <p:cNvPr id="3" name="Text 1"/>
          <p:cNvSpPr txBox="1"/>
          <p:nvPr/>
        </p:nvSpPr>
        <p:spPr>
          <a:xfrm>
            <a:off x="685800" y="713232"/>
            <a:ext cx="10789920" cy="1051560"/>
          </a:xfrm>
          <a:prstGeom prst="rect">
            <a:avLst/>
          </a:prstGeom>
          <a:noFill/>
          <a:ln/>
        </p:spPr>
        <p:txBody>
          <a:bodyPr wrap="square" lIns="0" tIns="0" rIns="0" bIns="0" rtlCol="0" anchor="t"/>
          <a:lstStyle/>
          <a:p>
            <a:pPr indent="0" marL="0">
              <a:buNone/>
            </a:pPr>
            <a:r>
              <a:rPr lang="en-US" sz="3400" b="1" dirty="0">
                <a:solidFill>
                  <a:srgbClr val="24312A"/>
                </a:solidFill>
                <a:latin typeface="Cambria" pitchFamily="34" charset="0"/>
                <a:ea typeface="Cambria" pitchFamily="34" charset="-122"/>
                <a:cs typeface="Cambria" pitchFamily="34" charset="-120"/>
              </a:rPr>
              <a:t>Sources</a:t>
            </a:r>
            <a:endParaRPr lang="en-US" sz="3400" dirty="0"/>
          </a:p>
        </p:txBody>
      </p:sp>
      <p:sp>
        <p:nvSpPr>
          <p:cNvPr id="4" name="Text 2"/>
          <p:cNvSpPr txBox="1"/>
          <p:nvPr/>
        </p:nvSpPr>
        <p:spPr>
          <a:xfrm>
            <a:off x="685800" y="1965960"/>
            <a:ext cx="10817352" cy="256032"/>
          </a:xfrm>
          <a:prstGeom prst="rect">
            <a:avLst/>
          </a:prstGeom>
          <a:noFill/>
          <a:ln/>
        </p:spPr>
        <p:txBody>
          <a:bodyPr wrap="square" lIns="0" tIns="0" rIns="0" bIns="0" rtlCol="0" anchor="ctr"/>
          <a:lstStyle/>
          <a:p>
            <a:pPr indent="0" marL="0">
              <a:buNone/>
            </a:pPr>
            <a:r>
              <a:rPr lang="en-US" sz="1300" b="1" dirty="0">
                <a:solidFill>
                  <a:srgbClr val="24312A"/>
                </a:solidFill>
                <a:latin typeface="Calibri" pitchFamily="34" charset="0"/>
                <a:ea typeface="Calibri" pitchFamily="34" charset="-122"/>
                <a:cs typeface="Calibri" pitchFamily="34" charset="-120"/>
              </a:rPr>
              <a:t>1 in 31 US 8-year-olds (2022 surveillance year)</a:t>
            </a:r>
            <a:endParaRPr lang="en-US" sz="1300" dirty="0"/>
          </a:p>
        </p:txBody>
      </p:sp>
      <p:sp>
        <p:nvSpPr>
          <p:cNvPr id="5" name="Text 3"/>
          <p:cNvSpPr txBox="1"/>
          <p:nvPr/>
        </p:nvSpPr>
        <p:spPr>
          <a:xfrm>
            <a:off x="685800" y="2240280"/>
            <a:ext cx="10817352" cy="566928"/>
          </a:xfrm>
          <a:prstGeom prst="rect">
            <a:avLst/>
          </a:prstGeom>
          <a:noFill/>
          <a:ln/>
        </p:spPr>
        <p:txBody>
          <a:bodyPr wrap="square" lIns="0" tIns="0" rIns="0" bIns="0" rtlCol="0" anchor="ctr"/>
          <a:lstStyle/>
          <a:p>
            <a:pPr indent="0" marL="0">
              <a:lnSpc>
                <a:spcPts val="1600"/>
              </a:lnSpc>
              <a:buNone/>
            </a:pPr>
            <a:r>
              <a:rPr lang="en-US" sz="1150" dirty="0">
                <a:solidFill>
                  <a:srgbClr val="6E6A61"/>
                </a:solidFill>
                <a:latin typeface="Calibri" pitchFamily="34" charset="0"/>
                <a:ea typeface="Calibri" pitchFamily="34" charset="-122"/>
                <a:cs typeface="Calibri" pitchFamily="34" charset="-120"/>
              </a:rPr>
              <a:t>Prevalence and Early Identification of Autism Spectrum Disorder Among Children Aged 4 and 8 Years — Autism and Developmental Disabilities Monitoring Network, 16 Sites, United States, 2022. MMWR Surveillance Summaries, CDC, April 2025.</a:t>
            </a:r>
            <a:endParaRPr lang="en-US" sz="1150" dirty="0"/>
          </a:p>
        </p:txBody>
      </p:sp>
      <p:sp>
        <p:nvSpPr>
          <p:cNvPr id="6" name="Text 4"/>
          <p:cNvSpPr txBox="1"/>
          <p:nvPr/>
        </p:nvSpPr>
        <p:spPr>
          <a:xfrm>
            <a:off x="685800" y="2834640"/>
            <a:ext cx="10817352" cy="256032"/>
          </a:xfrm>
          <a:prstGeom prst="rect">
            <a:avLst/>
          </a:prstGeom>
          <a:noFill/>
          <a:ln/>
        </p:spPr>
        <p:txBody>
          <a:bodyPr wrap="square" lIns="0" tIns="0" rIns="0" bIns="0" rtlCol="0" anchor="ctr"/>
          <a:lstStyle/>
          <a:p>
            <a:pPr indent="0" marL="0">
              <a:buNone/>
            </a:pPr>
            <a:r>
              <a:rPr lang="en-US" sz="1300" b="1" dirty="0">
                <a:solidFill>
                  <a:srgbClr val="24312A"/>
                </a:solidFill>
                <a:latin typeface="Calibri" pitchFamily="34" charset="0"/>
                <a:ea typeface="Calibri" pitchFamily="34" charset="-122"/>
                <a:cs typeface="Calibri" pitchFamily="34" charset="-120"/>
              </a:rPr>
              <a:t>61.8 million people worldwide, about 1 in 127 (2021)</a:t>
            </a:r>
            <a:endParaRPr lang="en-US" sz="1300" dirty="0"/>
          </a:p>
        </p:txBody>
      </p:sp>
      <p:sp>
        <p:nvSpPr>
          <p:cNvPr id="7" name="Text 5"/>
          <p:cNvSpPr txBox="1"/>
          <p:nvPr/>
        </p:nvSpPr>
        <p:spPr>
          <a:xfrm>
            <a:off x="685800" y="3108960"/>
            <a:ext cx="10817352" cy="566928"/>
          </a:xfrm>
          <a:prstGeom prst="rect">
            <a:avLst/>
          </a:prstGeom>
          <a:noFill/>
          <a:ln/>
        </p:spPr>
        <p:txBody>
          <a:bodyPr wrap="square" lIns="0" tIns="0" rIns="0" bIns="0" rtlCol="0" anchor="ctr"/>
          <a:lstStyle/>
          <a:p>
            <a:pPr indent="0" marL="0">
              <a:lnSpc>
                <a:spcPts val="1600"/>
              </a:lnSpc>
              <a:buNone/>
            </a:pPr>
            <a:r>
              <a:rPr lang="en-US" sz="1150" dirty="0">
                <a:solidFill>
                  <a:srgbClr val="6E6A61"/>
                </a:solidFill>
                <a:latin typeface="Calibri" pitchFamily="34" charset="0"/>
                <a:ea typeface="Calibri" pitchFamily="34" charset="-122"/>
                <a:cs typeface="Calibri" pitchFamily="34" charset="-120"/>
              </a:rPr>
              <a:t>The global epidemiology and health burden of the autism spectrum: findings from the Global Burden of Disease Study 2021. The Lancet Psychiatry, December 2024.</a:t>
            </a:r>
            <a:endParaRPr lang="en-US" sz="1150" dirty="0"/>
          </a:p>
        </p:txBody>
      </p:sp>
      <p:sp>
        <p:nvSpPr>
          <p:cNvPr id="8" name="Text 6"/>
          <p:cNvSpPr txBox="1"/>
          <p:nvPr/>
        </p:nvSpPr>
        <p:spPr>
          <a:xfrm>
            <a:off x="685800" y="3703320"/>
            <a:ext cx="10817352" cy="256032"/>
          </a:xfrm>
          <a:prstGeom prst="rect">
            <a:avLst/>
          </a:prstGeom>
          <a:noFill/>
          <a:ln/>
        </p:spPr>
        <p:txBody>
          <a:bodyPr wrap="square" lIns="0" tIns="0" rIns="0" bIns="0" rtlCol="0" anchor="ctr"/>
          <a:lstStyle/>
          <a:p>
            <a:pPr indent="0" marL="0">
              <a:buNone/>
            </a:pPr>
            <a:r>
              <a:rPr lang="en-US" sz="1300" b="1" dirty="0">
                <a:solidFill>
                  <a:srgbClr val="24312A"/>
                </a:solidFill>
                <a:latin typeface="Calibri" pitchFamily="34" charset="0"/>
                <a:ea typeface="Calibri" pitchFamily="34" charset="-122"/>
                <a:cs typeface="Calibri" pitchFamily="34" charset="-120"/>
              </a:rPr>
              <a:t>74% of autistic children had documented sensory features</a:t>
            </a:r>
            <a:endParaRPr lang="en-US" sz="1300" dirty="0"/>
          </a:p>
        </p:txBody>
      </p:sp>
      <p:sp>
        <p:nvSpPr>
          <p:cNvPr id="9" name="Text 7"/>
          <p:cNvSpPr txBox="1"/>
          <p:nvPr/>
        </p:nvSpPr>
        <p:spPr>
          <a:xfrm>
            <a:off x="685800" y="3977640"/>
            <a:ext cx="10817352" cy="566928"/>
          </a:xfrm>
          <a:prstGeom prst="rect">
            <a:avLst/>
          </a:prstGeom>
          <a:noFill/>
          <a:ln/>
        </p:spPr>
        <p:txBody>
          <a:bodyPr wrap="square" lIns="0" tIns="0" rIns="0" bIns="0" rtlCol="0" anchor="ctr"/>
          <a:lstStyle/>
          <a:p>
            <a:pPr indent="0" marL="0">
              <a:lnSpc>
                <a:spcPts val="1600"/>
              </a:lnSpc>
              <a:buNone/>
            </a:pPr>
            <a:r>
              <a:rPr lang="en-US" sz="1150" dirty="0">
                <a:solidFill>
                  <a:srgbClr val="6E6A61"/>
                </a:solidFill>
                <a:latin typeface="Calibri" pitchFamily="34" charset="0"/>
                <a:ea typeface="Calibri" pitchFamily="34" charset="-122"/>
                <a:cs typeface="Calibri" pitchFamily="34" charset="-120"/>
              </a:rPr>
              <a:t>Sensory features in autism: findings from a large population-based surveillance system. ADDM Network, 25,627 children aged 4 and 8, 2006–2014. Autism Research, 2022.</a:t>
            </a:r>
            <a:endParaRPr lang="en-US" sz="1150" dirty="0"/>
          </a:p>
        </p:txBody>
      </p:sp>
      <p:sp>
        <p:nvSpPr>
          <p:cNvPr id="10" name="Text 8"/>
          <p:cNvSpPr txBox="1"/>
          <p:nvPr/>
        </p:nvSpPr>
        <p:spPr>
          <a:xfrm>
            <a:off x="685800" y="4572000"/>
            <a:ext cx="10817352" cy="256032"/>
          </a:xfrm>
          <a:prstGeom prst="rect">
            <a:avLst/>
          </a:prstGeom>
          <a:noFill/>
          <a:ln/>
        </p:spPr>
        <p:txBody>
          <a:bodyPr wrap="square" lIns="0" tIns="0" rIns="0" bIns="0" rtlCol="0" anchor="ctr"/>
          <a:lstStyle/>
          <a:p>
            <a:pPr indent="0" marL="0">
              <a:buNone/>
            </a:pPr>
            <a:r>
              <a:rPr lang="en-US" sz="1300" b="1" dirty="0">
                <a:solidFill>
                  <a:srgbClr val="24312A"/>
                </a:solidFill>
                <a:latin typeface="Calibri" pitchFamily="34" charset="0"/>
                <a:ea typeface="Calibri" pitchFamily="34" charset="-122"/>
                <a:cs typeface="Calibri" pitchFamily="34" charset="-120"/>
              </a:rPr>
              <a:t>15.1% unmet dental need among US children with autism</a:t>
            </a:r>
            <a:endParaRPr lang="en-US" sz="1300" dirty="0"/>
          </a:p>
        </p:txBody>
      </p:sp>
      <p:sp>
        <p:nvSpPr>
          <p:cNvPr id="11" name="Text 9"/>
          <p:cNvSpPr txBox="1"/>
          <p:nvPr/>
        </p:nvSpPr>
        <p:spPr>
          <a:xfrm>
            <a:off x="685800" y="4846320"/>
            <a:ext cx="10817352" cy="566928"/>
          </a:xfrm>
          <a:prstGeom prst="rect">
            <a:avLst/>
          </a:prstGeom>
          <a:noFill/>
          <a:ln/>
        </p:spPr>
        <p:txBody>
          <a:bodyPr wrap="square" lIns="0" tIns="0" rIns="0" bIns="0" rtlCol="0" anchor="ctr"/>
          <a:lstStyle/>
          <a:p>
            <a:pPr indent="0" marL="0">
              <a:lnSpc>
                <a:spcPts val="1600"/>
              </a:lnSpc>
              <a:buNone/>
            </a:pPr>
            <a:r>
              <a:rPr lang="en-US" sz="1150" dirty="0">
                <a:solidFill>
                  <a:srgbClr val="6E6A61"/>
                </a:solidFill>
                <a:latin typeface="Calibri" pitchFamily="34" charset="0"/>
                <a:ea typeface="Calibri" pitchFamily="34" charset="-122"/>
                <a:cs typeface="Calibri" pitchFamily="34" charset="-120"/>
              </a:rPr>
              <a:t>Predictors of unmet dental need in children with autism spectrum disorder: results from a national sample. Academic Pediatrics, 2014.</a:t>
            </a:r>
            <a:endParaRPr lang="en-US" sz="1150" dirty="0"/>
          </a:p>
        </p:txBody>
      </p:sp>
      <p:sp>
        <p:nvSpPr>
          <p:cNvPr id="12" name="Text 10"/>
          <p:cNvSpPr txBox="1"/>
          <p:nvPr/>
        </p:nvSpPr>
        <p:spPr>
          <a:xfrm>
            <a:off x="685800" y="5440680"/>
            <a:ext cx="10817352" cy="256032"/>
          </a:xfrm>
          <a:prstGeom prst="rect">
            <a:avLst/>
          </a:prstGeom>
          <a:noFill/>
          <a:ln/>
        </p:spPr>
        <p:txBody>
          <a:bodyPr wrap="square" lIns="0" tIns="0" rIns="0" bIns="0" rtlCol="0" anchor="ctr"/>
          <a:lstStyle/>
          <a:p>
            <a:pPr indent="0" marL="0">
              <a:buNone/>
            </a:pPr>
            <a:r>
              <a:rPr lang="en-US" sz="1300" b="1" dirty="0">
                <a:solidFill>
                  <a:srgbClr val="24312A"/>
                </a:solidFill>
                <a:latin typeface="Calibri" pitchFamily="34" charset="0"/>
                <a:ea typeface="Calibri" pitchFamily="34" charset="-122"/>
                <a:cs typeface="Calibri" pitchFamily="34" charset="-120"/>
              </a:rPr>
              <a:t>Social stories: moderate overall effect, strongest for school-aged children</a:t>
            </a:r>
            <a:endParaRPr lang="en-US" sz="1300" dirty="0"/>
          </a:p>
        </p:txBody>
      </p:sp>
      <p:sp>
        <p:nvSpPr>
          <p:cNvPr id="13" name="Text 11"/>
          <p:cNvSpPr txBox="1"/>
          <p:nvPr/>
        </p:nvSpPr>
        <p:spPr>
          <a:xfrm>
            <a:off x="685800" y="5715000"/>
            <a:ext cx="10817352" cy="566928"/>
          </a:xfrm>
          <a:prstGeom prst="rect">
            <a:avLst/>
          </a:prstGeom>
          <a:noFill/>
          <a:ln/>
        </p:spPr>
        <p:txBody>
          <a:bodyPr wrap="square" lIns="0" tIns="0" rIns="0" bIns="0" rtlCol="0" anchor="ctr"/>
          <a:lstStyle/>
          <a:p>
            <a:pPr indent="0" marL="0">
              <a:lnSpc>
                <a:spcPts val="1600"/>
              </a:lnSpc>
              <a:buNone/>
            </a:pPr>
            <a:r>
              <a:rPr lang="en-US" sz="1150" dirty="0">
                <a:solidFill>
                  <a:srgbClr val="6E6A61"/>
                </a:solidFill>
                <a:latin typeface="Calibri" pitchFamily="34" charset="0"/>
                <a:ea typeface="Calibri" pitchFamily="34" charset="-122"/>
                <a:cs typeface="Calibri" pitchFamily="34" charset="-120"/>
              </a:rPr>
              <a:t>The effects of social story interventions on individuals with autism spectrum disorders and influencing factors: a meta-analysis of single-case experimental studies. Frontiers in Psychology, 2026.</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Preview Pal</dc:title>
  <dc:subject>PptxGenJS Presentation</dc:subject>
  <dc:creator>Preview Pal</dc:creator>
  <cp:lastModifiedBy>Preview Pal</cp:lastModifiedBy>
  <cp:revision>1</cp:revision>
  <dcterms:created xsi:type="dcterms:W3CDTF">2026-09-09T18:00:37Z</dcterms:created>
  <dcterms:modified xsi:type="dcterms:W3CDTF">2026-09-09T18:00:37Z</dcterms:modified>
</cp:coreProperties>
</file>