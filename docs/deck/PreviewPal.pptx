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Say the name and the promise, then move straight to the story on the next slide — do not explain the technology yet.
DEMO CUE: none. Hold on this slide for ~10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as a story, slowly. This is the emotional anchor for the whole talk — the judges should picture the room.
DEMO CUE: none. Voice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sentences, one per card. The point of the 74% band is that sensory difficulty is the norm, not the exception.
DEMO CUE: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on the numbers. Say the 1 in 31 figure, pause, then the classroom line — the grid is doing the work.
DEMO CUE: none. This slide must not be cut short in the 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second victim: the parent. This is the slide where the audience should feel the problem is worth solving.
DEMO CUE: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move of the talk: we did not invent the intervention. It works and it is evidence-based. What is missing is a way to make one in minutes that actually looks like the child's own life.
DEMO CUE: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before this line. This is the pivot from problem to product.
DEMO CUE: none — but the next slide begins the screen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CUE — insert app footage here: signing in, opening the child's profile, and starting a new story. About 20 seconds.
Say the last line while the footage plays: a parent never sees a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CUE — insert app footage here: the story page moving through writing / drawing / moving pictures, then the finished video playing. About 30 seconds — this is the longest clip in the deck.
Narrate the five stages over the footage.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“would you actually let a generative model near a vulnerable child?”. Say it plainly: the model draws, it does not promise.
DEMO CUE: insert 8 seconds of the approval screen with a flagged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CUE: insert 10 seconds of the child profile page and the “how did it go?” feedback form.
Land the point: this is a memory product, not a one-shot 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slide, twenty seconds. For the ClickHouse partner track, say the one sentence that matters: the database is not a log, it is what makes the next story cheaper and better.
DEMO CUE: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argument here. The last paragraph is the line to end the narration on before the live demo.
DEMO CUE: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CUE: finish on the live site — open it in the browser for the last 10 seconds rather than showing a static slide.
End on the subtitle, spoken.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 not narrated. Keep it in the deck so judges can check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23"/>
        </a:solidFill>
      </p:bgPr>
    </p:bg>
    <p:spTree>
      <p:nvGrpSpPr>
        <p:cNvPr id="1" name=""/>
        <p:cNvGrpSpPr/>
        <p:nvPr/>
      </p:nvGrpSpPr>
      <p:grpSpPr>
        <a:xfrm>
          <a:off x="0" y="0"/>
          <a:ext cx="0" cy="0"/>
          <a:chOff x="0" y="0"/>
          <a:chExt cx="0" cy="0"/>
        </a:xfrm>
      </p:grpSpPr>
      <p:sp>
        <p:nvSpPr>
          <p:cNvPr id="2" name="Shape 0"/>
          <p:cNvSpPr/>
          <p:nvPr/>
        </p:nvSpPr>
        <p:spPr>
          <a:xfrm>
            <a:off x="685800" y="1874520"/>
            <a:ext cx="868680" cy="868680"/>
          </a:xfrm>
          <a:prstGeom prst="roundRect">
            <a:avLst>
              <a:gd name="adj" fmla="val 23158"/>
            </a:avLst>
          </a:prstGeom>
          <a:solidFill>
            <a:srgbClr val="2F7D4F"/>
          </a:solidFill>
          <a:ln w="12700">
            <a:solidFill>
              <a:srgbClr val="2F7D4F"/>
            </a:solidFill>
            <a:prstDash val="solid"/>
          </a:ln>
        </p:spPr>
      </p:sp>
      <p:sp>
        <p:nvSpPr>
          <p:cNvPr id="3" name="Text 1"/>
          <p:cNvSpPr txBox="1"/>
          <p:nvPr/>
        </p:nvSpPr>
        <p:spPr>
          <a:xfrm>
            <a:off x="685800" y="1874520"/>
            <a:ext cx="868680" cy="86868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P</a:t>
            </a:r>
            <a:endParaRPr lang="en-US" sz="4400" dirty="0"/>
          </a:p>
        </p:txBody>
      </p:sp>
      <p:sp>
        <p:nvSpPr>
          <p:cNvPr id="4" name="Text 2"/>
          <p:cNvSpPr txBox="1"/>
          <p:nvPr/>
        </p:nvSpPr>
        <p:spPr>
          <a:xfrm>
            <a:off x="1783080" y="1828800"/>
            <a:ext cx="9601200" cy="9601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Preview Pal</a:t>
            </a:r>
            <a:endParaRPr lang="en-US" sz="5400" dirty="0"/>
          </a:p>
        </p:txBody>
      </p:sp>
      <p:sp>
        <p:nvSpPr>
          <p:cNvPr id="5" name="Text 3"/>
          <p:cNvSpPr txBox="1"/>
          <p:nvPr/>
        </p:nvSpPr>
        <p:spPr>
          <a:xfrm>
            <a:off x="685800" y="3063240"/>
            <a:ext cx="10515600" cy="457200"/>
          </a:xfrm>
          <a:prstGeom prst="rect">
            <a:avLst/>
          </a:prstGeom>
          <a:noFill/>
          <a:ln/>
        </p:spPr>
        <p:txBody>
          <a:bodyPr wrap="square" lIns="0" tIns="0" rIns="0" bIns="0" rtlCol="0" anchor="ctr"/>
          <a:lstStyle/>
          <a:p>
            <a:pPr indent="0" marL="0">
              <a:buNone/>
            </a:pPr>
            <a:r>
              <a:rPr lang="en-US" sz="2200" dirty="0">
                <a:solidFill>
                  <a:srgbClr val="E8E4D9"/>
                </a:solidFill>
                <a:latin typeface="Calibri" pitchFamily="34" charset="0"/>
                <a:ea typeface="Calibri" pitchFamily="34" charset="-122"/>
                <a:cs typeface="Calibri" pitchFamily="34" charset="-120"/>
              </a:rPr>
              <a:t>No surprises. Your child's day, pictured before it happens.</a:t>
            </a:r>
            <a:endParaRPr lang="en-US" sz="2200" dirty="0"/>
          </a:p>
        </p:txBody>
      </p:sp>
      <p:sp>
        <p:nvSpPr>
          <p:cNvPr id="6" name="Text 4"/>
          <p:cNvSpPr txBox="1"/>
          <p:nvPr/>
        </p:nvSpPr>
        <p:spPr>
          <a:xfrm>
            <a:off x="685800" y="3657600"/>
            <a:ext cx="8778240" cy="822960"/>
          </a:xfrm>
          <a:prstGeom prst="rect">
            <a:avLst/>
          </a:prstGeom>
          <a:noFill/>
          <a:ln/>
        </p:spPr>
        <p:txBody>
          <a:bodyPr wrap="square" lIns="0" tIns="0" rIns="0" bIns="0" rtlCol="0" anchor="ctr"/>
          <a:lstStyle/>
          <a:p>
            <a:pPr indent="0" marL="0">
              <a:lnSpc>
                <a:spcPts val="2200"/>
              </a:lnSpc>
              <a:buNone/>
            </a:pPr>
            <a:r>
              <a:rPr lang="en-US" sz="1450" dirty="0">
                <a:solidFill>
                  <a:srgbClr val="A8B3AC"/>
                </a:solidFill>
                <a:latin typeface="Calibri" pitchFamily="34" charset="0"/>
                <a:ea typeface="Calibri" pitchFamily="34" charset="-122"/>
                <a:cs typeface="Calibri" pitchFamily="34" charset="-120"/>
              </a:rPr>
              <a:t>A social-story studio for autistic children — the parent writes what will happen, and the child watches it, in their own face and their own places, before they live it.</a:t>
            </a:r>
            <a:endParaRPr lang="en-US" sz="1450" dirty="0"/>
          </a:p>
        </p:txBody>
      </p:sp>
      <p:sp>
        <p:nvSpPr>
          <p:cNvPr id="7" name="Text 5"/>
          <p:cNvSpPr txBox="1"/>
          <p:nvPr/>
        </p:nvSpPr>
        <p:spPr>
          <a:xfrm>
            <a:off x="685800" y="4892040"/>
            <a:ext cx="5486400" cy="320040"/>
          </a:xfrm>
          <a:prstGeom prst="rect">
            <a:avLst/>
          </a:prstGeom>
          <a:noFill/>
          <a:ln/>
        </p:spPr>
        <p:txBody>
          <a:bodyPr wrap="square" lIns="0" tIns="0" rIns="0" bIns="0" rtlCol="0" anchor="ctr"/>
          <a:lstStyle/>
          <a:p>
            <a:pPr indent="0" marL="0">
              <a:buNone/>
            </a:pPr>
            <a:r>
              <a:rPr lang="en-US" sz="1400" b="1" dirty="0">
                <a:solidFill>
                  <a:srgbClr val="2F7D4F"/>
                </a:solidFill>
                <a:latin typeface="Calibri" pitchFamily="34" charset="0"/>
                <a:ea typeface="Calibri" pitchFamily="34" charset="-122"/>
                <a:cs typeface="Calibri" pitchFamily="34" charset="-120"/>
              </a:rPr>
              <a:t>previewpal.duckdns.org</a:t>
            </a:r>
            <a:endParaRPr lang="en-US" sz="1400" dirty="0"/>
          </a:p>
        </p:txBody>
      </p:sp>
      <p:sp>
        <p:nvSpPr>
          <p:cNvPr id="8" name="Text 6"/>
          <p:cNvSpPr txBox="1"/>
          <p:nvPr/>
        </p:nvSpPr>
        <p:spPr>
          <a:xfrm>
            <a:off x="685800" y="5257800"/>
            <a:ext cx="7315200" cy="320040"/>
          </a:xfrm>
          <a:prstGeom prst="rect">
            <a:avLst/>
          </a:prstGeom>
          <a:noFill/>
          <a:ln/>
        </p:spPr>
        <p:txBody>
          <a:bodyPr wrap="square" lIns="0" tIns="0" rIns="0" bIns="0" rtlCol="0" anchor="ctr"/>
          <a:lstStyle/>
          <a:p>
            <a:pPr indent="0" marL="0">
              <a:buNone/>
            </a:pPr>
            <a:r>
              <a:rPr lang="en-US" sz="1200" dirty="0">
                <a:solidFill>
                  <a:srgbClr val="8C958E"/>
                </a:solidFill>
                <a:latin typeface="Calibri" pitchFamily="34" charset="0"/>
                <a:ea typeface="Calibri" pitchFamily="34" charset="-122"/>
                <a:cs typeface="Calibri" pitchFamily="34" charset="-120"/>
              </a:rPr>
              <a:t>Agentic Cinema: The Blockbuster Hackathon  ·  ClickHouse partner track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789920" cy="256032"/>
          </a:xfrm>
          <a:prstGeom prst="rect">
            <a:avLst/>
          </a:prstGeom>
          <a:noFill/>
          <a:ln/>
        </p:spPr>
        <p:txBody>
          <a:bodyPr wrap="square" lIns="0" tIns="0" rIns="0" bIns="0" rtlCol="0" anchor="ctr"/>
          <a:lstStyle/>
          <a:p>
            <a:pPr indent="0" marL="0">
              <a:buNone/>
            </a:pPr>
            <a:r>
              <a:rPr lang="en-US" sz="1100" b="1" spc="200" kern="0" dirty="0">
                <a:solidFill>
                  <a:srgbClr val="2F7D4F"/>
                </a:solidFill>
                <a:latin typeface="Calibri" pitchFamily="34" charset="0"/>
                <a:ea typeface="Calibri" pitchFamily="34" charset="-122"/>
                <a:cs typeface="Calibri" pitchFamily="34" charset="-120"/>
              </a:rPr>
              <a:t>WHY WE BUILT THIS</a:t>
            </a:r>
            <a:endParaRPr lang="en-US" sz="1100" dirty="0"/>
          </a:p>
        </p:txBody>
      </p:sp>
      <p:sp>
        <p:nvSpPr>
          <p:cNvPr id="3" name="Text 1"/>
          <p:cNvSpPr txBox="1"/>
          <p:nvPr/>
        </p:nvSpPr>
        <p:spPr>
          <a:xfrm>
            <a:off x="685800" y="713232"/>
            <a:ext cx="10789920" cy="1051560"/>
          </a:xfrm>
          <a:prstGeom prst="rect">
            <a:avLst/>
          </a:prstGeom>
          <a:noFill/>
          <a:ln/>
        </p:spPr>
        <p:txBody>
          <a:bodyPr wrap="square" lIns="0" tIns="0" rIns="0" bIns="0" rtlCol="0" anchor="t"/>
          <a:lstStyle/>
          <a:p>
            <a:pPr indent="0" marL="0">
              <a:buNone/>
            </a:pPr>
            <a:r>
              <a:rPr lang="en-US" sz="3400" b="1" dirty="0">
                <a:solidFill>
                  <a:srgbClr val="24312A"/>
                </a:solidFill>
                <a:latin typeface="Cambria" pitchFamily="34" charset="0"/>
                <a:ea typeface="Cambria" pitchFamily="34" charset="-122"/>
                <a:cs typeface="Cambria" pitchFamily="34" charset="-120"/>
              </a:rPr>
              <a:t>A dentist's waiting room, 9:40 a.m.</a:t>
            </a:r>
            <a:endParaRPr lang="en-US" sz="3400" dirty="0"/>
          </a:p>
        </p:txBody>
      </p:sp>
      <p:sp>
        <p:nvSpPr>
          <p:cNvPr id="4" name="Shape 2"/>
          <p:cNvSpPr/>
          <p:nvPr/>
        </p:nvSpPr>
        <p:spPr>
          <a:xfrm>
            <a:off x="685800" y="1828800"/>
            <a:ext cx="5852160" cy="3749040"/>
          </a:xfrm>
          <a:prstGeom prst="roundRect">
            <a:avLst>
              <a:gd name="adj" fmla="val 2927"/>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5" name="Text 3"/>
          <p:cNvSpPr txBox="1"/>
          <p:nvPr/>
        </p:nvSpPr>
        <p:spPr>
          <a:xfrm>
            <a:off x="1097280" y="2194560"/>
            <a:ext cx="5029200" cy="3017520"/>
          </a:xfrm>
          <a:prstGeom prst="rect">
            <a:avLst/>
          </a:prstGeom>
          <a:noFill/>
          <a:ln/>
        </p:spPr>
        <p:txBody>
          <a:bodyPr wrap="square" lIns="0" tIns="0" rIns="0" bIns="0" rtlCol="0" anchor="ctr"/>
          <a:lstStyle/>
          <a:p>
            <a:pPr indent="0" marL="0">
              <a:lnSpc>
                <a:spcPts val="2400"/>
              </a:lnSpc>
              <a:buNone/>
            </a:pPr>
            <a:r>
              <a:rPr lang="en-US" sz="1500" b="1" dirty="0">
                <a:solidFill>
                  <a:srgbClr val="24312A"/>
                </a:solidFill>
                <a:latin typeface="Calibri" pitchFamily="34" charset="0"/>
                <a:ea typeface="Calibri" pitchFamily="34" charset="-122"/>
                <a:cs typeface="Calibri" pitchFamily="34" charset="-120"/>
              </a:rPr>
              <a:t>Maya is seven. She is autistic.
</a:t>
            </a:r>
            <a:endParaRPr lang="en-US" sz="1500" dirty="0"/>
          </a:p>
          <a:p>
            <a:pPr indent="0" marL="0">
              <a:lnSpc>
                <a:spcPts val="2400"/>
              </a:lnSpc>
              <a:buNone/>
            </a:pPr>
            <a:r>
              <a:rPr lang="en-US" sz="1500" dirty="0">
                <a:solidFill>
                  <a:srgbClr val="24312A"/>
                </a:solidFill>
                <a:latin typeface="Calibri" pitchFamily="34" charset="0"/>
                <a:ea typeface="Calibri" pitchFamily="34" charset="-122"/>
                <a:cs typeface="Calibri" pitchFamily="34" charset="-120"/>
              </a:rPr>
              <a:t>Nobody told her about the light above the chair, or the sound the water makes, or that the person in the mask would count her teeth out loud.
</a:t>
            </a:r>
            <a:endParaRPr lang="en-US" sz="1500" dirty="0"/>
          </a:p>
          <a:p>
            <a:pPr indent="0" marL="0">
              <a:lnSpc>
                <a:spcPts val="2400"/>
              </a:lnSpc>
              <a:buNone/>
            </a:pPr>
            <a:r>
              <a:rPr lang="en-US" sz="1500" dirty="0">
                <a:solidFill>
                  <a:srgbClr val="24312A"/>
                </a:solidFill>
                <a:latin typeface="Calibri" pitchFamily="34" charset="0"/>
                <a:ea typeface="Calibri" pitchFamily="34" charset="-122"/>
                <a:cs typeface="Calibri" pitchFamily="34" charset="-120"/>
              </a:rPr>
              <a:t>Fifteen minutes later the appointment is abandoned. Her mother rebooks for a month away. Maya remembers the room as the place where everything went wrong — and the next visit starts from there.</a:t>
            </a:r>
            <a:endParaRPr lang="en-US" sz="1500" dirty="0"/>
          </a:p>
        </p:txBody>
      </p:sp>
      <p:sp>
        <p:nvSpPr>
          <p:cNvPr id="6" name="Text 4"/>
          <p:cNvSpPr txBox="1"/>
          <p:nvPr/>
        </p:nvSpPr>
        <p:spPr>
          <a:xfrm>
            <a:off x="7086600" y="2148840"/>
            <a:ext cx="4434840" cy="1463040"/>
          </a:xfrm>
          <a:prstGeom prst="rect">
            <a:avLst/>
          </a:prstGeom>
          <a:noFill/>
          <a:ln/>
        </p:spPr>
        <p:txBody>
          <a:bodyPr wrap="square" lIns="0" tIns="0" rIns="0" bIns="0" rtlCol="0" anchor="ctr"/>
          <a:lstStyle/>
          <a:p>
            <a:pPr indent="0" marL="0">
              <a:lnSpc>
                <a:spcPts val="3400"/>
              </a:lnSpc>
              <a:buNone/>
            </a:pPr>
            <a:r>
              <a:rPr lang="en-US" sz="2600" b="1" dirty="0">
                <a:solidFill>
                  <a:srgbClr val="215B39"/>
                </a:solidFill>
                <a:latin typeface="Cambria" pitchFamily="34" charset="0"/>
                <a:ea typeface="Cambria" pitchFamily="34" charset="-122"/>
                <a:cs typeface="Cambria" pitchFamily="34" charset="-120"/>
              </a:rPr>
              <a:t>“It is not the dentist.</a:t>
            </a:r>
            <a:endParaRPr lang="en-US" sz="2600" dirty="0"/>
          </a:p>
          <a:p>
            <a:pPr indent="0" marL="0">
              <a:lnSpc>
                <a:spcPts val="3400"/>
              </a:lnSpc>
              <a:buNone/>
            </a:pPr>
            <a:r>
              <a:rPr lang="en-US" sz="2600" b="1" dirty="0">
                <a:solidFill>
                  <a:srgbClr val="215B39"/>
                </a:solidFill>
                <a:latin typeface="Cambria" pitchFamily="34" charset="0"/>
                <a:ea typeface="Cambria" pitchFamily="34" charset="-122"/>
                <a:cs typeface="Cambria" pitchFamily="34" charset="-120"/>
              </a:rPr>
              <a:t>It is not knowing.”</a:t>
            </a:r>
            <a:endParaRPr lang="en-US" sz="2600" dirty="0"/>
          </a:p>
        </p:txBody>
      </p:sp>
      <p:sp>
        <p:nvSpPr>
          <p:cNvPr id="7" name="Text 5"/>
          <p:cNvSpPr txBox="1"/>
          <p:nvPr/>
        </p:nvSpPr>
        <p:spPr>
          <a:xfrm>
            <a:off x="7086600" y="3657600"/>
            <a:ext cx="4434840" cy="1554480"/>
          </a:xfrm>
          <a:prstGeom prst="rect">
            <a:avLst/>
          </a:prstGeom>
          <a:noFill/>
          <a:ln/>
        </p:spPr>
        <p:txBody>
          <a:bodyPr wrap="square" lIns="0" tIns="0" rIns="0" bIns="0" rtlCol="0" anchor="ctr"/>
          <a:lstStyle/>
          <a:p>
            <a:pPr indent="0" marL="0">
              <a:lnSpc>
                <a:spcPts val="2200"/>
              </a:lnSpc>
              <a:buNone/>
            </a:pPr>
            <a:r>
              <a:rPr lang="en-US" sz="1400" dirty="0">
                <a:solidFill>
                  <a:srgbClr val="6E6A61"/>
                </a:solidFill>
                <a:latin typeface="Calibri" pitchFamily="34" charset="0"/>
                <a:ea typeface="Calibri" pitchFamily="34" charset="-122"/>
                <a:cs typeface="Calibri" pitchFamily="34" charset="-120"/>
              </a:rPr>
              <a:t>Unpredictability — not the dentist, the haircut or the classroom itself — is what turns an ordinary appointment into a crisis. Change the amount a child knows in advance, and you change the day.</a:t>
            </a:r>
            <a:endParaRPr lang="en-US" sz="1400" dirty="0"/>
          </a:p>
        </p:txBody>
      </p:sp>
      <p:sp>
        <p:nvSpPr>
          <p:cNvPr id="8" name="Shape 6"/>
          <p:cNvSpPr/>
          <p:nvPr/>
        </p:nvSpPr>
        <p:spPr>
          <a:xfrm>
            <a:off x="685800" y="5715000"/>
            <a:ext cx="10817352" cy="777240"/>
          </a:xfrm>
          <a:prstGeom prst="roundRect">
            <a:avLst>
              <a:gd name="adj" fmla="val 14118"/>
            </a:avLst>
          </a:prstGeom>
          <a:solidFill>
            <a:srgbClr val="EAF1EB"/>
          </a:solidFill>
          <a:ln w="12700">
            <a:solidFill>
              <a:srgbClr val="EAF1EB"/>
            </a:solidFill>
            <a:prstDash val="solid"/>
          </a:ln>
          <a:effectLst>
            <a:outerShdw sx="100000" sy="100000" kx="0" ky="0" algn="bl" rotWithShape="0" blurRad="127000" dist="25400" dir="5400000">
              <a:srgbClr val="8A8578">
                <a:alpha val="18000"/>
              </a:srgbClr>
            </a:outerShdw>
          </a:effectLst>
        </p:spPr>
      </p:sp>
      <p:sp>
        <p:nvSpPr>
          <p:cNvPr id="9" name="Text 7"/>
          <p:cNvSpPr txBox="1"/>
          <p:nvPr/>
        </p:nvSpPr>
        <p:spPr>
          <a:xfrm>
            <a:off x="1097280" y="5715000"/>
            <a:ext cx="10058400" cy="777240"/>
          </a:xfrm>
          <a:prstGeom prst="rect">
            <a:avLst/>
          </a:prstGeom>
          <a:noFill/>
          <a:ln/>
        </p:spPr>
        <p:txBody>
          <a:bodyPr wrap="square" lIns="0" tIns="0" rIns="0" bIns="0" rtlCol="0" anchor="ctr"/>
          <a:lstStyle/>
          <a:p>
            <a:pPr indent="0" marL="0">
              <a:buNone/>
            </a:pPr>
            <a:r>
              <a:rPr lang="en-US" sz="1500" b="1" dirty="0">
                <a:solidFill>
                  <a:srgbClr val="215B39"/>
                </a:solidFill>
                <a:latin typeface="Calibri" pitchFamily="34" charset="0"/>
                <a:ea typeface="Calibri" pitchFamily="34" charset="-122"/>
                <a:cs typeface="Calibri" pitchFamily="34" charset="-120"/>
              </a:rPr>
              <a:t>Preview Pal exists for the week before this appointment, not the fifteen minutes after it.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789920" cy="256032"/>
          </a:xfrm>
          <a:prstGeom prst="rect">
            <a:avLst/>
          </a:prstGeom>
          <a:noFill/>
          <a:ln/>
        </p:spPr>
        <p:txBody>
          <a:bodyPr wrap="square" lIns="0" tIns="0" rIns="0" bIns="0" rtlCol="0" anchor="ctr"/>
          <a:lstStyle/>
          <a:p>
            <a:pPr indent="0" marL="0">
              <a:buNone/>
            </a:pPr>
            <a:r>
              <a:rPr lang="en-US" sz="1100" b="1" spc="200" kern="0" dirty="0">
                <a:solidFill>
                  <a:srgbClr val="2F7D4F"/>
                </a:solidFill>
                <a:latin typeface="Calibri" pitchFamily="34" charset="0"/>
                <a:ea typeface="Calibri" pitchFamily="34" charset="-122"/>
                <a:cs typeface="Calibri" pitchFamily="34" charset="-120"/>
              </a:rPr>
              <a:t>THE MECHANISM</a:t>
            </a:r>
            <a:endParaRPr lang="en-US" sz="1100" dirty="0"/>
          </a:p>
        </p:txBody>
      </p:sp>
      <p:sp>
        <p:nvSpPr>
          <p:cNvPr id="3" name="Text 1"/>
          <p:cNvSpPr txBox="1"/>
          <p:nvPr/>
        </p:nvSpPr>
        <p:spPr>
          <a:xfrm>
            <a:off x="685800" y="713232"/>
            <a:ext cx="10789920" cy="1051560"/>
          </a:xfrm>
          <a:prstGeom prst="rect">
            <a:avLst/>
          </a:prstGeom>
          <a:noFill/>
          <a:ln/>
        </p:spPr>
        <p:txBody>
          <a:bodyPr wrap="square" lIns="0" tIns="0" rIns="0" bIns="0" rtlCol="0" anchor="t"/>
          <a:lstStyle/>
          <a:p>
            <a:pPr indent="0" marL="0">
              <a:buNone/>
            </a:pPr>
            <a:r>
              <a:rPr lang="en-US" sz="3400" b="1" dirty="0">
                <a:solidFill>
                  <a:srgbClr val="24312A"/>
                </a:solidFill>
                <a:latin typeface="Cambria" pitchFamily="34" charset="0"/>
                <a:ea typeface="Cambria" pitchFamily="34" charset="-122"/>
                <a:cs typeface="Cambria" pitchFamily="34" charset="-120"/>
              </a:rPr>
              <a:t>What an unfamiliar event actually does</a:t>
            </a:r>
            <a:endParaRPr lang="en-US" sz="3400" dirty="0"/>
          </a:p>
        </p:txBody>
      </p:sp>
      <p:sp>
        <p:nvSpPr>
          <p:cNvPr id="4" name="Shape 2"/>
          <p:cNvSpPr/>
          <p:nvPr/>
        </p:nvSpPr>
        <p:spPr>
          <a:xfrm>
            <a:off x="685800" y="1920240"/>
            <a:ext cx="3410712" cy="2514600"/>
          </a:xfrm>
          <a:prstGeom prst="roundRect">
            <a:avLst>
              <a:gd name="adj" fmla="val 4364"/>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5" name="Shape 3"/>
          <p:cNvSpPr/>
          <p:nvPr/>
        </p:nvSpPr>
        <p:spPr>
          <a:xfrm>
            <a:off x="1005840" y="2240280"/>
            <a:ext cx="457200" cy="457200"/>
          </a:xfrm>
          <a:prstGeom prst="ellipse">
            <a:avLst/>
          </a:prstGeom>
          <a:solidFill>
            <a:srgbClr val="2F7D4F"/>
          </a:solidFill>
          <a:ln w="12700">
            <a:solidFill>
              <a:srgbClr val="2F7D4F"/>
            </a:solidFill>
            <a:prstDash val="solid"/>
          </a:ln>
        </p:spPr>
      </p:sp>
      <p:sp>
        <p:nvSpPr>
          <p:cNvPr id="6" name="Text 4"/>
          <p:cNvSpPr txBox="1"/>
          <p:nvPr/>
        </p:nvSpPr>
        <p:spPr>
          <a:xfrm>
            <a:off x="1005840" y="2240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005840" y="2834640"/>
            <a:ext cx="2743200" cy="365760"/>
          </a:xfrm>
          <a:prstGeom prst="rect">
            <a:avLst/>
          </a:prstGeom>
          <a:noFill/>
          <a:ln/>
        </p:spPr>
        <p:txBody>
          <a:bodyPr wrap="square" lIns="0" tIns="0" rIns="0" bIns="0" rtlCol="0" anchor="ctr"/>
          <a:lstStyle/>
          <a:p>
            <a:pPr indent="0" marL="0">
              <a:buNone/>
            </a:pPr>
            <a:r>
              <a:rPr lang="en-US" sz="1900" b="1" dirty="0">
                <a:solidFill>
                  <a:srgbClr val="24312A"/>
                </a:solidFill>
                <a:latin typeface="Cambria" pitchFamily="34" charset="0"/>
                <a:ea typeface="Cambria" pitchFamily="34" charset="-122"/>
                <a:cs typeface="Cambria" pitchFamily="34" charset="-120"/>
              </a:rPr>
              <a:t>Sensory load</a:t>
            </a:r>
            <a:endParaRPr lang="en-US" sz="1900" dirty="0"/>
          </a:p>
        </p:txBody>
      </p:sp>
      <p:sp>
        <p:nvSpPr>
          <p:cNvPr id="8" name="Text 6"/>
          <p:cNvSpPr txBox="1"/>
          <p:nvPr/>
        </p:nvSpPr>
        <p:spPr>
          <a:xfrm>
            <a:off x="1005840" y="3246120"/>
            <a:ext cx="2788920" cy="1097280"/>
          </a:xfrm>
          <a:prstGeom prst="rect">
            <a:avLst/>
          </a:prstGeom>
          <a:noFill/>
          <a:ln/>
        </p:spPr>
        <p:txBody>
          <a:bodyPr wrap="square" lIns="0" tIns="0" rIns="0" bIns="0" rtlCol="0" anchor="ctr"/>
          <a:lstStyle/>
          <a:p>
            <a:pPr indent="0" marL="0">
              <a:lnSpc>
                <a:spcPts val="1900"/>
              </a:lnSpc>
              <a:buNone/>
            </a:pPr>
            <a:r>
              <a:rPr lang="en-US" sz="1250" dirty="0">
                <a:solidFill>
                  <a:srgbClr val="6E6A61"/>
                </a:solidFill>
                <a:latin typeface="Calibri" pitchFamily="34" charset="0"/>
                <a:ea typeface="Calibri" pitchFamily="34" charset="-122"/>
                <a:cs typeface="Calibri" pitchFamily="34" charset="-120"/>
              </a:rPr>
              <a:t>Lights, sounds, smells and textures that most people filter out arrive at full volume. Sensory differences are a core diagnostic feature of autism.</a:t>
            </a:r>
            <a:endParaRPr lang="en-US" sz="1250" dirty="0"/>
          </a:p>
        </p:txBody>
      </p:sp>
      <p:sp>
        <p:nvSpPr>
          <p:cNvPr id="9" name="Shape 7"/>
          <p:cNvSpPr/>
          <p:nvPr/>
        </p:nvSpPr>
        <p:spPr>
          <a:xfrm>
            <a:off x="4370832" y="1920240"/>
            <a:ext cx="3410712" cy="2514600"/>
          </a:xfrm>
          <a:prstGeom prst="roundRect">
            <a:avLst>
              <a:gd name="adj" fmla="val 4364"/>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10" name="Shape 8"/>
          <p:cNvSpPr/>
          <p:nvPr/>
        </p:nvSpPr>
        <p:spPr>
          <a:xfrm>
            <a:off x="4690872" y="2240280"/>
            <a:ext cx="457200" cy="457200"/>
          </a:xfrm>
          <a:prstGeom prst="ellipse">
            <a:avLst/>
          </a:prstGeom>
          <a:solidFill>
            <a:srgbClr val="2F7D4F"/>
          </a:solidFill>
          <a:ln w="12700">
            <a:solidFill>
              <a:srgbClr val="2F7D4F"/>
            </a:solidFill>
            <a:prstDash val="solid"/>
          </a:ln>
        </p:spPr>
      </p:sp>
      <p:sp>
        <p:nvSpPr>
          <p:cNvPr id="11" name="Text 9"/>
          <p:cNvSpPr txBox="1"/>
          <p:nvPr/>
        </p:nvSpPr>
        <p:spPr>
          <a:xfrm>
            <a:off x="4690872" y="2240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4690872" y="2834640"/>
            <a:ext cx="2743200" cy="365760"/>
          </a:xfrm>
          <a:prstGeom prst="rect">
            <a:avLst/>
          </a:prstGeom>
          <a:noFill/>
          <a:ln/>
        </p:spPr>
        <p:txBody>
          <a:bodyPr wrap="square" lIns="0" tIns="0" rIns="0" bIns="0" rtlCol="0" anchor="ctr"/>
          <a:lstStyle/>
          <a:p>
            <a:pPr indent="0" marL="0">
              <a:buNone/>
            </a:pPr>
            <a:r>
              <a:rPr lang="en-US" sz="1900" b="1" dirty="0">
                <a:solidFill>
                  <a:srgbClr val="24312A"/>
                </a:solidFill>
                <a:latin typeface="Cambria" pitchFamily="34" charset="0"/>
                <a:ea typeface="Cambria" pitchFamily="34" charset="-122"/>
                <a:cs typeface="Cambria" pitchFamily="34" charset="-120"/>
              </a:rPr>
              <a:t>Predictability</a:t>
            </a:r>
            <a:endParaRPr lang="en-US" sz="1900" dirty="0"/>
          </a:p>
        </p:txBody>
      </p:sp>
      <p:sp>
        <p:nvSpPr>
          <p:cNvPr id="13" name="Text 11"/>
          <p:cNvSpPr txBox="1"/>
          <p:nvPr/>
        </p:nvSpPr>
        <p:spPr>
          <a:xfrm>
            <a:off x="4690872" y="3246120"/>
            <a:ext cx="2788920" cy="1097280"/>
          </a:xfrm>
          <a:prstGeom prst="rect">
            <a:avLst/>
          </a:prstGeom>
          <a:noFill/>
          <a:ln/>
        </p:spPr>
        <p:txBody>
          <a:bodyPr wrap="square" lIns="0" tIns="0" rIns="0" bIns="0" rtlCol="0" anchor="ctr"/>
          <a:lstStyle/>
          <a:p>
            <a:pPr indent="0" marL="0">
              <a:lnSpc>
                <a:spcPts val="1900"/>
              </a:lnSpc>
              <a:buNone/>
            </a:pPr>
            <a:r>
              <a:rPr lang="en-US" sz="1250" dirty="0">
                <a:solidFill>
                  <a:srgbClr val="6E6A61"/>
                </a:solidFill>
                <a:latin typeface="Calibri" pitchFamily="34" charset="0"/>
                <a:ea typeface="Calibri" pitchFamily="34" charset="-122"/>
                <a:cs typeface="Calibri" pitchFamily="34" charset="-120"/>
              </a:rPr>
              <a:t>A predictable routine is regulating. A surprise is not simply unwelcome — it removes the ground the child is standing on.</a:t>
            </a:r>
            <a:endParaRPr lang="en-US" sz="1250" dirty="0"/>
          </a:p>
        </p:txBody>
      </p:sp>
      <p:sp>
        <p:nvSpPr>
          <p:cNvPr id="14" name="Shape 12"/>
          <p:cNvSpPr/>
          <p:nvPr/>
        </p:nvSpPr>
        <p:spPr>
          <a:xfrm>
            <a:off x="8055864" y="1920240"/>
            <a:ext cx="3410712" cy="2514600"/>
          </a:xfrm>
          <a:prstGeom prst="roundRect">
            <a:avLst>
              <a:gd name="adj" fmla="val 4364"/>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15" name="Shape 13"/>
          <p:cNvSpPr/>
          <p:nvPr/>
        </p:nvSpPr>
        <p:spPr>
          <a:xfrm>
            <a:off x="8375904" y="2240280"/>
            <a:ext cx="457200" cy="457200"/>
          </a:xfrm>
          <a:prstGeom prst="ellipse">
            <a:avLst/>
          </a:prstGeom>
          <a:solidFill>
            <a:srgbClr val="2F7D4F"/>
          </a:solidFill>
          <a:ln w="12700">
            <a:solidFill>
              <a:srgbClr val="2F7D4F"/>
            </a:solidFill>
            <a:prstDash val="solid"/>
          </a:ln>
        </p:spPr>
      </p:sp>
      <p:sp>
        <p:nvSpPr>
          <p:cNvPr id="16" name="Text 14"/>
          <p:cNvSpPr txBox="1"/>
          <p:nvPr/>
        </p:nvSpPr>
        <p:spPr>
          <a:xfrm>
            <a:off x="8375904" y="22402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8375904" y="2834640"/>
            <a:ext cx="2743200" cy="365760"/>
          </a:xfrm>
          <a:prstGeom prst="rect">
            <a:avLst/>
          </a:prstGeom>
          <a:noFill/>
          <a:ln/>
        </p:spPr>
        <p:txBody>
          <a:bodyPr wrap="square" lIns="0" tIns="0" rIns="0" bIns="0" rtlCol="0" anchor="ctr"/>
          <a:lstStyle/>
          <a:p>
            <a:pPr indent="0" marL="0">
              <a:buNone/>
            </a:pPr>
            <a:r>
              <a:rPr lang="en-US" sz="1900" b="1" dirty="0">
                <a:solidFill>
                  <a:srgbClr val="24312A"/>
                </a:solidFill>
                <a:latin typeface="Cambria" pitchFamily="34" charset="0"/>
                <a:ea typeface="Cambria" pitchFamily="34" charset="-122"/>
                <a:cs typeface="Cambria" pitchFamily="34" charset="-120"/>
              </a:rPr>
              <a:t>Language in the moment</a:t>
            </a:r>
            <a:endParaRPr lang="en-US" sz="1900" dirty="0"/>
          </a:p>
        </p:txBody>
      </p:sp>
      <p:sp>
        <p:nvSpPr>
          <p:cNvPr id="18" name="Text 16"/>
          <p:cNvSpPr txBox="1"/>
          <p:nvPr/>
        </p:nvSpPr>
        <p:spPr>
          <a:xfrm>
            <a:off x="8375904" y="3246120"/>
            <a:ext cx="2788920" cy="1097280"/>
          </a:xfrm>
          <a:prstGeom prst="rect">
            <a:avLst/>
          </a:prstGeom>
          <a:noFill/>
          <a:ln/>
        </p:spPr>
        <p:txBody>
          <a:bodyPr wrap="square" lIns="0" tIns="0" rIns="0" bIns="0" rtlCol="0" anchor="ctr"/>
          <a:lstStyle/>
          <a:p>
            <a:pPr indent="0" marL="0">
              <a:lnSpc>
                <a:spcPts val="1900"/>
              </a:lnSpc>
              <a:buNone/>
            </a:pPr>
            <a:r>
              <a:rPr lang="en-US" sz="1250" dirty="0">
                <a:solidFill>
                  <a:srgbClr val="6E6A61"/>
                </a:solidFill>
                <a:latin typeface="Calibri" pitchFamily="34" charset="0"/>
                <a:ea typeface="Calibri" pitchFamily="34" charset="-122"/>
                <a:cs typeface="Calibri" pitchFamily="34" charset="-120"/>
              </a:rPr>
              <a:t>Instructions given under stress — abstract, fast, full of idiom — are the hardest to process, precisely when they matter most.</a:t>
            </a:r>
            <a:endParaRPr lang="en-US" sz="1250" dirty="0"/>
          </a:p>
        </p:txBody>
      </p:sp>
      <p:sp>
        <p:nvSpPr>
          <p:cNvPr id="19" name="Shape 17"/>
          <p:cNvSpPr/>
          <p:nvPr/>
        </p:nvSpPr>
        <p:spPr>
          <a:xfrm>
            <a:off x="685800" y="4709160"/>
            <a:ext cx="10817352" cy="1234440"/>
          </a:xfrm>
          <a:prstGeom prst="roundRect">
            <a:avLst>
              <a:gd name="adj" fmla="val 8889"/>
            </a:avLst>
          </a:prstGeom>
          <a:solidFill>
            <a:srgbClr val="EAF1EB"/>
          </a:solidFill>
          <a:ln w="12700">
            <a:solidFill>
              <a:srgbClr val="EAF1EB"/>
            </a:solidFill>
            <a:prstDash val="solid"/>
          </a:ln>
          <a:effectLst>
            <a:outerShdw sx="100000" sy="100000" kx="0" ky="0" algn="bl" rotWithShape="0" blurRad="127000" dist="25400" dir="5400000">
              <a:srgbClr val="8A8578">
                <a:alpha val="18000"/>
              </a:srgbClr>
            </a:outerShdw>
          </a:effectLst>
        </p:spPr>
      </p:sp>
      <p:sp>
        <p:nvSpPr>
          <p:cNvPr id="20" name="Text 18"/>
          <p:cNvSpPr txBox="1"/>
          <p:nvPr/>
        </p:nvSpPr>
        <p:spPr>
          <a:xfrm>
            <a:off x="1097280" y="4983480"/>
            <a:ext cx="10058400" cy="731520"/>
          </a:xfrm>
          <a:prstGeom prst="rect">
            <a:avLst/>
          </a:prstGeom>
          <a:noFill/>
          <a:ln/>
        </p:spPr>
        <p:txBody>
          <a:bodyPr wrap="square" lIns="0" tIns="0" rIns="0" bIns="0" rtlCol="0" anchor="ctr"/>
          <a:lstStyle/>
          <a:p>
            <a:pPr indent="0" marL="0">
              <a:buNone/>
            </a:pPr>
            <a:r>
              <a:rPr lang="en-US" sz="3400" b="1" dirty="0">
                <a:solidFill>
                  <a:srgbClr val="215B39"/>
                </a:solidFill>
                <a:latin typeface="Cambria" pitchFamily="34" charset="0"/>
                <a:ea typeface="Cambria" pitchFamily="34" charset="-122"/>
                <a:cs typeface="Cambria" pitchFamily="34" charset="-120"/>
              </a:rPr>
              <a:t>74%</a:t>
            </a:r>
            <a:pPr indent="0" marL="0">
              <a:buNone/>
            </a:pPr>
            <a:r>
              <a:rPr lang="en-US" sz="1500" dirty="0">
                <a:solidFill>
                  <a:srgbClr val="24312A"/>
                </a:solidFill>
                <a:latin typeface="Calibri" pitchFamily="34" charset="0"/>
                <a:ea typeface="Calibri" pitchFamily="34" charset="-122"/>
                <a:cs typeface="Calibri" pitchFamily="34" charset="-120"/>
              </a:rPr>
              <a:t>   of 25,627 autistic children in a national US surveillance study had documented sensory features.</a:t>
            </a:r>
            <a:endParaRPr lang="en-US" sz="3400" dirty="0"/>
          </a:p>
        </p:txBody>
      </p:sp>
      <p:sp>
        <p:nvSpPr>
          <p:cNvPr id="21" name="Text 19"/>
          <p:cNvSpPr txBox="1"/>
          <p:nvPr/>
        </p:nvSpPr>
        <p:spPr>
          <a:xfrm>
            <a:off x="685800" y="6327648"/>
            <a:ext cx="10789920" cy="274320"/>
          </a:xfrm>
          <a:prstGeom prst="rect">
            <a:avLst/>
          </a:prstGeom>
          <a:noFill/>
          <a:ln/>
        </p:spPr>
        <p:txBody>
          <a:bodyPr wrap="square" lIns="0" tIns="0" rIns="0" bIns="0" rtlCol="0" anchor="ctr"/>
          <a:lstStyle/>
          <a:p>
            <a:pPr indent="0" marL="0">
              <a:buNone/>
            </a:pPr>
            <a:r>
              <a:rPr lang="en-US" sz="950" i="1" dirty="0">
                <a:solidFill>
                  <a:srgbClr val="6E6A61"/>
                </a:solidFill>
                <a:latin typeface="Calibri" pitchFamily="34" charset="0"/>
                <a:ea typeface="Calibri" pitchFamily="34" charset="-122"/>
                <a:cs typeface="Calibri" pitchFamily="34" charset="-120"/>
              </a:rPr>
              <a:t>Sensory features in autism: findings from a large population-based surveillance system (ADDM Network, 2006–2014), Autism Research, 2022.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23"/>
        </a:solidFill>
      </p:bgPr>
    </p:bg>
    <p:spTree>
      <p:nvGrpSpPr>
        <p:cNvPr id="1" name=""/>
        <p:cNvGrpSpPr/>
        <p:nvPr/>
      </p:nvGrpSpPr>
      <p:grpSpPr>
        <a:xfrm>
          <a:off x="0" y="0"/>
          <a:ext cx="0" cy="0"/>
          <a:chOff x="0" y="0"/>
          <a:chExt cx="0" cy="0"/>
        </a:xfrm>
      </p:grpSpPr>
      <p:sp>
        <p:nvSpPr>
          <p:cNvPr id="2" name="Text 0"/>
          <p:cNvSpPr txBox="1"/>
          <p:nvPr/>
        </p:nvSpPr>
        <p:spPr>
          <a:xfrm>
            <a:off x="685800" y="502920"/>
            <a:ext cx="7315200" cy="274320"/>
          </a:xfrm>
          <a:prstGeom prst="rect">
            <a:avLst/>
          </a:prstGeom>
          <a:noFill/>
          <a:ln/>
        </p:spPr>
        <p:txBody>
          <a:bodyPr wrap="square" lIns="0" tIns="0" rIns="0" bIns="0" rtlCol="0" anchor="ctr"/>
          <a:lstStyle/>
          <a:p>
            <a:pPr indent="0" marL="0">
              <a:buNone/>
            </a:pPr>
            <a:r>
              <a:rPr lang="en-US" sz="1100" b="1" spc="200" kern="0" dirty="0">
                <a:solidFill>
                  <a:srgbClr val="2F7D4F"/>
                </a:solidFill>
                <a:latin typeface="Calibri" pitchFamily="34" charset="0"/>
                <a:ea typeface="Calibri" pitchFamily="34" charset="-122"/>
                <a:cs typeface="Calibri" pitchFamily="34" charset="-120"/>
              </a:rPr>
              <a:t>HOW MANY CHILDREN</a:t>
            </a:r>
            <a:endParaRPr lang="en-US" sz="1100" dirty="0"/>
          </a:p>
        </p:txBody>
      </p:sp>
      <p:sp>
        <p:nvSpPr>
          <p:cNvPr id="3" name="Text 1"/>
          <p:cNvSpPr txBox="1"/>
          <p:nvPr/>
        </p:nvSpPr>
        <p:spPr>
          <a:xfrm>
            <a:off x="685800" y="822960"/>
            <a:ext cx="73152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This is not a rare problem</a:t>
            </a:r>
            <a:endParaRPr lang="en-US" sz="3400" dirty="0"/>
          </a:p>
        </p:txBody>
      </p:sp>
      <p:sp>
        <p:nvSpPr>
          <p:cNvPr id="4" name="Text 2"/>
          <p:cNvSpPr txBox="1"/>
          <p:nvPr/>
        </p:nvSpPr>
        <p:spPr>
          <a:xfrm>
            <a:off x="685800" y="1828800"/>
            <a:ext cx="4937760" cy="1005840"/>
          </a:xfrm>
          <a:prstGeom prst="rect">
            <a:avLst/>
          </a:prstGeom>
          <a:noFill/>
          <a:ln/>
        </p:spPr>
        <p:txBody>
          <a:bodyPr wrap="square" lIns="0" tIns="0" rIns="0" bIns="0" rtlCol="0" anchor="ctr"/>
          <a:lstStyle/>
          <a:p>
            <a:pPr indent="0" marL="0">
              <a:buNone/>
            </a:pPr>
            <a:r>
              <a:rPr lang="en-US" sz="6200" b="1" dirty="0">
                <a:solidFill>
                  <a:srgbClr val="FFFFFF"/>
                </a:solidFill>
                <a:latin typeface="Cambria" pitchFamily="34" charset="0"/>
                <a:ea typeface="Cambria" pitchFamily="34" charset="-122"/>
                <a:cs typeface="Cambria" pitchFamily="34" charset="-120"/>
              </a:rPr>
              <a:t>1 in 31</a:t>
            </a:r>
            <a:endParaRPr lang="en-US" sz="6200" dirty="0"/>
          </a:p>
        </p:txBody>
      </p:sp>
      <p:sp>
        <p:nvSpPr>
          <p:cNvPr id="5" name="Text 3"/>
          <p:cNvSpPr txBox="1"/>
          <p:nvPr/>
        </p:nvSpPr>
        <p:spPr>
          <a:xfrm>
            <a:off x="685800" y="2834640"/>
            <a:ext cx="4937760" cy="914400"/>
          </a:xfrm>
          <a:prstGeom prst="rect">
            <a:avLst/>
          </a:prstGeom>
          <a:noFill/>
          <a:ln/>
        </p:spPr>
        <p:txBody>
          <a:bodyPr wrap="square" lIns="0" tIns="0" rIns="0" bIns="0" rtlCol="0" anchor="ctr"/>
          <a:lstStyle/>
          <a:p>
            <a:pPr indent="0" marL="0">
              <a:lnSpc>
                <a:spcPts val="2200"/>
              </a:lnSpc>
              <a:buNone/>
            </a:pPr>
            <a:r>
              <a:rPr lang="en-US" sz="1450" dirty="0">
                <a:solidFill>
                  <a:srgbClr val="E8E4D9"/>
                </a:solidFill>
                <a:latin typeface="Calibri" pitchFamily="34" charset="0"/>
                <a:ea typeface="Calibri" pitchFamily="34" charset="-122"/>
                <a:cs typeface="Calibri" pitchFamily="34" charset="-120"/>
              </a:rPr>
              <a:t>8-year-old children in the United States were identified with autism in 2022 — up from 1 in 36 two years earlier.</a:t>
            </a:r>
            <a:endParaRPr lang="en-US" sz="1450" dirty="0"/>
          </a:p>
        </p:txBody>
      </p:sp>
      <p:sp>
        <p:nvSpPr>
          <p:cNvPr id="6" name="Text 4"/>
          <p:cNvSpPr txBox="1"/>
          <p:nvPr/>
        </p:nvSpPr>
        <p:spPr>
          <a:xfrm>
            <a:off x="685800" y="3840480"/>
            <a:ext cx="4937760" cy="1051560"/>
          </a:xfrm>
          <a:prstGeom prst="rect">
            <a:avLst/>
          </a:prstGeom>
          <a:noFill/>
          <a:ln/>
        </p:spPr>
        <p:txBody>
          <a:bodyPr wrap="square" lIns="0" tIns="0" rIns="0" bIns="0" rtlCol="0" anchor="ctr"/>
          <a:lstStyle/>
          <a:p>
            <a:pPr indent="0" marL="0">
              <a:lnSpc>
                <a:spcPts val="2200"/>
              </a:lnSpc>
              <a:buNone/>
            </a:pPr>
            <a:r>
              <a:rPr lang="en-US" sz="2400" b="1" dirty="0">
                <a:solidFill>
                  <a:srgbClr val="FFFFFF"/>
                </a:solidFill>
                <a:latin typeface="Cambria" pitchFamily="34" charset="0"/>
                <a:ea typeface="Cambria" pitchFamily="34" charset="-122"/>
                <a:cs typeface="Cambria" pitchFamily="34" charset="-120"/>
              </a:rPr>
              <a:t>61.8 million people</a:t>
            </a:r>
            <a:endParaRPr lang="en-US" sz="2400" dirty="0"/>
          </a:p>
          <a:p>
            <a:pPr indent="0" marL="0">
              <a:lnSpc>
                <a:spcPts val="2200"/>
              </a:lnSpc>
              <a:buNone/>
            </a:pPr>
            <a:r>
              <a:rPr lang="en-US" sz="1400" dirty="0">
                <a:solidFill>
                  <a:srgbClr val="A8B3AC"/>
                </a:solidFill>
                <a:latin typeface="Calibri" pitchFamily="34" charset="0"/>
                <a:ea typeface="Calibri" pitchFamily="34" charset="-122"/>
                <a:cs typeface="Calibri" pitchFamily="34" charset="-120"/>
              </a:rPr>
              <a:t>on the autism spectrum worldwide — about 1 in 127 — in 2021.</a:t>
            </a:r>
            <a:endParaRPr lang="en-US" sz="2400" dirty="0"/>
          </a:p>
        </p:txBody>
      </p:sp>
      <p:sp>
        <p:nvSpPr>
          <p:cNvPr id="7" name="Text 5"/>
          <p:cNvSpPr txBox="1"/>
          <p:nvPr/>
        </p:nvSpPr>
        <p:spPr>
          <a:xfrm>
            <a:off x="685800" y="5029200"/>
            <a:ext cx="4937760" cy="1097280"/>
          </a:xfrm>
          <a:prstGeom prst="rect">
            <a:avLst/>
          </a:prstGeom>
          <a:noFill/>
          <a:ln/>
        </p:spPr>
        <p:txBody>
          <a:bodyPr wrap="square" lIns="0" tIns="0" rIns="0" bIns="0" rtlCol="0" anchor="ctr"/>
          <a:lstStyle/>
          <a:p>
            <a:pPr indent="0" marL="0">
              <a:lnSpc>
                <a:spcPts val="2200"/>
              </a:lnSpc>
              <a:buNone/>
            </a:pPr>
            <a:r>
              <a:rPr lang="en-US" sz="2400" b="1" dirty="0">
                <a:solidFill>
                  <a:srgbClr val="FFFFFF"/>
                </a:solidFill>
                <a:latin typeface="Cambria" pitchFamily="34" charset="0"/>
                <a:ea typeface="Cambria" pitchFamily="34" charset="-122"/>
                <a:cs typeface="Cambria" pitchFamily="34" charset="-120"/>
              </a:rPr>
              <a:t>1 in 34</a:t>
            </a:r>
            <a:endParaRPr lang="en-US" sz="2400" dirty="0"/>
          </a:p>
          <a:p>
            <a:pPr indent="0" marL="0">
              <a:lnSpc>
                <a:spcPts val="2200"/>
              </a:lnSpc>
              <a:buNone/>
            </a:pPr>
            <a:r>
              <a:rPr lang="en-US" sz="1400" dirty="0">
                <a:solidFill>
                  <a:srgbClr val="A8B3AC"/>
                </a:solidFill>
                <a:latin typeface="Calibri" pitchFamily="34" charset="0"/>
                <a:ea typeface="Calibri" pitchFamily="34" charset="-122"/>
                <a:cs typeface="Calibri" pitchFamily="34" charset="-120"/>
              </a:rPr>
              <a:t>already identified by age four — these are children facing their first dentist, first haircut, first classroom right now.</a:t>
            </a:r>
            <a:endParaRPr lang="en-US" sz="2400" dirty="0"/>
          </a:p>
        </p:txBody>
      </p:sp>
      <p:sp>
        <p:nvSpPr>
          <p:cNvPr id="8" name="Shape 6"/>
          <p:cNvSpPr/>
          <p:nvPr/>
        </p:nvSpPr>
        <p:spPr>
          <a:xfrm>
            <a:off x="6629400" y="2148840"/>
            <a:ext cx="475488" cy="475488"/>
          </a:xfrm>
          <a:prstGeom prst="roundRect">
            <a:avLst>
              <a:gd name="adj" fmla="val 11538"/>
            </a:avLst>
          </a:prstGeom>
          <a:solidFill>
            <a:srgbClr val="2E3D35"/>
          </a:solidFill>
          <a:ln w="12700">
            <a:solidFill>
              <a:srgbClr val="3A4A41"/>
            </a:solidFill>
            <a:prstDash val="solid"/>
          </a:ln>
        </p:spPr>
      </p:sp>
      <p:sp>
        <p:nvSpPr>
          <p:cNvPr id="9" name="Shape 7"/>
          <p:cNvSpPr/>
          <p:nvPr/>
        </p:nvSpPr>
        <p:spPr>
          <a:xfrm>
            <a:off x="7232904" y="2148840"/>
            <a:ext cx="475488" cy="475488"/>
          </a:xfrm>
          <a:prstGeom prst="roundRect">
            <a:avLst>
              <a:gd name="adj" fmla="val 11538"/>
            </a:avLst>
          </a:prstGeom>
          <a:solidFill>
            <a:srgbClr val="2E3D35"/>
          </a:solidFill>
          <a:ln w="12700">
            <a:solidFill>
              <a:srgbClr val="3A4A41"/>
            </a:solidFill>
            <a:prstDash val="solid"/>
          </a:ln>
        </p:spPr>
      </p:sp>
      <p:sp>
        <p:nvSpPr>
          <p:cNvPr id="10" name="Shape 8"/>
          <p:cNvSpPr/>
          <p:nvPr/>
        </p:nvSpPr>
        <p:spPr>
          <a:xfrm>
            <a:off x="7836408" y="2148840"/>
            <a:ext cx="475488" cy="475488"/>
          </a:xfrm>
          <a:prstGeom prst="roundRect">
            <a:avLst>
              <a:gd name="adj" fmla="val 11538"/>
            </a:avLst>
          </a:prstGeom>
          <a:solidFill>
            <a:srgbClr val="2E3D35"/>
          </a:solidFill>
          <a:ln w="12700">
            <a:solidFill>
              <a:srgbClr val="3A4A41"/>
            </a:solidFill>
            <a:prstDash val="solid"/>
          </a:ln>
        </p:spPr>
      </p:sp>
      <p:sp>
        <p:nvSpPr>
          <p:cNvPr id="11" name="Shape 9"/>
          <p:cNvSpPr/>
          <p:nvPr/>
        </p:nvSpPr>
        <p:spPr>
          <a:xfrm>
            <a:off x="8439912" y="2148840"/>
            <a:ext cx="475488" cy="475488"/>
          </a:xfrm>
          <a:prstGeom prst="roundRect">
            <a:avLst>
              <a:gd name="adj" fmla="val 11538"/>
            </a:avLst>
          </a:prstGeom>
          <a:solidFill>
            <a:srgbClr val="2E3D35"/>
          </a:solidFill>
          <a:ln w="12700">
            <a:solidFill>
              <a:srgbClr val="3A4A41"/>
            </a:solidFill>
            <a:prstDash val="solid"/>
          </a:ln>
        </p:spPr>
      </p:sp>
      <p:sp>
        <p:nvSpPr>
          <p:cNvPr id="12" name="Shape 10"/>
          <p:cNvSpPr/>
          <p:nvPr/>
        </p:nvSpPr>
        <p:spPr>
          <a:xfrm>
            <a:off x="9043416" y="2148840"/>
            <a:ext cx="475488" cy="475488"/>
          </a:xfrm>
          <a:prstGeom prst="roundRect">
            <a:avLst>
              <a:gd name="adj" fmla="val 11538"/>
            </a:avLst>
          </a:prstGeom>
          <a:solidFill>
            <a:srgbClr val="2E3D35"/>
          </a:solidFill>
          <a:ln w="12700">
            <a:solidFill>
              <a:srgbClr val="3A4A41"/>
            </a:solidFill>
            <a:prstDash val="solid"/>
          </a:ln>
        </p:spPr>
      </p:sp>
      <p:sp>
        <p:nvSpPr>
          <p:cNvPr id="13" name="Shape 11"/>
          <p:cNvSpPr/>
          <p:nvPr/>
        </p:nvSpPr>
        <p:spPr>
          <a:xfrm>
            <a:off x="9646920" y="2148840"/>
            <a:ext cx="475488" cy="475488"/>
          </a:xfrm>
          <a:prstGeom prst="roundRect">
            <a:avLst>
              <a:gd name="adj" fmla="val 11538"/>
            </a:avLst>
          </a:prstGeom>
          <a:solidFill>
            <a:srgbClr val="2E3D35"/>
          </a:solidFill>
          <a:ln w="12700">
            <a:solidFill>
              <a:srgbClr val="3A4A41"/>
            </a:solidFill>
            <a:prstDash val="solid"/>
          </a:ln>
        </p:spPr>
      </p:sp>
      <p:sp>
        <p:nvSpPr>
          <p:cNvPr id="14" name="Shape 12"/>
          <p:cNvSpPr/>
          <p:nvPr/>
        </p:nvSpPr>
        <p:spPr>
          <a:xfrm>
            <a:off x="10250424" y="2148840"/>
            <a:ext cx="475488" cy="475488"/>
          </a:xfrm>
          <a:prstGeom prst="roundRect">
            <a:avLst>
              <a:gd name="adj" fmla="val 11538"/>
            </a:avLst>
          </a:prstGeom>
          <a:solidFill>
            <a:srgbClr val="2E3D35"/>
          </a:solidFill>
          <a:ln w="12700">
            <a:solidFill>
              <a:srgbClr val="3A4A41"/>
            </a:solidFill>
            <a:prstDash val="solid"/>
          </a:ln>
        </p:spPr>
      </p:sp>
      <p:sp>
        <p:nvSpPr>
          <p:cNvPr id="15" name="Shape 13"/>
          <p:cNvSpPr/>
          <p:nvPr/>
        </p:nvSpPr>
        <p:spPr>
          <a:xfrm>
            <a:off x="10853928" y="2148840"/>
            <a:ext cx="475488" cy="475488"/>
          </a:xfrm>
          <a:prstGeom prst="roundRect">
            <a:avLst>
              <a:gd name="adj" fmla="val 11538"/>
            </a:avLst>
          </a:prstGeom>
          <a:solidFill>
            <a:srgbClr val="2E3D35"/>
          </a:solidFill>
          <a:ln w="12700">
            <a:solidFill>
              <a:srgbClr val="3A4A41"/>
            </a:solidFill>
            <a:prstDash val="solid"/>
          </a:ln>
        </p:spPr>
      </p:sp>
      <p:sp>
        <p:nvSpPr>
          <p:cNvPr id="16" name="Shape 14"/>
          <p:cNvSpPr/>
          <p:nvPr/>
        </p:nvSpPr>
        <p:spPr>
          <a:xfrm>
            <a:off x="6629400" y="2752344"/>
            <a:ext cx="475488" cy="475488"/>
          </a:xfrm>
          <a:prstGeom prst="roundRect">
            <a:avLst>
              <a:gd name="adj" fmla="val 11538"/>
            </a:avLst>
          </a:prstGeom>
          <a:solidFill>
            <a:srgbClr val="2E3D35"/>
          </a:solidFill>
          <a:ln w="12700">
            <a:solidFill>
              <a:srgbClr val="3A4A41"/>
            </a:solidFill>
            <a:prstDash val="solid"/>
          </a:ln>
        </p:spPr>
      </p:sp>
      <p:sp>
        <p:nvSpPr>
          <p:cNvPr id="17" name="Shape 15"/>
          <p:cNvSpPr/>
          <p:nvPr/>
        </p:nvSpPr>
        <p:spPr>
          <a:xfrm>
            <a:off x="7232904" y="2752344"/>
            <a:ext cx="475488" cy="475488"/>
          </a:xfrm>
          <a:prstGeom prst="roundRect">
            <a:avLst>
              <a:gd name="adj" fmla="val 11538"/>
            </a:avLst>
          </a:prstGeom>
          <a:solidFill>
            <a:srgbClr val="2E3D35"/>
          </a:solidFill>
          <a:ln w="12700">
            <a:solidFill>
              <a:srgbClr val="3A4A41"/>
            </a:solidFill>
            <a:prstDash val="solid"/>
          </a:ln>
        </p:spPr>
      </p:sp>
      <p:sp>
        <p:nvSpPr>
          <p:cNvPr id="18" name="Shape 16"/>
          <p:cNvSpPr/>
          <p:nvPr/>
        </p:nvSpPr>
        <p:spPr>
          <a:xfrm>
            <a:off x="7836408" y="2752344"/>
            <a:ext cx="475488" cy="475488"/>
          </a:xfrm>
          <a:prstGeom prst="roundRect">
            <a:avLst>
              <a:gd name="adj" fmla="val 11538"/>
            </a:avLst>
          </a:prstGeom>
          <a:solidFill>
            <a:srgbClr val="2E3D35"/>
          </a:solidFill>
          <a:ln w="12700">
            <a:solidFill>
              <a:srgbClr val="3A4A41"/>
            </a:solidFill>
            <a:prstDash val="solid"/>
          </a:ln>
        </p:spPr>
      </p:sp>
      <p:sp>
        <p:nvSpPr>
          <p:cNvPr id="19" name="Shape 17"/>
          <p:cNvSpPr/>
          <p:nvPr/>
        </p:nvSpPr>
        <p:spPr>
          <a:xfrm>
            <a:off x="8439912" y="2752344"/>
            <a:ext cx="475488" cy="475488"/>
          </a:xfrm>
          <a:prstGeom prst="roundRect">
            <a:avLst>
              <a:gd name="adj" fmla="val 11538"/>
            </a:avLst>
          </a:prstGeom>
          <a:solidFill>
            <a:srgbClr val="2E3D35"/>
          </a:solidFill>
          <a:ln w="12700">
            <a:solidFill>
              <a:srgbClr val="3A4A41"/>
            </a:solidFill>
            <a:prstDash val="solid"/>
          </a:ln>
        </p:spPr>
      </p:sp>
      <p:sp>
        <p:nvSpPr>
          <p:cNvPr id="20" name="Shape 18"/>
          <p:cNvSpPr/>
          <p:nvPr/>
        </p:nvSpPr>
        <p:spPr>
          <a:xfrm>
            <a:off x="9043416" y="2752344"/>
            <a:ext cx="475488" cy="475488"/>
          </a:xfrm>
          <a:prstGeom prst="roundRect">
            <a:avLst>
              <a:gd name="adj" fmla="val 11538"/>
            </a:avLst>
          </a:prstGeom>
          <a:solidFill>
            <a:srgbClr val="C2603E"/>
          </a:solidFill>
          <a:ln w="12700">
            <a:solidFill>
              <a:srgbClr val="C2603E"/>
            </a:solidFill>
            <a:prstDash val="solid"/>
          </a:ln>
        </p:spPr>
      </p:sp>
      <p:sp>
        <p:nvSpPr>
          <p:cNvPr id="21" name="Shape 19"/>
          <p:cNvSpPr/>
          <p:nvPr/>
        </p:nvSpPr>
        <p:spPr>
          <a:xfrm>
            <a:off x="9646920" y="2752344"/>
            <a:ext cx="475488" cy="475488"/>
          </a:xfrm>
          <a:prstGeom prst="roundRect">
            <a:avLst>
              <a:gd name="adj" fmla="val 11538"/>
            </a:avLst>
          </a:prstGeom>
          <a:solidFill>
            <a:srgbClr val="2E3D35"/>
          </a:solidFill>
          <a:ln w="12700">
            <a:solidFill>
              <a:srgbClr val="3A4A41"/>
            </a:solidFill>
            <a:prstDash val="solid"/>
          </a:ln>
        </p:spPr>
      </p:sp>
      <p:sp>
        <p:nvSpPr>
          <p:cNvPr id="22" name="Shape 20"/>
          <p:cNvSpPr/>
          <p:nvPr/>
        </p:nvSpPr>
        <p:spPr>
          <a:xfrm>
            <a:off x="10250424" y="2752344"/>
            <a:ext cx="475488" cy="475488"/>
          </a:xfrm>
          <a:prstGeom prst="roundRect">
            <a:avLst>
              <a:gd name="adj" fmla="val 11538"/>
            </a:avLst>
          </a:prstGeom>
          <a:solidFill>
            <a:srgbClr val="2E3D35"/>
          </a:solidFill>
          <a:ln w="12700">
            <a:solidFill>
              <a:srgbClr val="3A4A41"/>
            </a:solidFill>
            <a:prstDash val="solid"/>
          </a:ln>
        </p:spPr>
      </p:sp>
      <p:sp>
        <p:nvSpPr>
          <p:cNvPr id="23" name="Shape 21"/>
          <p:cNvSpPr/>
          <p:nvPr/>
        </p:nvSpPr>
        <p:spPr>
          <a:xfrm>
            <a:off x="10853928" y="2752344"/>
            <a:ext cx="475488" cy="475488"/>
          </a:xfrm>
          <a:prstGeom prst="roundRect">
            <a:avLst>
              <a:gd name="adj" fmla="val 11538"/>
            </a:avLst>
          </a:prstGeom>
          <a:solidFill>
            <a:srgbClr val="2E3D35"/>
          </a:solidFill>
          <a:ln w="12700">
            <a:solidFill>
              <a:srgbClr val="3A4A41"/>
            </a:solidFill>
            <a:prstDash val="solid"/>
          </a:ln>
        </p:spPr>
      </p:sp>
      <p:sp>
        <p:nvSpPr>
          <p:cNvPr id="24" name="Shape 22"/>
          <p:cNvSpPr/>
          <p:nvPr/>
        </p:nvSpPr>
        <p:spPr>
          <a:xfrm>
            <a:off x="6629400" y="3355848"/>
            <a:ext cx="475488" cy="475488"/>
          </a:xfrm>
          <a:prstGeom prst="roundRect">
            <a:avLst>
              <a:gd name="adj" fmla="val 11538"/>
            </a:avLst>
          </a:prstGeom>
          <a:solidFill>
            <a:srgbClr val="2E3D35"/>
          </a:solidFill>
          <a:ln w="12700">
            <a:solidFill>
              <a:srgbClr val="3A4A41"/>
            </a:solidFill>
            <a:prstDash val="solid"/>
          </a:ln>
        </p:spPr>
      </p:sp>
      <p:sp>
        <p:nvSpPr>
          <p:cNvPr id="25" name="Shape 23"/>
          <p:cNvSpPr/>
          <p:nvPr/>
        </p:nvSpPr>
        <p:spPr>
          <a:xfrm>
            <a:off x="7232904" y="3355848"/>
            <a:ext cx="475488" cy="475488"/>
          </a:xfrm>
          <a:prstGeom prst="roundRect">
            <a:avLst>
              <a:gd name="adj" fmla="val 11538"/>
            </a:avLst>
          </a:prstGeom>
          <a:solidFill>
            <a:srgbClr val="2E3D35"/>
          </a:solidFill>
          <a:ln w="12700">
            <a:solidFill>
              <a:srgbClr val="3A4A41"/>
            </a:solidFill>
            <a:prstDash val="solid"/>
          </a:ln>
        </p:spPr>
      </p:sp>
      <p:sp>
        <p:nvSpPr>
          <p:cNvPr id="26" name="Shape 24"/>
          <p:cNvSpPr/>
          <p:nvPr/>
        </p:nvSpPr>
        <p:spPr>
          <a:xfrm>
            <a:off x="7836408" y="3355848"/>
            <a:ext cx="475488" cy="475488"/>
          </a:xfrm>
          <a:prstGeom prst="roundRect">
            <a:avLst>
              <a:gd name="adj" fmla="val 11538"/>
            </a:avLst>
          </a:prstGeom>
          <a:solidFill>
            <a:srgbClr val="2E3D35"/>
          </a:solidFill>
          <a:ln w="12700">
            <a:solidFill>
              <a:srgbClr val="3A4A41"/>
            </a:solidFill>
            <a:prstDash val="solid"/>
          </a:ln>
        </p:spPr>
      </p:sp>
      <p:sp>
        <p:nvSpPr>
          <p:cNvPr id="27" name="Shape 25"/>
          <p:cNvSpPr/>
          <p:nvPr/>
        </p:nvSpPr>
        <p:spPr>
          <a:xfrm>
            <a:off x="8439912" y="3355848"/>
            <a:ext cx="475488" cy="475488"/>
          </a:xfrm>
          <a:prstGeom prst="roundRect">
            <a:avLst>
              <a:gd name="adj" fmla="val 11538"/>
            </a:avLst>
          </a:prstGeom>
          <a:solidFill>
            <a:srgbClr val="2E3D35"/>
          </a:solidFill>
          <a:ln w="12700">
            <a:solidFill>
              <a:srgbClr val="3A4A41"/>
            </a:solidFill>
            <a:prstDash val="solid"/>
          </a:ln>
        </p:spPr>
      </p:sp>
      <p:sp>
        <p:nvSpPr>
          <p:cNvPr id="28" name="Shape 26"/>
          <p:cNvSpPr/>
          <p:nvPr/>
        </p:nvSpPr>
        <p:spPr>
          <a:xfrm>
            <a:off x="9043416" y="3355848"/>
            <a:ext cx="475488" cy="475488"/>
          </a:xfrm>
          <a:prstGeom prst="roundRect">
            <a:avLst>
              <a:gd name="adj" fmla="val 11538"/>
            </a:avLst>
          </a:prstGeom>
          <a:solidFill>
            <a:srgbClr val="2E3D35"/>
          </a:solidFill>
          <a:ln w="12700">
            <a:solidFill>
              <a:srgbClr val="3A4A41"/>
            </a:solidFill>
            <a:prstDash val="solid"/>
          </a:ln>
        </p:spPr>
      </p:sp>
      <p:sp>
        <p:nvSpPr>
          <p:cNvPr id="29" name="Shape 27"/>
          <p:cNvSpPr/>
          <p:nvPr/>
        </p:nvSpPr>
        <p:spPr>
          <a:xfrm>
            <a:off x="9646920" y="3355848"/>
            <a:ext cx="475488" cy="475488"/>
          </a:xfrm>
          <a:prstGeom prst="roundRect">
            <a:avLst>
              <a:gd name="adj" fmla="val 11538"/>
            </a:avLst>
          </a:prstGeom>
          <a:solidFill>
            <a:srgbClr val="2E3D35"/>
          </a:solidFill>
          <a:ln w="12700">
            <a:solidFill>
              <a:srgbClr val="3A4A41"/>
            </a:solidFill>
            <a:prstDash val="solid"/>
          </a:ln>
        </p:spPr>
      </p:sp>
      <p:sp>
        <p:nvSpPr>
          <p:cNvPr id="30" name="Shape 28"/>
          <p:cNvSpPr/>
          <p:nvPr/>
        </p:nvSpPr>
        <p:spPr>
          <a:xfrm>
            <a:off x="10250424" y="3355848"/>
            <a:ext cx="475488" cy="475488"/>
          </a:xfrm>
          <a:prstGeom prst="roundRect">
            <a:avLst>
              <a:gd name="adj" fmla="val 11538"/>
            </a:avLst>
          </a:prstGeom>
          <a:solidFill>
            <a:srgbClr val="2E3D35"/>
          </a:solidFill>
          <a:ln w="12700">
            <a:solidFill>
              <a:srgbClr val="3A4A41"/>
            </a:solidFill>
            <a:prstDash val="solid"/>
          </a:ln>
        </p:spPr>
      </p:sp>
      <p:sp>
        <p:nvSpPr>
          <p:cNvPr id="31" name="Shape 29"/>
          <p:cNvSpPr/>
          <p:nvPr/>
        </p:nvSpPr>
        <p:spPr>
          <a:xfrm>
            <a:off x="10853928" y="3355848"/>
            <a:ext cx="475488" cy="475488"/>
          </a:xfrm>
          <a:prstGeom prst="roundRect">
            <a:avLst>
              <a:gd name="adj" fmla="val 11538"/>
            </a:avLst>
          </a:prstGeom>
          <a:solidFill>
            <a:srgbClr val="2E3D35"/>
          </a:solidFill>
          <a:ln w="12700">
            <a:solidFill>
              <a:srgbClr val="3A4A41"/>
            </a:solidFill>
            <a:prstDash val="solid"/>
          </a:ln>
        </p:spPr>
      </p:sp>
      <p:sp>
        <p:nvSpPr>
          <p:cNvPr id="32" name="Shape 30"/>
          <p:cNvSpPr/>
          <p:nvPr/>
        </p:nvSpPr>
        <p:spPr>
          <a:xfrm>
            <a:off x="6629400" y="3959352"/>
            <a:ext cx="475488" cy="475488"/>
          </a:xfrm>
          <a:prstGeom prst="roundRect">
            <a:avLst>
              <a:gd name="adj" fmla="val 11538"/>
            </a:avLst>
          </a:prstGeom>
          <a:solidFill>
            <a:srgbClr val="2E3D35"/>
          </a:solidFill>
          <a:ln w="12700">
            <a:solidFill>
              <a:srgbClr val="3A4A41"/>
            </a:solidFill>
            <a:prstDash val="solid"/>
          </a:ln>
        </p:spPr>
      </p:sp>
      <p:sp>
        <p:nvSpPr>
          <p:cNvPr id="33" name="Shape 31"/>
          <p:cNvSpPr/>
          <p:nvPr/>
        </p:nvSpPr>
        <p:spPr>
          <a:xfrm>
            <a:off x="7232904" y="3959352"/>
            <a:ext cx="475488" cy="475488"/>
          </a:xfrm>
          <a:prstGeom prst="roundRect">
            <a:avLst>
              <a:gd name="adj" fmla="val 11538"/>
            </a:avLst>
          </a:prstGeom>
          <a:solidFill>
            <a:srgbClr val="2E3D35"/>
          </a:solidFill>
          <a:ln w="12700">
            <a:solidFill>
              <a:srgbClr val="3A4A41"/>
            </a:solidFill>
            <a:prstDash val="solid"/>
          </a:ln>
        </p:spPr>
      </p:sp>
      <p:sp>
        <p:nvSpPr>
          <p:cNvPr id="34" name="Shape 32"/>
          <p:cNvSpPr/>
          <p:nvPr/>
        </p:nvSpPr>
        <p:spPr>
          <a:xfrm>
            <a:off x="7836408" y="3959352"/>
            <a:ext cx="475488" cy="475488"/>
          </a:xfrm>
          <a:prstGeom prst="roundRect">
            <a:avLst>
              <a:gd name="adj" fmla="val 11538"/>
            </a:avLst>
          </a:prstGeom>
          <a:solidFill>
            <a:srgbClr val="2E3D35"/>
          </a:solidFill>
          <a:ln w="12700">
            <a:solidFill>
              <a:srgbClr val="3A4A41"/>
            </a:solidFill>
            <a:prstDash val="solid"/>
          </a:ln>
        </p:spPr>
      </p:sp>
      <p:sp>
        <p:nvSpPr>
          <p:cNvPr id="35" name="Shape 33"/>
          <p:cNvSpPr/>
          <p:nvPr/>
        </p:nvSpPr>
        <p:spPr>
          <a:xfrm>
            <a:off x="8439912" y="3959352"/>
            <a:ext cx="475488" cy="475488"/>
          </a:xfrm>
          <a:prstGeom prst="roundRect">
            <a:avLst>
              <a:gd name="adj" fmla="val 11538"/>
            </a:avLst>
          </a:prstGeom>
          <a:solidFill>
            <a:srgbClr val="2E3D35"/>
          </a:solidFill>
          <a:ln w="12700">
            <a:solidFill>
              <a:srgbClr val="3A4A41"/>
            </a:solidFill>
            <a:prstDash val="solid"/>
          </a:ln>
        </p:spPr>
      </p:sp>
      <p:sp>
        <p:nvSpPr>
          <p:cNvPr id="36" name="Shape 34"/>
          <p:cNvSpPr/>
          <p:nvPr/>
        </p:nvSpPr>
        <p:spPr>
          <a:xfrm>
            <a:off x="9043416" y="3959352"/>
            <a:ext cx="475488" cy="475488"/>
          </a:xfrm>
          <a:prstGeom prst="roundRect">
            <a:avLst>
              <a:gd name="adj" fmla="val 11538"/>
            </a:avLst>
          </a:prstGeom>
          <a:solidFill>
            <a:srgbClr val="2E3D35"/>
          </a:solidFill>
          <a:ln w="12700">
            <a:solidFill>
              <a:srgbClr val="3A4A41"/>
            </a:solidFill>
            <a:prstDash val="solid"/>
          </a:ln>
        </p:spPr>
      </p:sp>
      <p:sp>
        <p:nvSpPr>
          <p:cNvPr id="37" name="Shape 35"/>
          <p:cNvSpPr/>
          <p:nvPr/>
        </p:nvSpPr>
        <p:spPr>
          <a:xfrm>
            <a:off x="9646920" y="3959352"/>
            <a:ext cx="475488" cy="475488"/>
          </a:xfrm>
          <a:prstGeom prst="roundRect">
            <a:avLst>
              <a:gd name="adj" fmla="val 11538"/>
            </a:avLst>
          </a:prstGeom>
          <a:solidFill>
            <a:srgbClr val="2E3D35"/>
          </a:solidFill>
          <a:ln w="12700">
            <a:solidFill>
              <a:srgbClr val="3A4A41"/>
            </a:solidFill>
            <a:prstDash val="solid"/>
          </a:ln>
        </p:spPr>
      </p:sp>
      <p:sp>
        <p:nvSpPr>
          <p:cNvPr id="38" name="Shape 36"/>
          <p:cNvSpPr/>
          <p:nvPr/>
        </p:nvSpPr>
        <p:spPr>
          <a:xfrm>
            <a:off x="10250424" y="3959352"/>
            <a:ext cx="475488" cy="475488"/>
          </a:xfrm>
          <a:prstGeom prst="roundRect">
            <a:avLst>
              <a:gd name="adj" fmla="val 11538"/>
            </a:avLst>
          </a:prstGeom>
          <a:solidFill>
            <a:srgbClr val="2E3D35"/>
          </a:solidFill>
          <a:ln w="12700">
            <a:solidFill>
              <a:srgbClr val="3A4A41"/>
            </a:solidFill>
            <a:prstDash val="solid"/>
          </a:ln>
        </p:spPr>
      </p:sp>
      <p:sp>
        <p:nvSpPr>
          <p:cNvPr id="39" name="Text 37"/>
          <p:cNvSpPr txBox="1"/>
          <p:nvPr/>
        </p:nvSpPr>
        <p:spPr>
          <a:xfrm>
            <a:off x="6629400" y="4791456"/>
            <a:ext cx="4754880" cy="365760"/>
          </a:xfrm>
          <a:prstGeom prst="rect">
            <a:avLst/>
          </a:prstGeom>
          <a:noFill/>
          <a:ln/>
        </p:spPr>
        <p:txBody>
          <a:bodyPr wrap="square" lIns="0" tIns="0" rIns="0" bIns="0" rtlCol="0" anchor="ctr"/>
          <a:lstStyle/>
          <a:p>
            <a:pPr indent="0" marL="0">
              <a:buNone/>
            </a:pPr>
            <a:r>
              <a:rPr lang="en-US" sz="1400" i="1" dirty="0">
                <a:solidFill>
                  <a:srgbClr val="E8E4D9"/>
                </a:solidFill>
                <a:latin typeface="Calibri" pitchFamily="34" charset="0"/>
                <a:ea typeface="Calibri" pitchFamily="34" charset="-122"/>
                <a:cs typeface="Calibri" pitchFamily="34" charset="-120"/>
              </a:rPr>
              <a:t>Every classroom of thirty has one.</a:t>
            </a:r>
            <a:endParaRPr lang="en-US" sz="1400" dirty="0"/>
          </a:p>
        </p:txBody>
      </p:sp>
      <p:sp>
        <p:nvSpPr>
          <p:cNvPr id="40" name="Text 38"/>
          <p:cNvSpPr txBox="1"/>
          <p:nvPr/>
        </p:nvSpPr>
        <p:spPr>
          <a:xfrm>
            <a:off x="685800" y="6355080"/>
            <a:ext cx="10789920" cy="320040"/>
          </a:xfrm>
          <a:prstGeom prst="rect">
            <a:avLst/>
          </a:prstGeom>
          <a:noFill/>
          <a:ln/>
        </p:spPr>
        <p:txBody>
          <a:bodyPr wrap="square" lIns="0" tIns="0" rIns="0" bIns="0" rtlCol="0" anchor="ctr"/>
          <a:lstStyle/>
          <a:p>
            <a:pPr indent="0" marL="0">
              <a:buNone/>
            </a:pPr>
            <a:r>
              <a:rPr lang="en-US" sz="950" i="1" dirty="0">
                <a:solidFill>
                  <a:srgbClr val="7C857E"/>
                </a:solidFill>
                <a:latin typeface="Calibri" pitchFamily="34" charset="0"/>
                <a:ea typeface="Calibri" pitchFamily="34" charset="-122"/>
                <a:cs typeface="Calibri" pitchFamily="34" charset="-120"/>
              </a:rPr>
              <a:t>Sources: CDC ADDM Network, MMWR Surveillance Summaries, April 2025 (2022 surveillance year); Global Burden of Disease Study 2021, The Lancet Psychiatry, 2024.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789920" cy="256032"/>
          </a:xfrm>
          <a:prstGeom prst="rect">
            <a:avLst/>
          </a:prstGeom>
          <a:noFill/>
          <a:ln/>
        </p:spPr>
        <p:txBody>
          <a:bodyPr wrap="square" lIns="0" tIns="0" rIns="0" bIns="0" rtlCol="0" anchor="ctr"/>
          <a:lstStyle/>
          <a:p>
            <a:pPr indent="0" marL="0">
              <a:buNone/>
            </a:pPr>
            <a:r>
              <a:rPr lang="en-US" sz="1100" b="1" spc="200" kern="0" dirty="0">
                <a:solidFill>
                  <a:srgbClr val="2F7D4F"/>
                </a:solidFill>
                <a:latin typeface="Calibri" pitchFamily="34" charset="0"/>
                <a:ea typeface="Calibri" pitchFamily="34" charset="-122"/>
                <a:cs typeface="Calibri" pitchFamily="34" charset="-120"/>
              </a:rPr>
              <a:t>THE IMPACT</a:t>
            </a:r>
            <a:endParaRPr lang="en-US" sz="1100" dirty="0"/>
          </a:p>
        </p:txBody>
      </p:sp>
      <p:sp>
        <p:nvSpPr>
          <p:cNvPr id="3" name="Text 1"/>
          <p:cNvSpPr txBox="1"/>
          <p:nvPr/>
        </p:nvSpPr>
        <p:spPr>
          <a:xfrm>
            <a:off x="685800" y="713232"/>
            <a:ext cx="10789920" cy="1051560"/>
          </a:xfrm>
          <a:prstGeom prst="rect">
            <a:avLst/>
          </a:prstGeom>
          <a:noFill/>
          <a:ln/>
        </p:spPr>
        <p:txBody>
          <a:bodyPr wrap="square" lIns="0" tIns="0" rIns="0" bIns="0" rtlCol="0" anchor="t"/>
          <a:lstStyle/>
          <a:p>
            <a:pPr indent="0" marL="0">
              <a:buNone/>
            </a:pPr>
            <a:r>
              <a:rPr lang="en-US" sz="3400" b="1" dirty="0">
                <a:solidFill>
                  <a:srgbClr val="24312A"/>
                </a:solidFill>
                <a:latin typeface="Cambria" pitchFamily="34" charset="0"/>
                <a:ea typeface="Cambria" pitchFamily="34" charset="-122"/>
                <a:cs typeface="Cambria" pitchFamily="34" charset="-120"/>
              </a:rPr>
              <a:t>What the unknown costs a family</a:t>
            </a:r>
            <a:endParaRPr lang="en-US" sz="3400" dirty="0"/>
          </a:p>
        </p:txBody>
      </p:sp>
      <p:sp>
        <p:nvSpPr>
          <p:cNvPr id="4" name="Shape 2"/>
          <p:cNvSpPr/>
          <p:nvPr/>
        </p:nvSpPr>
        <p:spPr>
          <a:xfrm>
            <a:off x="685800" y="1965960"/>
            <a:ext cx="3410712" cy="2286000"/>
          </a:xfrm>
          <a:prstGeom prst="roundRect">
            <a:avLst>
              <a:gd name="adj" fmla="val 4800"/>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5" name="Text 3"/>
          <p:cNvSpPr txBox="1"/>
          <p:nvPr/>
        </p:nvSpPr>
        <p:spPr>
          <a:xfrm>
            <a:off x="1005840" y="2194560"/>
            <a:ext cx="2834640" cy="685800"/>
          </a:xfrm>
          <a:prstGeom prst="rect">
            <a:avLst/>
          </a:prstGeom>
          <a:noFill/>
          <a:ln/>
        </p:spPr>
        <p:txBody>
          <a:bodyPr wrap="square" lIns="0" tIns="0" rIns="0" bIns="0" rtlCol="0" anchor="ctr"/>
          <a:lstStyle/>
          <a:p>
            <a:pPr indent="0" marL="0">
              <a:buNone/>
            </a:pPr>
            <a:r>
              <a:rPr lang="en-US" sz="3600" b="1" dirty="0">
                <a:solidFill>
                  <a:srgbClr val="C2603E"/>
                </a:solidFill>
                <a:latin typeface="Cambria" pitchFamily="34" charset="0"/>
                <a:ea typeface="Cambria" pitchFamily="34" charset="-122"/>
                <a:cs typeface="Cambria" pitchFamily="34" charset="-120"/>
              </a:rPr>
              <a:t>15.1%</a:t>
            </a:r>
            <a:endParaRPr lang="en-US" sz="3600" dirty="0"/>
          </a:p>
        </p:txBody>
      </p:sp>
      <p:sp>
        <p:nvSpPr>
          <p:cNvPr id="6" name="Text 4"/>
          <p:cNvSpPr txBox="1"/>
          <p:nvPr/>
        </p:nvSpPr>
        <p:spPr>
          <a:xfrm>
            <a:off x="1005840" y="2926080"/>
            <a:ext cx="2788920" cy="1143000"/>
          </a:xfrm>
          <a:prstGeom prst="rect">
            <a:avLst/>
          </a:prstGeom>
          <a:noFill/>
          <a:ln/>
        </p:spPr>
        <p:txBody>
          <a:bodyPr wrap="square" lIns="0" tIns="0" rIns="0" bIns="0" rtlCol="0" anchor="ctr"/>
          <a:lstStyle/>
          <a:p>
            <a:pPr indent="0" marL="0">
              <a:lnSpc>
                <a:spcPts val="1900"/>
              </a:lnSpc>
              <a:buNone/>
            </a:pPr>
            <a:r>
              <a:rPr lang="en-US" sz="1250" dirty="0">
                <a:solidFill>
                  <a:srgbClr val="6E6A61"/>
                </a:solidFill>
                <a:latin typeface="Calibri" pitchFamily="34" charset="0"/>
                <a:ea typeface="Calibri" pitchFamily="34" charset="-122"/>
                <a:cs typeface="Calibri" pitchFamily="34" charset="-120"/>
              </a:rPr>
              <a:t>of US children with autism had an unmet dental need in a national survey of children with special health care needs.</a:t>
            </a:r>
            <a:endParaRPr lang="en-US" sz="1250" dirty="0"/>
          </a:p>
        </p:txBody>
      </p:sp>
      <p:sp>
        <p:nvSpPr>
          <p:cNvPr id="7" name="Shape 5"/>
          <p:cNvSpPr/>
          <p:nvPr/>
        </p:nvSpPr>
        <p:spPr>
          <a:xfrm>
            <a:off x="4370832" y="1965960"/>
            <a:ext cx="3410712" cy="2286000"/>
          </a:xfrm>
          <a:prstGeom prst="roundRect">
            <a:avLst>
              <a:gd name="adj" fmla="val 4800"/>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8" name="Text 6"/>
          <p:cNvSpPr txBox="1"/>
          <p:nvPr/>
        </p:nvSpPr>
        <p:spPr>
          <a:xfrm>
            <a:off x="4690872" y="2194560"/>
            <a:ext cx="2834640" cy="685800"/>
          </a:xfrm>
          <a:prstGeom prst="rect">
            <a:avLst/>
          </a:prstGeom>
          <a:noFill/>
          <a:ln/>
        </p:spPr>
        <p:txBody>
          <a:bodyPr wrap="square" lIns="0" tIns="0" rIns="0" bIns="0" rtlCol="0" anchor="ctr"/>
          <a:lstStyle/>
          <a:p>
            <a:pPr indent="0" marL="0">
              <a:buNone/>
            </a:pPr>
            <a:r>
              <a:rPr lang="en-US" sz="3600" b="1" dirty="0">
                <a:solidFill>
                  <a:srgbClr val="2F7D4F"/>
                </a:solidFill>
                <a:latin typeface="Cambria" pitchFamily="34" charset="0"/>
                <a:ea typeface="Cambria" pitchFamily="34" charset="-122"/>
                <a:cs typeface="Cambria" pitchFamily="34" charset="-120"/>
              </a:rPr>
              <a:t>Behaviour</a:t>
            </a:r>
            <a:endParaRPr lang="en-US" sz="3600" dirty="0"/>
          </a:p>
        </p:txBody>
      </p:sp>
      <p:sp>
        <p:nvSpPr>
          <p:cNvPr id="9" name="Text 7"/>
          <p:cNvSpPr txBox="1"/>
          <p:nvPr/>
        </p:nvSpPr>
        <p:spPr>
          <a:xfrm>
            <a:off x="4690872" y="2926080"/>
            <a:ext cx="2788920" cy="1143000"/>
          </a:xfrm>
          <a:prstGeom prst="rect">
            <a:avLst/>
          </a:prstGeom>
          <a:noFill/>
          <a:ln/>
        </p:spPr>
        <p:txBody>
          <a:bodyPr wrap="square" lIns="0" tIns="0" rIns="0" bIns="0" rtlCol="0" anchor="ctr"/>
          <a:lstStyle/>
          <a:p>
            <a:pPr indent="0" marL="0">
              <a:lnSpc>
                <a:spcPts val="1900"/>
              </a:lnSpc>
              <a:buNone/>
            </a:pPr>
            <a:r>
              <a:rPr lang="en-US" sz="1250" dirty="0">
                <a:solidFill>
                  <a:srgbClr val="6E6A61"/>
                </a:solidFill>
                <a:latin typeface="Calibri" pitchFamily="34" charset="0"/>
                <a:ea typeface="Calibri" pitchFamily="34" charset="-122"/>
                <a:cs typeface="Calibri" pitchFamily="34" charset="-120"/>
              </a:rPr>
              <a:t>— how the visit itself goes — is among the strongest predictors of that unmet need. The care exists; the appointment is what fails.</a:t>
            </a:r>
            <a:endParaRPr lang="en-US" sz="1250" dirty="0"/>
          </a:p>
        </p:txBody>
      </p:sp>
      <p:sp>
        <p:nvSpPr>
          <p:cNvPr id="10" name="Shape 8"/>
          <p:cNvSpPr/>
          <p:nvPr/>
        </p:nvSpPr>
        <p:spPr>
          <a:xfrm>
            <a:off x="8055864" y="1965960"/>
            <a:ext cx="3410712" cy="2286000"/>
          </a:xfrm>
          <a:prstGeom prst="roundRect">
            <a:avLst>
              <a:gd name="adj" fmla="val 4800"/>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11" name="Text 9"/>
          <p:cNvSpPr txBox="1"/>
          <p:nvPr/>
        </p:nvSpPr>
        <p:spPr>
          <a:xfrm>
            <a:off x="8375904" y="2194560"/>
            <a:ext cx="2834640" cy="685800"/>
          </a:xfrm>
          <a:prstGeom prst="rect">
            <a:avLst/>
          </a:prstGeom>
          <a:noFill/>
          <a:ln/>
        </p:spPr>
        <p:txBody>
          <a:bodyPr wrap="square" lIns="0" tIns="0" rIns="0" bIns="0" rtlCol="0" anchor="ctr"/>
          <a:lstStyle/>
          <a:p>
            <a:pPr indent="0" marL="0">
              <a:buNone/>
            </a:pPr>
            <a:r>
              <a:rPr lang="en-US" sz="3600" b="1" dirty="0">
                <a:solidFill>
                  <a:srgbClr val="215B39"/>
                </a:solidFill>
                <a:latin typeface="Cambria" pitchFamily="34" charset="0"/>
                <a:ea typeface="Cambria" pitchFamily="34" charset="-122"/>
                <a:cs typeface="Cambria" pitchFamily="34" charset="-120"/>
              </a:rPr>
              <a:t>Every time</a:t>
            </a:r>
            <a:endParaRPr lang="en-US" sz="3600" dirty="0"/>
          </a:p>
        </p:txBody>
      </p:sp>
      <p:sp>
        <p:nvSpPr>
          <p:cNvPr id="12" name="Text 10"/>
          <p:cNvSpPr txBox="1"/>
          <p:nvPr/>
        </p:nvSpPr>
        <p:spPr>
          <a:xfrm>
            <a:off x="8375904" y="2926080"/>
            <a:ext cx="2788920" cy="1143000"/>
          </a:xfrm>
          <a:prstGeom prst="rect">
            <a:avLst/>
          </a:prstGeom>
          <a:noFill/>
          <a:ln/>
        </p:spPr>
        <p:txBody>
          <a:bodyPr wrap="square" lIns="0" tIns="0" rIns="0" bIns="0" rtlCol="0" anchor="ctr"/>
          <a:lstStyle/>
          <a:p>
            <a:pPr indent="0" marL="0">
              <a:lnSpc>
                <a:spcPts val="1900"/>
              </a:lnSpc>
              <a:buNone/>
            </a:pPr>
            <a:r>
              <a:rPr lang="en-US" sz="1250" dirty="0">
                <a:solidFill>
                  <a:srgbClr val="6E6A61"/>
                </a:solidFill>
                <a:latin typeface="Calibri" pitchFamily="34" charset="0"/>
                <a:ea typeface="Calibri" pitchFamily="34" charset="-122"/>
                <a:cs typeface="Calibri" pitchFamily="34" charset="-120"/>
              </a:rPr>
              <a:t>an event goes badly, the memory of that place becomes the starting point for the next visit.</a:t>
            </a:r>
            <a:endParaRPr lang="en-US" sz="1250" dirty="0"/>
          </a:p>
        </p:txBody>
      </p:sp>
      <p:sp>
        <p:nvSpPr>
          <p:cNvPr id="13" name="Text 11"/>
          <p:cNvSpPr txBox="1"/>
          <p:nvPr/>
        </p:nvSpPr>
        <p:spPr>
          <a:xfrm>
            <a:off x="685800" y="4617720"/>
            <a:ext cx="10817352" cy="1280160"/>
          </a:xfrm>
          <a:prstGeom prst="rect">
            <a:avLst/>
          </a:prstGeom>
          <a:noFill/>
          <a:ln/>
        </p:spPr>
        <p:txBody>
          <a:bodyPr wrap="square" lIns="0" tIns="0" rIns="0" bIns="0" rtlCol="0" anchor="ctr"/>
          <a:lstStyle/>
          <a:p>
            <a:pPr indent="0" marL="0">
              <a:lnSpc>
                <a:spcPts val="2600"/>
              </a:lnSpc>
              <a:buNone/>
            </a:pPr>
            <a:r>
              <a:rPr lang="en-US" sz="1500" dirty="0">
                <a:solidFill>
                  <a:srgbClr val="24312A"/>
                </a:solidFill>
                <a:latin typeface="Calibri" pitchFamily="34" charset="0"/>
                <a:ea typeface="Calibri" pitchFamily="34" charset="-122"/>
                <a:cs typeface="Calibri" pitchFamily="34" charset="-120"/>
              </a:rPr>
              <a:t>The child is not the only one carrying it. Parents describe rehearsing appointments for weeks, taking time off work for visits that end in the car park, and choosing to skip the haircut, the check-up, the birthday party — because the cost of a bad one is too high.</a:t>
            </a:r>
            <a:endParaRPr lang="en-US" sz="1500" dirty="0"/>
          </a:p>
        </p:txBody>
      </p:sp>
      <p:sp>
        <p:nvSpPr>
          <p:cNvPr id="14" name="Text 12"/>
          <p:cNvSpPr txBox="1"/>
          <p:nvPr/>
        </p:nvSpPr>
        <p:spPr>
          <a:xfrm>
            <a:off x="685800" y="6327648"/>
            <a:ext cx="10789920" cy="274320"/>
          </a:xfrm>
          <a:prstGeom prst="rect">
            <a:avLst/>
          </a:prstGeom>
          <a:noFill/>
          <a:ln/>
        </p:spPr>
        <p:txBody>
          <a:bodyPr wrap="square" lIns="0" tIns="0" rIns="0" bIns="0" rtlCol="0" anchor="ctr"/>
          <a:lstStyle/>
          <a:p>
            <a:pPr indent="0" marL="0">
              <a:buNone/>
            </a:pPr>
            <a:r>
              <a:rPr lang="en-US" sz="950" i="1" dirty="0">
                <a:solidFill>
                  <a:srgbClr val="6E6A61"/>
                </a:solidFill>
                <a:latin typeface="Calibri" pitchFamily="34" charset="0"/>
                <a:ea typeface="Calibri" pitchFamily="34" charset="-122"/>
                <a:cs typeface="Calibri" pitchFamily="34" charset="-120"/>
              </a:rPr>
              <a:t>Predictors of unmet dental need in children with autism spectrum disorder: results from a national sample. Academic Pediatrics, 2014.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789920" cy="256032"/>
          </a:xfrm>
          <a:prstGeom prst="rect">
            <a:avLst/>
          </a:prstGeom>
          <a:noFill/>
          <a:ln/>
        </p:spPr>
        <p:txBody>
          <a:bodyPr wrap="square" lIns="0" tIns="0" rIns="0" bIns="0" rtlCol="0" anchor="ctr"/>
          <a:lstStyle/>
          <a:p>
            <a:pPr indent="0" marL="0">
              <a:buNone/>
            </a:pPr>
            <a:r>
              <a:rPr lang="en-US" sz="1100" b="1" spc="200" kern="0" dirty="0">
                <a:solidFill>
                  <a:srgbClr val="2F7D4F"/>
                </a:solidFill>
                <a:latin typeface="Calibri" pitchFamily="34" charset="0"/>
                <a:ea typeface="Calibri" pitchFamily="34" charset="-122"/>
                <a:cs typeface="Calibri" pitchFamily="34" charset="-120"/>
              </a:rPr>
              <a:t>TODAY</a:t>
            </a:r>
            <a:endParaRPr lang="en-US" sz="1100" dirty="0"/>
          </a:p>
        </p:txBody>
      </p:sp>
      <p:sp>
        <p:nvSpPr>
          <p:cNvPr id="3" name="Text 1"/>
          <p:cNvSpPr txBox="1"/>
          <p:nvPr/>
        </p:nvSpPr>
        <p:spPr>
          <a:xfrm>
            <a:off x="685800" y="713232"/>
            <a:ext cx="10789920" cy="1051560"/>
          </a:xfrm>
          <a:prstGeom prst="rect">
            <a:avLst/>
          </a:prstGeom>
          <a:noFill/>
          <a:ln/>
        </p:spPr>
        <p:txBody>
          <a:bodyPr wrap="square" lIns="0" tIns="0" rIns="0" bIns="0" rtlCol="0" anchor="t"/>
          <a:lstStyle/>
          <a:p>
            <a:pPr indent="0" marL="0">
              <a:buNone/>
            </a:pPr>
            <a:r>
              <a:rPr lang="en-US" sz="3400" b="1" dirty="0">
                <a:solidFill>
                  <a:srgbClr val="24312A"/>
                </a:solidFill>
                <a:latin typeface="Cambria" pitchFamily="34" charset="0"/>
                <a:ea typeface="Cambria" pitchFamily="34" charset="-122"/>
                <a:cs typeface="Cambria" pitchFamily="34" charset="-120"/>
              </a:rPr>
              <a:t>Families already have the answer</a:t>
            </a:r>
            <a:endParaRPr lang="en-US" sz="3400" dirty="0"/>
          </a:p>
        </p:txBody>
      </p:sp>
      <p:sp>
        <p:nvSpPr>
          <p:cNvPr id="4" name="Shape 2"/>
          <p:cNvSpPr/>
          <p:nvPr/>
        </p:nvSpPr>
        <p:spPr>
          <a:xfrm>
            <a:off x="685800" y="1874520"/>
            <a:ext cx="5257800" cy="3794760"/>
          </a:xfrm>
          <a:prstGeom prst="roundRect">
            <a:avLst>
              <a:gd name="adj" fmla="val 2892"/>
            </a:avLst>
          </a:prstGeom>
          <a:solidFill>
            <a:srgbClr val="EAF1EB"/>
          </a:solidFill>
          <a:ln w="12700">
            <a:solidFill>
              <a:srgbClr val="EAF1EB"/>
            </a:solidFill>
            <a:prstDash val="solid"/>
          </a:ln>
          <a:effectLst>
            <a:outerShdw sx="100000" sy="100000" kx="0" ky="0" algn="bl" rotWithShape="0" blurRad="127000" dist="25400" dir="5400000">
              <a:srgbClr val="8A8578">
                <a:alpha val="18000"/>
              </a:srgbClr>
            </a:outerShdw>
          </a:effectLst>
        </p:spPr>
      </p:sp>
      <p:sp>
        <p:nvSpPr>
          <p:cNvPr id="5" name="Text 3"/>
          <p:cNvSpPr txBox="1"/>
          <p:nvPr/>
        </p:nvSpPr>
        <p:spPr>
          <a:xfrm>
            <a:off x="1097280" y="2148840"/>
            <a:ext cx="4480560" cy="411480"/>
          </a:xfrm>
          <a:prstGeom prst="rect">
            <a:avLst/>
          </a:prstGeom>
          <a:noFill/>
          <a:ln/>
        </p:spPr>
        <p:txBody>
          <a:bodyPr wrap="square" lIns="0" tIns="0" rIns="0" bIns="0" rtlCol="0" anchor="ctr"/>
          <a:lstStyle/>
          <a:p>
            <a:pPr indent="0" marL="0">
              <a:buNone/>
            </a:pPr>
            <a:r>
              <a:rPr lang="en-US" sz="2200" b="1" dirty="0">
                <a:solidFill>
                  <a:srgbClr val="215B39"/>
                </a:solidFill>
                <a:latin typeface="Cambria" pitchFamily="34" charset="0"/>
                <a:ea typeface="Cambria" pitchFamily="34" charset="-122"/>
                <a:cs typeface="Cambria" pitchFamily="34" charset="-120"/>
              </a:rPr>
              <a:t>The social story</a:t>
            </a:r>
            <a:endParaRPr lang="en-US" sz="2200" dirty="0"/>
          </a:p>
        </p:txBody>
      </p:sp>
      <p:sp>
        <p:nvSpPr>
          <p:cNvPr id="6" name="Text 4"/>
          <p:cNvSpPr txBox="1"/>
          <p:nvPr/>
        </p:nvSpPr>
        <p:spPr>
          <a:xfrm>
            <a:off x="1097280" y="2651760"/>
            <a:ext cx="4480560" cy="1234440"/>
          </a:xfrm>
          <a:prstGeom prst="rect">
            <a:avLst/>
          </a:prstGeom>
          <a:noFill/>
          <a:ln/>
        </p:spPr>
        <p:txBody>
          <a:bodyPr wrap="square" lIns="0" tIns="0" rIns="0" bIns="0" rtlCol="0" anchor="ctr"/>
          <a:lstStyle/>
          <a:p>
            <a:pPr indent="0" marL="0">
              <a:lnSpc>
                <a:spcPts val="2100"/>
              </a:lnSpc>
              <a:buNone/>
            </a:pPr>
            <a:r>
              <a:rPr lang="en-US" sz="1350" dirty="0">
                <a:solidFill>
                  <a:srgbClr val="24312A"/>
                </a:solidFill>
                <a:latin typeface="Calibri" pitchFamily="34" charset="0"/>
                <a:ea typeface="Calibri" pitchFamily="34" charset="-122"/>
                <a:cs typeface="Calibri" pitchFamily="34" charset="-120"/>
              </a:rPr>
              <a:t>A short, first-person, literal account of an event, read to the child before it happens: what will happen, in what order, what they can do. Used for decades by parents, teachers and clinicians.</a:t>
            </a:r>
            <a:endParaRPr lang="en-US" sz="1350" dirty="0"/>
          </a:p>
        </p:txBody>
      </p:sp>
      <p:sp>
        <p:nvSpPr>
          <p:cNvPr id="7" name="Text 5"/>
          <p:cNvSpPr txBox="1"/>
          <p:nvPr/>
        </p:nvSpPr>
        <p:spPr>
          <a:xfrm>
            <a:off x="1097280" y="4023360"/>
            <a:ext cx="4480560" cy="1280160"/>
          </a:xfrm>
          <a:prstGeom prst="rect">
            <a:avLst/>
          </a:prstGeom>
          <a:noFill/>
          <a:ln/>
        </p:spPr>
        <p:txBody>
          <a:bodyPr wrap="square" lIns="0" tIns="0" rIns="0" bIns="0" rtlCol="0" anchor="ctr"/>
          <a:lstStyle/>
          <a:p>
            <a:pPr indent="0" marL="0">
              <a:lnSpc>
                <a:spcPts val="2100"/>
              </a:lnSpc>
              <a:buNone/>
            </a:pPr>
            <a:r>
              <a:rPr lang="en-US" sz="1300" i="1" dirty="0">
                <a:solidFill>
                  <a:srgbClr val="215B39"/>
                </a:solidFill>
                <a:latin typeface="Calibri" pitchFamily="34" charset="0"/>
                <a:ea typeface="Calibri" pitchFamily="34" charset="-122"/>
                <a:cs typeface="Calibri" pitchFamily="34" charset="-120"/>
              </a:rPr>
              <a:t>Meta-analyses find a moderate overall effect, strongest for school-aged children — and digital versions do at least as well as paper.</a:t>
            </a:r>
            <a:endParaRPr lang="en-US" sz="1300" dirty="0"/>
          </a:p>
        </p:txBody>
      </p:sp>
      <p:sp>
        <p:nvSpPr>
          <p:cNvPr id="8" name="Text 6"/>
          <p:cNvSpPr txBox="1"/>
          <p:nvPr/>
        </p:nvSpPr>
        <p:spPr>
          <a:xfrm>
            <a:off x="6492240" y="1965960"/>
            <a:ext cx="5029200" cy="411480"/>
          </a:xfrm>
          <a:prstGeom prst="rect">
            <a:avLst/>
          </a:prstGeom>
          <a:noFill/>
          <a:ln/>
        </p:spPr>
        <p:txBody>
          <a:bodyPr wrap="square" lIns="0" tIns="0" rIns="0" bIns="0" rtlCol="0" anchor="ctr"/>
          <a:lstStyle/>
          <a:p>
            <a:pPr indent="0" marL="0">
              <a:buNone/>
            </a:pPr>
            <a:r>
              <a:rPr lang="en-US" sz="2200" b="1" dirty="0">
                <a:solidFill>
                  <a:srgbClr val="24312A"/>
                </a:solidFill>
                <a:latin typeface="Cambria" pitchFamily="34" charset="0"/>
                <a:ea typeface="Cambria" pitchFamily="34" charset="-122"/>
                <a:cs typeface="Cambria" pitchFamily="34" charset="-120"/>
              </a:rPr>
              <a:t>Why it does not scale</a:t>
            </a:r>
            <a:endParaRPr lang="en-US" sz="2200" dirty="0"/>
          </a:p>
        </p:txBody>
      </p:sp>
      <p:sp>
        <p:nvSpPr>
          <p:cNvPr id="9" name="Shape 7"/>
          <p:cNvSpPr/>
          <p:nvPr/>
        </p:nvSpPr>
        <p:spPr>
          <a:xfrm>
            <a:off x="6492240" y="2606040"/>
            <a:ext cx="256032" cy="256032"/>
          </a:xfrm>
          <a:prstGeom prst="ellipse">
            <a:avLst/>
          </a:prstGeom>
          <a:solidFill>
            <a:srgbClr val="C2603E"/>
          </a:solidFill>
          <a:ln w="12700">
            <a:solidFill>
              <a:srgbClr val="C2603E"/>
            </a:solidFill>
            <a:prstDash val="solid"/>
          </a:ln>
        </p:spPr>
      </p:sp>
      <p:sp>
        <p:nvSpPr>
          <p:cNvPr id="10" name="Text 8"/>
          <p:cNvSpPr txBox="1"/>
          <p:nvPr/>
        </p:nvSpPr>
        <p:spPr>
          <a:xfrm>
            <a:off x="6949440" y="2560320"/>
            <a:ext cx="4572000" cy="320040"/>
          </a:xfrm>
          <a:prstGeom prst="rect">
            <a:avLst/>
          </a:prstGeom>
          <a:noFill/>
          <a:ln/>
        </p:spPr>
        <p:txBody>
          <a:bodyPr wrap="square" lIns="0" tIns="0" rIns="0" bIns="0" rtlCol="0" anchor="ctr"/>
          <a:lstStyle/>
          <a:p>
            <a:pPr indent="0" marL="0">
              <a:buNone/>
            </a:pPr>
            <a:r>
              <a:rPr lang="en-US" sz="1500" b="1" dirty="0">
                <a:solidFill>
                  <a:srgbClr val="24312A"/>
                </a:solidFill>
                <a:latin typeface="Calibri" pitchFamily="34" charset="0"/>
                <a:ea typeface="Calibri" pitchFamily="34" charset="-122"/>
                <a:cs typeface="Calibri" pitchFamily="34" charset="-120"/>
              </a:rPr>
              <a:t>Hours per story</a:t>
            </a:r>
            <a:endParaRPr lang="en-US" sz="1500" dirty="0"/>
          </a:p>
        </p:txBody>
      </p:sp>
      <p:sp>
        <p:nvSpPr>
          <p:cNvPr id="11" name="Text 9"/>
          <p:cNvSpPr txBox="1"/>
          <p:nvPr/>
        </p:nvSpPr>
        <p:spPr>
          <a:xfrm>
            <a:off x="6949440" y="2907792"/>
            <a:ext cx="4572000" cy="685800"/>
          </a:xfrm>
          <a:prstGeom prst="rect">
            <a:avLst/>
          </a:prstGeom>
          <a:noFill/>
          <a:ln/>
        </p:spPr>
        <p:txBody>
          <a:bodyPr wrap="square" lIns="0" tIns="0" rIns="0" bIns="0" rtlCol="0" anchor="ctr"/>
          <a:lstStyle/>
          <a:p>
            <a:pPr indent="0" marL="0">
              <a:lnSpc>
                <a:spcPts val="1900"/>
              </a:lnSpc>
              <a:buNone/>
            </a:pPr>
            <a:r>
              <a:rPr lang="en-US" sz="1250" dirty="0">
                <a:solidFill>
                  <a:srgbClr val="6E6A61"/>
                </a:solidFill>
                <a:latin typeface="Calibri" pitchFamily="34" charset="0"/>
                <a:ea typeface="Calibri" pitchFamily="34" charset="-122"/>
                <a:cs typeface="Calibri" pitchFamily="34" charset="-120"/>
              </a:rPr>
              <a:t>Hand-drawn or clip-art, assembled one page at a time by a parent who is already exhausted.</a:t>
            </a:r>
            <a:endParaRPr lang="en-US" sz="1250" dirty="0"/>
          </a:p>
        </p:txBody>
      </p:sp>
      <p:sp>
        <p:nvSpPr>
          <p:cNvPr id="12" name="Shape 10"/>
          <p:cNvSpPr/>
          <p:nvPr/>
        </p:nvSpPr>
        <p:spPr>
          <a:xfrm>
            <a:off x="6492240" y="3794760"/>
            <a:ext cx="256032" cy="256032"/>
          </a:xfrm>
          <a:prstGeom prst="ellipse">
            <a:avLst/>
          </a:prstGeom>
          <a:solidFill>
            <a:srgbClr val="C2603E"/>
          </a:solidFill>
          <a:ln w="12700">
            <a:solidFill>
              <a:srgbClr val="C2603E"/>
            </a:solidFill>
            <a:prstDash val="solid"/>
          </a:ln>
        </p:spPr>
      </p:sp>
      <p:sp>
        <p:nvSpPr>
          <p:cNvPr id="13" name="Text 11"/>
          <p:cNvSpPr txBox="1"/>
          <p:nvPr/>
        </p:nvSpPr>
        <p:spPr>
          <a:xfrm>
            <a:off x="6949440" y="3749040"/>
            <a:ext cx="4572000" cy="320040"/>
          </a:xfrm>
          <a:prstGeom prst="rect">
            <a:avLst/>
          </a:prstGeom>
          <a:noFill/>
          <a:ln/>
        </p:spPr>
        <p:txBody>
          <a:bodyPr wrap="square" lIns="0" tIns="0" rIns="0" bIns="0" rtlCol="0" anchor="ctr"/>
          <a:lstStyle/>
          <a:p>
            <a:pPr indent="0" marL="0">
              <a:buNone/>
            </a:pPr>
            <a:r>
              <a:rPr lang="en-US" sz="1500" b="1" dirty="0">
                <a:solidFill>
                  <a:srgbClr val="24312A"/>
                </a:solidFill>
                <a:latin typeface="Calibri" pitchFamily="34" charset="0"/>
                <a:ea typeface="Calibri" pitchFamily="34" charset="-122"/>
                <a:cs typeface="Calibri" pitchFamily="34" charset="-120"/>
              </a:rPr>
              <a:t>Generic pictures</a:t>
            </a:r>
            <a:endParaRPr lang="en-US" sz="1500" dirty="0"/>
          </a:p>
        </p:txBody>
      </p:sp>
      <p:sp>
        <p:nvSpPr>
          <p:cNvPr id="14" name="Text 12"/>
          <p:cNvSpPr txBox="1"/>
          <p:nvPr/>
        </p:nvSpPr>
        <p:spPr>
          <a:xfrm>
            <a:off x="6949440" y="4096512"/>
            <a:ext cx="4572000" cy="685800"/>
          </a:xfrm>
          <a:prstGeom prst="rect">
            <a:avLst/>
          </a:prstGeom>
          <a:noFill/>
          <a:ln/>
        </p:spPr>
        <p:txBody>
          <a:bodyPr wrap="square" lIns="0" tIns="0" rIns="0" bIns="0" rtlCol="0" anchor="ctr"/>
          <a:lstStyle/>
          <a:p>
            <a:pPr indent="0" marL="0">
              <a:lnSpc>
                <a:spcPts val="1900"/>
              </a:lnSpc>
              <a:buNone/>
            </a:pPr>
            <a:r>
              <a:rPr lang="en-US" sz="1250" dirty="0">
                <a:solidFill>
                  <a:srgbClr val="6E6A61"/>
                </a:solidFill>
                <a:latin typeface="Calibri" pitchFamily="34" charset="0"/>
                <a:ea typeface="Calibri" pitchFamily="34" charset="-122"/>
                <a:cs typeface="Calibri" pitchFamily="34" charset="-120"/>
              </a:rPr>
              <a:t>A stock cartoon dentist is not their dentist. The room in the picture is not the room they will walk into.</a:t>
            </a:r>
            <a:endParaRPr lang="en-US" sz="1250" dirty="0"/>
          </a:p>
        </p:txBody>
      </p:sp>
      <p:sp>
        <p:nvSpPr>
          <p:cNvPr id="15" name="Shape 13"/>
          <p:cNvSpPr/>
          <p:nvPr/>
        </p:nvSpPr>
        <p:spPr>
          <a:xfrm>
            <a:off x="6492240" y="4983480"/>
            <a:ext cx="256032" cy="256032"/>
          </a:xfrm>
          <a:prstGeom prst="ellipse">
            <a:avLst/>
          </a:prstGeom>
          <a:solidFill>
            <a:srgbClr val="C2603E"/>
          </a:solidFill>
          <a:ln w="12700">
            <a:solidFill>
              <a:srgbClr val="C2603E"/>
            </a:solidFill>
            <a:prstDash val="solid"/>
          </a:ln>
        </p:spPr>
      </p:sp>
      <p:sp>
        <p:nvSpPr>
          <p:cNvPr id="16" name="Text 14"/>
          <p:cNvSpPr txBox="1"/>
          <p:nvPr/>
        </p:nvSpPr>
        <p:spPr>
          <a:xfrm>
            <a:off x="6949440" y="4937760"/>
            <a:ext cx="4572000" cy="320040"/>
          </a:xfrm>
          <a:prstGeom prst="rect">
            <a:avLst/>
          </a:prstGeom>
          <a:noFill/>
          <a:ln/>
        </p:spPr>
        <p:txBody>
          <a:bodyPr wrap="square" lIns="0" tIns="0" rIns="0" bIns="0" rtlCol="0" anchor="ctr"/>
          <a:lstStyle/>
          <a:p>
            <a:pPr indent="0" marL="0">
              <a:buNone/>
            </a:pPr>
            <a:r>
              <a:rPr lang="en-US" sz="1500" b="1" dirty="0">
                <a:solidFill>
                  <a:srgbClr val="24312A"/>
                </a:solidFill>
                <a:latin typeface="Calibri" pitchFamily="34" charset="0"/>
                <a:ea typeface="Calibri" pitchFamily="34" charset="-122"/>
                <a:cs typeface="Calibri" pitchFamily="34" charset="-120"/>
              </a:rPr>
              <a:t>Single use</a:t>
            </a:r>
            <a:endParaRPr lang="en-US" sz="1500" dirty="0"/>
          </a:p>
        </p:txBody>
      </p:sp>
      <p:sp>
        <p:nvSpPr>
          <p:cNvPr id="17" name="Text 15"/>
          <p:cNvSpPr txBox="1"/>
          <p:nvPr/>
        </p:nvSpPr>
        <p:spPr>
          <a:xfrm>
            <a:off x="6949440" y="5285232"/>
            <a:ext cx="4572000" cy="685800"/>
          </a:xfrm>
          <a:prstGeom prst="rect">
            <a:avLst/>
          </a:prstGeom>
          <a:noFill/>
          <a:ln/>
        </p:spPr>
        <p:txBody>
          <a:bodyPr wrap="square" lIns="0" tIns="0" rIns="0" bIns="0" rtlCol="0" anchor="ctr"/>
          <a:lstStyle/>
          <a:p>
            <a:pPr indent="0" marL="0">
              <a:lnSpc>
                <a:spcPts val="1900"/>
              </a:lnSpc>
              <a:buNone/>
            </a:pPr>
            <a:r>
              <a:rPr lang="en-US" sz="1250" dirty="0">
                <a:solidFill>
                  <a:srgbClr val="6E6A61"/>
                </a:solidFill>
                <a:latin typeface="Calibri" pitchFamily="34" charset="0"/>
                <a:ea typeface="Calibri" pitchFamily="34" charset="-122"/>
                <a:cs typeface="Calibri" pitchFamily="34" charset="-120"/>
              </a:rPr>
              <a:t>The work is thrown away. The next event starts from a blank page again.</a:t>
            </a:r>
            <a:endParaRPr lang="en-US" sz="1250" dirty="0"/>
          </a:p>
        </p:txBody>
      </p:sp>
      <p:sp>
        <p:nvSpPr>
          <p:cNvPr id="18" name="Text 16"/>
          <p:cNvSpPr txBox="1"/>
          <p:nvPr/>
        </p:nvSpPr>
        <p:spPr>
          <a:xfrm>
            <a:off x="685800" y="6327648"/>
            <a:ext cx="10789920" cy="274320"/>
          </a:xfrm>
          <a:prstGeom prst="rect">
            <a:avLst/>
          </a:prstGeom>
          <a:noFill/>
          <a:ln/>
        </p:spPr>
        <p:txBody>
          <a:bodyPr wrap="square" lIns="0" tIns="0" rIns="0" bIns="0" rtlCol="0" anchor="ctr"/>
          <a:lstStyle/>
          <a:p>
            <a:pPr indent="0" marL="0">
              <a:buNone/>
            </a:pPr>
            <a:r>
              <a:rPr lang="en-US" sz="950" i="1" dirty="0">
                <a:solidFill>
                  <a:srgbClr val="6E6A61"/>
                </a:solidFill>
                <a:latin typeface="Calibri" pitchFamily="34" charset="0"/>
                <a:ea typeface="Calibri" pitchFamily="34" charset="-122"/>
                <a:cs typeface="Calibri" pitchFamily="34" charset="-120"/>
              </a:rPr>
              <a:t>The effects of social story interventions on individuals with autism spectrum disorders: a meta-analysis of single-case experimental studies, Frontiers in Psychology, 2026.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23"/>
        </a:solidFill>
      </p:bgPr>
    </p:bg>
    <p:spTree>
      <p:nvGrpSpPr>
        <p:cNvPr id="1" name=""/>
        <p:cNvGrpSpPr/>
        <p:nvPr/>
      </p:nvGrpSpPr>
      <p:grpSpPr>
        <a:xfrm>
          <a:off x="0" y="0"/>
          <a:ext cx="0" cy="0"/>
          <a:chOff x="0" y="0"/>
          <a:chExt cx="0" cy="0"/>
        </a:xfrm>
      </p:grpSpPr>
      <p:sp>
        <p:nvSpPr>
          <p:cNvPr id="2" name="Text 0"/>
          <p:cNvSpPr txBox="1"/>
          <p:nvPr/>
        </p:nvSpPr>
        <p:spPr>
          <a:xfrm>
            <a:off x="685800" y="1371600"/>
            <a:ext cx="7315200" cy="274320"/>
          </a:xfrm>
          <a:prstGeom prst="rect">
            <a:avLst/>
          </a:prstGeom>
          <a:noFill/>
          <a:ln/>
        </p:spPr>
        <p:txBody>
          <a:bodyPr wrap="square" lIns="0" tIns="0" rIns="0" bIns="0" rtlCol="0" anchor="ctr"/>
          <a:lstStyle/>
          <a:p>
            <a:pPr indent="0" marL="0">
              <a:buNone/>
            </a:pPr>
            <a:r>
              <a:rPr lang="en-US" sz="1100" b="1" spc="200" kern="0" dirty="0">
                <a:solidFill>
                  <a:srgbClr val="2F7D4F"/>
                </a:solidFill>
                <a:latin typeface="Calibri" pitchFamily="34" charset="0"/>
                <a:ea typeface="Calibri" pitchFamily="34" charset="-122"/>
                <a:cs typeface="Calibri" pitchFamily="34" charset="-120"/>
              </a:rPr>
              <a:t>THE IDEA</a:t>
            </a:r>
            <a:endParaRPr lang="en-US" sz="1100" dirty="0"/>
          </a:p>
        </p:txBody>
      </p:sp>
      <p:sp>
        <p:nvSpPr>
          <p:cNvPr id="3" name="Text 1"/>
          <p:cNvSpPr txBox="1"/>
          <p:nvPr/>
        </p:nvSpPr>
        <p:spPr>
          <a:xfrm>
            <a:off x="685800" y="1828800"/>
            <a:ext cx="10607040" cy="1737360"/>
          </a:xfrm>
          <a:prstGeom prst="rect">
            <a:avLst/>
          </a:prstGeom>
          <a:noFill/>
          <a:ln/>
        </p:spPr>
        <p:txBody>
          <a:bodyPr wrap="square" lIns="0" tIns="0" rIns="0" bIns="0" rtlCol="0" anchor="t"/>
          <a:lstStyle/>
          <a:p>
            <a:pPr indent="0" marL="0">
              <a:lnSpc>
                <a:spcPts val="4400"/>
              </a:lnSpc>
              <a:buNone/>
            </a:pPr>
            <a:r>
              <a:rPr lang="en-US" sz="3200" b="1" dirty="0">
                <a:solidFill>
                  <a:srgbClr val="FFFFFF"/>
                </a:solidFill>
                <a:latin typeface="Cambria" pitchFamily="34" charset="0"/>
                <a:ea typeface="Cambria" pitchFamily="34" charset="-122"/>
                <a:cs typeface="Cambria" pitchFamily="34" charset="-120"/>
              </a:rPr>
              <a:t>The parent already knows exactly what will happen.</a:t>
            </a:r>
            <a:endParaRPr lang="en-US" sz="3200" dirty="0"/>
          </a:p>
          <a:p>
            <a:pPr indent="0" marL="0">
              <a:lnSpc>
                <a:spcPts val="4400"/>
              </a:lnSpc>
              <a:buNone/>
            </a:pPr>
            <a:r>
              <a:rPr lang="en-US" sz="3200" b="1" dirty="0">
                <a:solidFill>
                  <a:srgbClr val="FFFFFF"/>
                </a:solidFill>
                <a:latin typeface="Cambria" pitchFamily="34" charset="0"/>
                <a:ea typeface="Cambria" pitchFamily="34" charset="-122"/>
                <a:cs typeface="Cambria" pitchFamily="34" charset="-120"/>
              </a:rPr>
              <a:t>They should not also have to be an illustrator.</a:t>
            </a:r>
            <a:endParaRPr lang="en-US" sz="3200" dirty="0"/>
          </a:p>
        </p:txBody>
      </p:sp>
      <p:sp>
        <p:nvSpPr>
          <p:cNvPr id="4" name="Text 2"/>
          <p:cNvSpPr txBox="1"/>
          <p:nvPr/>
        </p:nvSpPr>
        <p:spPr>
          <a:xfrm>
            <a:off x="685800" y="4160520"/>
            <a:ext cx="9875520" cy="1463040"/>
          </a:xfrm>
          <a:prstGeom prst="rect">
            <a:avLst/>
          </a:prstGeom>
          <a:noFill/>
          <a:ln/>
        </p:spPr>
        <p:txBody>
          <a:bodyPr wrap="square" lIns="0" tIns="0" rIns="0" bIns="0" rtlCol="0" anchor="ctr"/>
          <a:lstStyle/>
          <a:p>
            <a:pPr indent="0" marL="0">
              <a:lnSpc>
                <a:spcPts val="2900"/>
              </a:lnSpc>
              <a:buNone/>
            </a:pPr>
            <a:r>
              <a:rPr lang="en-US" sz="1700" dirty="0">
                <a:solidFill>
                  <a:srgbClr val="E8E4D9"/>
                </a:solidFill>
                <a:latin typeface="Calibri" pitchFamily="34" charset="0"/>
                <a:ea typeface="Calibri" pitchFamily="34" charset="-122"/>
                <a:cs typeface="Calibri" pitchFamily="34" charset="-120"/>
              </a:rPr>
              <a:t>Preview Pal takes the sentences a parent writes and turns them into a short film the child can watch — with their own face, their own clothes, their own comfort toy, and a photograph of the actual room they are going to walk into.</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789920" cy="256032"/>
          </a:xfrm>
          <a:prstGeom prst="rect">
            <a:avLst/>
          </a:prstGeom>
          <a:noFill/>
          <a:ln/>
        </p:spPr>
        <p:txBody>
          <a:bodyPr wrap="square" lIns="0" tIns="0" rIns="0" bIns="0" rtlCol="0" anchor="ctr"/>
          <a:lstStyle/>
          <a:p>
            <a:pPr indent="0" marL="0">
              <a:buNone/>
            </a:pPr>
            <a:r>
              <a:rPr lang="en-US" sz="1100" b="1" spc="200" kern="0" dirty="0">
                <a:solidFill>
                  <a:srgbClr val="2F7D4F"/>
                </a:solidFill>
                <a:latin typeface="Calibri" pitchFamily="34" charset="0"/>
                <a:ea typeface="Calibri" pitchFamily="34" charset="-122"/>
                <a:cs typeface="Calibri" pitchFamily="34" charset="-120"/>
              </a:rPr>
              <a:t>THE PRODUCT</a:t>
            </a:r>
            <a:endParaRPr lang="en-US" sz="1100" dirty="0"/>
          </a:p>
        </p:txBody>
      </p:sp>
      <p:sp>
        <p:nvSpPr>
          <p:cNvPr id="3" name="Text 1"/>
          <p:cNvSpPr txBox="1"/>
          <p:nvPr/>
        </p:nvSpPr>
        <p:spPr>
          <a:xfrm>
            <a:off x="685800" y="713232"/>
            <a:ext cx="10789920" cy="1051560"/>
          </a:xfrm>
          <a:prstGeom prst="rect">
            <a:avLst/>
          </a:prstGeom>
          <a:noFill/>
          <a:ln/>
        </p:spPr>
        <p:txBody>
          <a:bodyPr wrap="square" lIns="0" tIns="0" rIns="0" bIns="0" rtlCol="0" anchor="t"/>
          <a:lstStyle/>
          <a:p>
            <a:pPr indent="0" marL="0">
              <a:buNone/>
            </a:pPr>
            <a:r>
              <a:rPr lang="en-US" sz="3400" b="1" dirty="0">
                <a:solidFill>
                  <a:srgbClr val="24312A"/>
                </a:solidFill>
                <a:latin typeface="Cambria" pitchFamily="34" charset="0"/>
                <a:ea typeface="Cambria" pitchFamily="34" charset="-122"/>
                <a:cs typeface="Cambria" pitchFamily="34" charset="-120"/>
              </a:rPr>
              <a:t>Three things a parent does</a:t>
            </a:r>
            <a:endParaRPr lang="en-US" sz="3400" dirty="0"/>
          </a:p>
        </p:txBody>
      </p:sp>
      <p:sp>
        <p:nvSpPr>
          <p:cNvPr id="4" name="Shape 2"/>
          <p:cNvSpPr/>
          <p:nvPr/>
        </p:nvSpPr>
        <p:spPr>
          <a:xfrm>
            <a:off x="685800" y="1965960"/>
            <a:ext cx="3410712" cy="2743200"/>
          </a:xfrm>
          <a:prstGeom prst="roundRect">
            <a:avLst>
              <a:gd name="adj" fmla="val 4000"/>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5" name="Shape 3"/>
          <p:cNvSpPr/>
          <p:nvPr/>
        </p:nvSpPr>
        <p:spPr>
          <a:xfrm>
            <a:off x="1005840" y="2286000"/>
            <a:ext cx="457200" cy="457200"/>
          </a:xfrm>
          <a:prstGeom prst="ellipse">
            <a:avLst/>
          </a:prstGeom>
          <a:solidFill>
            <a:srgbClr val="2F7D4F"/>
          </a:solidFill>
          <a:ln w="12700">
            <a:solidFill>
              <a:srgbClr val="2F7D4F"/>
            </a:solidFill>
            <a:prstDash val="solid"/>
          </a:ln>
        </p:spPr>
      </p:sp>
      <p:sp>
        <p:nvSpPr>
          <p:cNvPr id="6" name="Text 4"/>
          <p:cNvSpPr txBox="1"/>
          <p:nvPr/>
        </p:nvSpPr>
        <p:spPr>
          <a:xfrm>
            <a:off x="1005840" y="2286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005840" y="2880360"/>
            <a:ext cx="2788920" cy="685800"/>
          </a:xfrm>
          <a:prstGeom prst="rect">
            <a:avLst/>
          </a:prstGeom>
          <a:noFill/>
          <a:ln/>
        </p:spPr>
        <p:txBody>
          <a:bodyPr wrap="square" lIns="0" tIns="0" rIns="0" bIns="0" rtlCol="0" anchor="ctr"/>
          <a:lstStyle/>
          <a:p>
            <a:pPr indent="0" marL="0">
              <a:buNone/>
            </a:pPr>
            <a:r>
              <a:rPr lang="en-US" sz="1900" b="1" dirty="0">
                <a:solidFill>
                  <a:srgbClr val="24312A"/>
                </a:solidFill>
                <a:latin typeface="Cambria" pitchFamily="34" charset="0"/>
                <a:ea typeface="Cambria" pitchFamily="34" charset="-122"/>
                <a:cs typeface="Cambria" pitchFamily="34" charset="-120"/>
              </a:rPr>
              <a:t>Write what happens</a:t>
            </a:r>
            <a:endParaRPr lang="en-US" sz="1900" dirty="0"/>
          </a:p>
        </p:txBody>
      </p:sp>
      <p:sp>
        <p:nvSpPr>
          <p:cNvPr id="8" name="Text 6"/>
          <p:cNvSpPr txBox="1"/>
          <p:nvPr/>
        </p:nvSpPr>
        <p:spPr>
          <a:xfrm>
            <a:off x="1005840" y="3611880"/>
            <a:ext cx="2788920" cy="1005840"/>
          </a:xfrm>
          <a:prstGeom prst="rect">
            <a:avLst/>
          </a:prstGeom>
          <a:noFill/>
          <a:ln/>
        </p:spPr>
        <p:txBody>
          <a:bodyPr wrap="square" lIns="0" tIns="0" rIns="0" bIns="0" rtlCol="0" anchor="ctr"/>
          <a:lstStyle/>
          <a:p>
            <a:pPr indent="0" marL="0">
              <a:lnSpc>
                <a:spcPts val="1900"/>
              </a:lnSpc>
              <a:buNone/>
            </a:pPr>
            <a:r>
              <a:rPr lang="en-US" sz="1250" dirty="0">
                <a:solidFill>
                  <a:srgbClr val="6E6A61"/>
                </a:solidFill>
                <a:latin typeface="Calibri" pitchFamily="34" charset="0"/>
                <a:ea typeface="Calibri" pitchFamily="34" charset="-122"/>
                <a:cs typeface="Calibri" pitchFamily="34" charset="-120"/>
              </a:rPr>
              <a:t>Plain sentences, in their own words: “We will drive to the dentist. I will sit in the big chair.” Nothing else to learn.</a:t>
            </a:r>
            <a:endParaRPr lang="en-US" sz="1250" dirty="0"/>
          </a:p>
        </p:txBody>
      </p:sp>
      <p:sp>
        <p:nvSpPr>
          <p:cNvPr id="9" name="Shape 7"/>
          <p:cNvSpPr/>
          <p:nvPr/>
        </p:nvSpPr>
        <p:spPr>
          <a:xfrm>
            <a:off x="4370832" y="1965960"/>
            <a:ext cx="3410712" cy="2743200"/>
          </a:xfrm>
          <a:prstGeom prst="roundRect">
            <a:avLst>
              <a:gd name="adj" fmla="val 4000"/>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10" name="Shape 8"/>
          <p:cNvSpPr/>
          <p:nvPr/>
        </p:nvSpPr>
        <p:spPr>
          <a:xfrm>
            <a:off x="4690872" y="2286000"/>
            <a:ext cx="457200" cy="457200"/>
          </a:xfrm>
          <a:prstGeom prst="ellipse">
            <a:avLst/>
          </a:prstGeom>
          <a:solidFill>
            <a:srgbClr val="2F7D4F"/>
          </a:solidFill>
          <a:ln w="12700">
            <a:solidFill>
              <a:srgbClr val="2F7D4F"/>
            </a:solidFill>
            <a:prstDash val="solid"/>
          </a:ln>
        </p:spPr>
      </p:sp>
      <p:sp>
        <p:nvSpPr>
          <p:cNvPr id="11" name="Text 9"/>
          <p:cNvSpPr txBox="1"/>
          <p:nvPr/>
        </p:nvSpPr>
        <p:spPr>
          <a:xfrm>
            <a:off x="4690872" y="2286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4690872" y="2880360"/>
            <a:ext cx="2788920" cy="685800"/>
          </a:xfrm>
          <a:prstGeom prst="rect">
            <a:avLst/>
          </a:prstGeom>
          <a:noFill/>
          <a:ln/>
        </p:spPr>
        <p:txBody>
          <a:bodyPr wrap="square" lIns="0" tIns="0" rIns="0" bIns="0" rtlCol="0" anchor="ctr"/>
          <a:lstStyle/>
          <a:p>
            <a:pPr indent="0" marL="0">
              <a:buNone/>
            </a:pPr>
            <a:r>
              <a:rPr lang="en-US" sz="1900" b="1" dirty="0">
                <a:solidFill>
                  <a:srgbClr val="24312A"/>
                </a:solidFill>
                <a:latin typeface="Cambria" pitchFamily="34" charset="0"/>
                <a:ea typeface="Cambria" pitchFamily="34" charset="-122"/>
                <a:cs typeface="Cambria" pitchFamily="34" charset="-120"/>
              </a:rPr>
              <a:t>Check the pictures</a:t>
            </a:r>
            <a:endParaRPr lang="en-US" sz="1900" dirty="0"/>
          </a:p>
        </p:txBody>
      </p:sp>
      <p:sp>
        <p:nvSpPr>
          <p:cNvPr id="13" name="Text 11"/>
          <p:cNvSpPr txBox="1"/>
          <p:nvPr/>
        </p:nvSpPr>
        <p:spPr>
          <a:xfrm>
            <a:off x="4690872" y="3611880"/>
            <a:ext cx="2788920" cy="1005840"/>
          </a:xfrm>
          <a:prstGeom prst="rect">
            <a:avLst/>
          </a:prstGeom>
          <a:noFill/>
          <a:ln/>
        </p:spPr>
        <p:txBody>
          <a:bodyPr wrap="square" lIns="0" tIns="0" rIns="0" bIns="0" rtlCol="0" anchor="ctr"/>
          <a:lstStyle/>
          <a:p>
            <a:pPr indent="0" marL="0">
              <a:lnSpc>
                <a:spcPts val="1900"/>
              </a:lnSpc>
              <a:buNone/>
            </a:pPr>
            <a:r>
              <a:rPr lang="en-US" sz="1250" dirty="0">
                <a:solidFill>
                  <a:srgbClr val="6E6A61"/>
                </a:solidFill>
                <a:latin typeface="Calibri" pitchFamily="34" charset="0"/>
                <a:ea typeface="Calibri" pitchFamily="34" charset="-122"/>
                <a:cs typeface="Calibri" pitchFamily="34" charset="-120"/>
              </a:rPr>
              <a:t>Every picture is shown to the adult first, with anything that looks wrong flagged. No child sees an unapproved frame.</a:t>
            </a:r>
            <a:endParaRPr lang="en-US" sz="1250" dirty="0"/>
          </a:p>
        </p:txBody>
      </p:sp>
      <p:sp>
        <p:nvSpPr>
          <p:cNvPr id="14" name="Shape 12"/>
          <p:cNvSpPr/>
          <p:nvPr/>
        </p:nvSpPr>
        <p:spPr>
          <a:xfrm>
            <a:off x="8055864" y="1965960"/>
            <a:ext cx="3410712" cy="2743200"/>
          </a:xfrm>
          <a:prstGeom prst="roundRect">
            <a:avLst>
              <a:gd name="adj" fmla="val 4000"/>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15" name="Shape 13"/>
          <p:cNvSpPr/>
          <p:nvPr/>
        </p:nvSpPr>
        <p:spPr>
          <a:xfrm>
            <a:off x="8375904" y="2286000"/>
            <a:ext cx="457200" cy="457200"/>
          </a:xfrm>
          <a:prstGeom prst="ellipse">
            <a:avLst/>
          </a:prstGeom>
          <a:solidFill>
            <a:srgbClr val="2F7D4F"/>
          </a:solidFill>
          <a:ln w="12700">
            <a:solidFill>
              <a:srgbClr val="2F7D4F"/>
            </a:solidFill>
            <a:prstDash val="solid"/>
          </a:ln>
        </p:spPr>
      </p:sp>
      <p:sp>
        <p:nvSpPr>
          <p:cNvPr id="16" name="Text 14"/>
          <p:cNvSpPr txBox="1"/>
          <p:nvPr/>
        </p:nvSpPr>
        <p:spPr>
          <a:xfrm>
            <a:off x="8375904" y="2286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8375904" y="2880360"/>
            <a:ext cx="2788920" cy="685800"/>
          </a:xfrm>
          <a:prstGeom prst="rect">
            <a:avLst/>
          </a:prstGeom>
          <a:noFill/>
          <a:ln/>
        </p:spPr>
        <p:txBody>
          <a:bodyPr wrap="square" lIns="0" tIns="0" rIns="0" bIns="0" rtlCol="0" anchor="ctr"/>
          <a:lstStyle/>
          <a:p>
            <a:pPr indent="0" marL="0">
              <a:buNone/>
            </a:pPr>
            <a:r>
              <a:rPr lang="en-US" sz="1900" b="1" dirty="0">
                <a:solidFill>
                  <a:srgbClr val="24312A"/>
                </a:solidFill>
                <a:latin typeface="Cambria" pitchFamily="34" charset="0"/>
                <a:ea typeface="Cambria" pitchFamily="34" charset="-122"/>
                <a:cs typeface="Cambria" pitchFamily="34" charset="-120"/>
              </a:rPr>
              <a:t>Watch it together</a:t>
            </a:r>
            <a:endParaRPr lang="en-US" sz="1900" dirty="0"/>
          </a:p>
        </p:txBody>
      </p:sp>
      <p:sp>
        <p:nvSpPr>
          <p:cNvPr id="18" name="Text 16"/>
          <p:cNvSpPr txBox="1"/>
          <p:nvPr/>
        </p:nvSpPr>
        <p:spPr>
          <a:xfrm>
            <a:off x="8375904" y="3611880"/>
            <a:ext cx="2788920" cy="1005840"/>
          </a:xfrm>
          <a:prstGeom prst="rect">
            <a:avLst/>
          </a:prstGeom>
          <a:noFill/>
          <a:ln/>
        </p:spPr>
        <p:txBody>
          <a:bodyPr wrap="square" lIns="0" tIns="0" rIns="0" bIns="0" rtlCol="0" anchor="ctr"/>
          <a:lstStyle/>
          <a:p>
            <a:pPr indent="0" marL="0">
              <a:lnSpc>
                <a:spcPts val="1900"/>
              </a:lnSpc>
              <a:buNone/>
            </a:pPr>
            <a:r>
              <a:rPr lang="en-US" sz="1250" dirty="0">
                <a:solidFill>
                  <a:srgbClr val="6E6A61"/>
                </a:solidFill>
                <a:latin typeface="Calibri" pitchFamily="34" charset="0"/>
                <a:ea typeface="Calibri" pitchFamily="34" charset="-122"/>
                <a:cs typeface="Calibri" pitchFamily="34" charset="-120"/>
              </a:rPr>
              <a:t>A calm, full-screen player — quiet colours, no autoplay sound, one step at a time. Or print it as a booklet for the car.</a:t>
            </a:r>
            <a:endParaRPr lang="en-US" sz="1250" dirty="0"/>
          </a:p>
        </p:txBody>
      </p:sp>
      <p:sp>
        <p:nvSpPr>
          <p:cNvPr id="19" name="Text 17"/>
          <p:cNvSpPr txBox="1"/>
          <p:nvPr/>
        </p:nvSpPr>
        <p:spPr>
          <a:xfrm>
            <a:off x="685800" y="5029200"/>
            <a:ext cx="10817352" cy="548640"/>
          </a:xfrm>
          <a:prstGeom prst="rect">
            <a:avLst/>
          </a:prstGeom>
          <a:noFill/>
          <a:ln/>
        </p:spPr>
        <p:txBody>
          <a:bodyPr wrap="square" lIns="0" tIns="0" rIns="0" bIns="0" rtlCol="0" anchor="ctr"/>
          <a:lstStyle/>
          <a:p>
            <a:pPr indent="0" marL="0">
              <a:buNone/>
            </a:pPr>
            <a:r>
              <a:rPr lang="en-US" sz="1500" i="1" dirty="0">
                <a:solidFill>
                  <a:srgbClr val="215B39"/>
                </a:solidFill>
                <a:latin typeface="Calibri" pitchFamily="34" charset="0"/>
                <a:ea typeface="Calibri" pitchFamily="34" charset="-122"/>
                <a:cs typeface="Calibri" pitchFamily="34" charset="-120"/>
              </a:rPr>
              <a:t>Everything else — the models, the checks, the database — is hidden. A parent never sees a pipeline.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789920" cy="256032"/>
          </a:xfrm>
          <a:prstGeom prst="rect">
            <a:avLst/>
          </a:prstGeom>
          <a:noFill/>
          <a:ln/>
        </p:spPr>
        <p:txBody>
          <a:bodyPr wrap="square" lIns="0" tIns="0" rIns="0" bIns="0" rtlCol="0" anchor="ctr"/>
          <a:lstStyle/>
          <a:p>
            <a:pPr indent="0" marL="0">
              <a:buNone/>
            </a:pPr>
            <a:r>
              <a:rPr lang="en-US" sz="1100" b="1" spc="200" kern="0" dirty="0">
                <a:solidFill>
                  <a:srgbClr val="2F7D4F"/>
                </a:solidFill>
                <a:latin typeface="Calibri" pitchFamily="34" charset="0"/>
                <a:ea typeface="Calibri" pitchFamily="34" charset="-122"/>
                <a:cs typeface="Calibri" pitchFamily="34" charset="-120"/>
              </a:rPr>
              <a:t>UNDER THE HOOD</a:t>
            </a:r>
            <a:endParaRPr lang="en-US" sz="1100" dirty="0"/>
          </a:p>
        </p:txBody>
      </p:sp>
      <p:sp>
        <p:nvSpPr>
          <p:cNvPr id="3" name="Text 1"/>
          <p:cNvSpPr txBox="1"/>
          <p:nvPr/>
        </p:nvSpPr>
        <p:spPr>
          <a:xfrm>
            <a:off x="685800" y="713232"/>
            <a:ext cx="10789920" cy="1051560"/>
          </a:xfrm>
          <a:prstGeom prst="rect">
            <a:avLst/>
          </a:prstGeom>
          <a:noFill/>
          <a:ln/>
        </p:spPr>
        <p:txBody>
          <a:bodyPr wrap="square" lIns="0" tIns="0" rIns="0" bIns="0" rtlCol="0" anchor="t"/>
          <a:lstStyle/>
          <a:p>
            <a:pPr indent="0" marL="0">
              <a:buNone/>
            </a:pPr>
            <a:r>
              <a:rPr lang="en-US" sz="3400" b="1" dirty="0">
                <a:solidFill>
                  <a:srgbClr val="24312A"/>
                </a:solidFill>
                <a:latin typeface="Cambria" pitchFamily="34" charset="0"/>
                <a:ea typeface="Cambria" pitchFamily="34" charset="-122"/>
                <a:cs typeface="Cambria" pitchFamily="34" charset="-120"/>
              </a:rPr>
              <a:t>What happens after “Make the story”</a:t>
            </a:r>
            <a:endParaRPr lang="en-US" sz="3400" dirty="0"/>
          </a:p>
        </p:txBody>
      </p:sp>
      <p:sp>
        <p:nvSpPr>
          <p:cNvPr id="4" name="Shape 2"/>
          <p:cNvSpPr/>
          <p:nvPr/>
        </p:nvSpPr>
        <p:spPr>
          <a:xfrm>
            <a:off x="685800" y="2011680"/>
            <a:ext cx="2011680" cy="3108960"/>
          </a:xfrm>
          <a:prstGeom prst="roundRect">
            <a:avLst>
              <a:gd name="adj" fmla="val 5455"/>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5" name="Shape 3"/>
          <p:cNvSpPr/>
          <p:nvPr/>
        </p:nvSpPr>
        <p:spPr>
          <a:xfrm>
            <a:off x="941832" y="2286000"/>
            <a:ext cx="457200" cy="457200"/>
          </a:xfrm>
          <a:prstGeom prst="ellipse">
            <a:avLst/>
          </a:prstGeom>
          <a:solidFill>
            <a:srgbClr val="2F7D4F"/>
          </a:solidFill>
          <a:ln w="12700">
            <a:solidFill>
              <a:srgbClr val="2F7D4F"/>
            </a:solidFill>
            <a:prstDash val="solid"/>
          </a:ln>
        </p:spPr>
      </p:sp>
      <p:sp>
        <p:nvSpPr>
          <p:cNvPr id="6" name="Text 4"/>
          <p:cNvSpPr txBox="1"/>
          <p:nvPr/>
        </p:nvSpPr>
        <p:spPr>
          <a:xfrm>
            <a:off x="941832" y="2286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941832" y="2880360"/>
            <a:ext cx="1554480" cy="365760"/>
          </a:xfrm>
          <a:prstGeom prst="rect">
            <a:avLst/>
          </a:prstGeom>
          <a:noFill/>
          <a:ln/>
        </p:spPr>
        <p:txBody>
          <a:bodyPr wrap="square" lIns="0" tIns="0" rIns="0" bIns="0" rtlCol="0" anchor="ctr"/>
          <a:lstStyle/>
          <a:p>
            <a:pPr indent="0" marL="0">
              <a:buNone/>
            </a:pPr>
            <a:r>
              <a:rPr lang="en-US" sz="1700" b="1" dirty="0">
                <a:solidFill>
                  <a:srgbClr val="24312A"/>
                </a:solidFill>
                <a:latin typeface="Cambria" pitchFamily="34" charset="0"/>
                <a:ea typeface="Cambria" pitchFamily="34" charset="-122"/>
                <a:cs typeface="Cambria" pitchFamily="34" charset="-120"/>
              </a:rPr>
              <a:t>Compile</a:t>
            </a:r>
            <a:endParaRPr lang="en-US" sz="1700" dirty="0"/>
          </a:p>
        </p:txBody>
      </p:sp>
      <p:sp>
        <p:nvSpPr>
          <p:cNvPr id="8" name="Text 6"/>
          <p:cNvSpPr txBox="1"/>
          <p:nvPr/>
        </p:nvSpPr>
        <p:spPr>
          <a:xfrm>
            <a:off x="941832" y="3291840"/>
            <a:ext cx="1536192" cy="1645920"/>
          </a:xfrm>
          <a:prstGeom prst="rect">
            <a:avLst/>
          </a:prstGeom>
          <a:noFill/>
          <a:ln/>
        </p:spPr>
        <p:txBody>
          <a:bodyPr wrap="square" lIns="0" tIns="0" rIns="0" bIns="0" rtlCol="0" anchor="ctr"/>
          <a:lstStyle/>
          <a:p>
            <a:pPr indent="0" marL="0">
              <a:lnSpc>
                <a:spcPts val="1700"/>
              </a:lnSpc>
              <a:buNone/>
            </a:pPr>
            <a:r>
              <a:rPr lang="en-US" sz="1100" dirty="0">
                <a:solidFill>
                  <a:srgbClr val="6E6A61"/>
                </a:solidFill>
                <a:latin typeface="Calibri" pitchFamily="34" charset="0"/>
                <a:ea typeface="Calibri" pitchFamily="34" charset="-122"/>
                <a:cs typeface="Calibri" pitchFamily="34" charset="-120"/>
              </a:rPr>
              <a:t>The parent's sentences are split into steps. The words are never rewritten — they are the story.</a:t>
            </a:r>
            <a:endParaRPr lang="en-US" sz="1100" dirty="0"/>
          </a:p>
        </p:txBody>
      </p:sp>
      <p:sp>
        <p:nvSpPr>
          <p:cNvPr id="9" name="Shape 7"/>
          <p:cNvSpPr/>
          <p:nvPr/>
        </p:nvSpPr>
        <p:spPr>
          <a:xfrm>
            <a:off x="2880360" y="2011680"/>
            <a:ext cx="2011680" cy="3108960"/>
          </a:xfrm>
          <a:prstGeom prst="roundRect">
            <a:avLst>
              <a:gd name="adj" fmla="val 5455"/>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10" name="Shape 8"/>
          <p:cNvSpPr/>
          <p:nvPr/>
        </p:nvSpPr>
        <p:spPr>
          <a:xfrm>
            <a:off x="3136392" y="2286000"/>
            <a:ext cx="457200" cy="457200"/>
          </a:xfrm>
          <a:prstGeom prst="ellipse">
            <a:avLst/>
          </a:prstGeom>
          <a:solidFill>
            <a:srgbClr val="2F7D4F"/>
          </a:solidFill>
          <a:ln w="12700">
            <a:solidFill>
              <a:srgbClr val="2F7D4F"/>
            </a:solidFill>
            <a:prstDash val="solid"/>
          </a:ln>
        </p:spPr>
      </p:sp>
      <p:sp>
        <p:nvSpPr>
          <p:cNvPr id="11" name="Text 9"/>
          <p:cNvSpPr txBox="1"/>
          <p:nvPr/>
        </p:nvSpPr>
        <p:spPr>
          <a:xfrm>
            <a:off x="3136392" y="2286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3136392" y="2880360"/>
            <a:ext cx="1554480" cy="365760"/>
          </a:xfrm>
          <a:prstGeom prst="rect">
            <a:avLst/>
          </a:prstGeom>
          <a:noFill/>
          <a:ln/>
        </p:spPr>
        <p:txBody>
          <a:bodyPr wrap="square" lIns="0" tIns="0" rIns="0" bIns="0" rtlCol="0" anchor="ctr"/>
          <a:lstStyle/>
          <a:p>
            <a:pPr indent="0" marL="0">
              <a:buNone/>
            </a:pPr>
            <a:r>
              <a:rPr lang="en-US" sz="1700" b="1" dirty="0">
                <a:solidFill>
                  <a:srgbClr val="24312A"/>
                </a:solidFill>
                <a:latin typeface="Cambria" pitchFamily="34" charset="0"/>
                <a:ea typeface="Cambria" pitchFamily="34" charset="-122"/>
                <a:cs typeface="Cambria" pitchFamily="34" charset="-120"/>
              </a:rPr>
              <a:t>Direct</a:t>
            </a:r>
            <a:endParaRPr lang="en-US" sz="1700" dirty="0"/>
          </a:p>
        </p:txBody>
      </p:sp>
      <p:sp>
        <p:nvSpPr>
          <p:cNvPr id="13" name="Text 11"/>
          <p:cNvSpPr txBox="1"/>
          <p:nvPr/>
        </p:nvSpPr>
        <p:spPr>
          <a:xfrm>
            <a:off x="3136392" y="3291840"/>
            <a:ext cx="1536192" cy="1645920"/>
          </a:xfrm>
          <a:prstGeom prst="rect">
            <a:avLst/>
          </a:prstGeom>
          <a:noFill/>
          <a:ln/>
        </p:spPr>
        <p:txBody>
          <a:bodyPr wrap="square" lIns="0" tIns="0" rIns="0" bIns="0" rtlCol="0" anchor="ctr"/>
          <a:lstStyle/>
          <a:p>
            <a:pPr indent="0" marL="0">
              <a:lnSpc>
                <a:spcPts val="1700"/>
              </a:lnSpc>
              <a:buNone/>
            </a:pPr>
            <a:r>
              <a:rPr lang="en-US" sz="1100" dirty="0">
                <a:solidFill>
                  <a:srgbClr val="6E6A61"/>
                </a:solidFill>
                <a:latin typeface="Calibri" pitchFamily="34" charset="0"/>
                <a:ea typeface="Calibri" pitchFamily="34" charset="-122"/>
                <a:cs typeface="Calibri" pitchFamily="34" charset="-120"/>
              </a:rPr>
              <a:t>A Gemini director composes each picture under locked constraints: this face, this outfit, this room, these comfort items.</a:t>
            </a:r>
            <a:endParaRPr lang="en-US" sz="1100" dirty="0"/>
          </a:p>
        </p:txBody>
      </p:sp>
      <p:sp>
        <p:nvSpPr>
          <p:cNvPr id="14" name="Shape 12"/>
          <p:cNvSpPr/>
          <p:nvPr/>
        </p:nvSpPr>
        <p:spPr>
          <a:xfrm>
            <a:off x="5074920" y="2011680"/>
            <a:ext cx="2011680" cy="3108960"/>
          </a:xfrm>
          <a:prstGeom prst="roundRect">
            <a:avLst>
              <a:gd name="adj" fmla="val 5455"/>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15" name="Shape 13"/>
          <p:cNvSpPr/>
          <p:nvPr/>
        </p:nvSpPr>
        <p:spPr>
          <a:xfrm>
            <a:off x="5330952" y="2286000"/>
            <a:ext cx="457200" cy="457200"/>
          </a:xfrm>
          <a:prstGeom prst="ellipse">
            <a:avLst/>
          </a:prstGeom>
          <a:solidFill>
            <a:srgbClr val="2F7D4F"/>
          </a:solidFill>
          <a:ln w="12700">
            <a:solidFill>
              <a:srgbClr val="2F7D4F"/>
            </a:solidFill>
            <a:prstDash val="solid"/>
          </a:ln>
        </p:spPr>
      </p:sp>
      <p:sp>
        <p:nvSpPr>
          <p:cNvPr id="16" name="Text 14"/>
          <p:cNvSpPr txBox="1"/>
          <p:nvPr/>
        </p:nvSpPr>
        <p:spPr>
          <a:xfrm>
            <a:off x="5330952" y="2286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5330952" y="2880360"/>
            <a:ext cx="1554480" cy="365760"/>
          </a:xfrm>
          <a:prstGeom prst="rect">
            <a:avLst/>
          </a:prstGeom>
          <a:noFill/>
          <a:ln/>
        </p:spPr>
        <p:txBody>
          <a:bodyPr wrap="square" lIns="0" tIns="0" rIns="0" bIns="0" rtlCol="0" anchor="ctr"/>
          <a:lstStyle/>
          <a:p>
            <a:pPr indent="0" marL="0">
              <a:buNone/>
            </a:pPr>
            <a:r>
              <a:rPr lang="en-US" sz="1700" b="1" dirty="0">
                <a:solidFill>
                  <a:srgbClr val="24312A"/>
                </a:solidFill>
                <a:latin typeface="Cambria" pitchFamily="34" charset="0"/>
                <a:ea typeface="Cambria" pitchFamily="34" charset="-122"/>
                <a:cs typeface="Cambria" pitchFamily="34" charset="-120"/>
              </a:rPr>
              <a:t>Film</a:t>
            </a:r>
            <a:endParaRPr lang="en-US" sz="1700" dirty="0"/>
          </a:p>
        </p:txBody>
      </p:sp>
      <p:sp>
        <p:nvSpPr>
          <p:cNvPr id="18" name="Text 16"/>
          <p:cNvSpPr txBox="1"/>
          <p:nvPr/>
        </p:nvSpPr>
        <p:spPr>
          <a:xfrm>
            <a:off x="5330952" y="3291840"/>
            <a:ext cx="1536192" cy="1645920"/>
          </a:xfrm>
          <a:prstGeom prst="rect">
            <a:avLst/>
          </a:prstGeom>
          <a:noFill/>
          <a:ln/>
        </p:spPr>
        <p:txBody>
          <a:bodyPr wrap="square" lIns="0" tIns="0" rIns="0" bIns="0" rtlCol="0" anchor="ctr"/>
          <a:lstStyle/>
          <a:p>
            <a:pPr indent="0" marL="0">
              <a:lnSpc>
                <a:spcPts val="1700"/>
              </a:lnSpc>
              <a:buNone/>
            </a:pPr>
            <a:r>
              <a:rPr lang="en-US" sz="1100" dirty="0">
                <a:solidFill>
                  <a:srgbClr val="6E6A61"/>
                </a:solidFill>
                <a:latin typeface="Calibri" pitchFamily="34" charset="0"/>
                <a:ea typeface="Calibri" pitchFamily="34" charset="-122"/>
                <a:cs typeface="Calibri" pitchFamily="34" charset="-120"/>
              </a:rPr>
              <a:t>Veo turns each step into a short moving clip; the clips and the narration are rendered into one video.</a:t>
            </a:r>
            <a:endParaRPr lang="en-US" sz="1100" dirty="0"/>
          </a:p>
        </p:txBody>
      </p:sp>
      <p:sp>
        <p:nvSpPr>
          <p:cNvPr id="19" name="Shape 17"/>
          <p:cNvSpPr/>
          <p:nvPr/>
        </p:nvSpPr>
        <p:spPr>
          <a:xfrm>
            <a:off x="7269480" y="2011680"/>
            <a:ext cx="2011680" cy="3108960"/>
          </a:xfrm>
          <a:prstGeom prst="roundRect">
            <a:avLst>
              <a:gd name="adj" fmla="val 5455"/>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20" name="Shape 18"/>
          <p:cNvSpPr/>
          <p:nvPr/>
        </p:nvSpPr>
        <p:spPr>
          <a:xfrm>
            <a:off x="7525512" y="2286000"/>
            <a:ext cx="457200" cy="457200"/>
          </a:xfrm>
          <a:prstGeom prst="ellipse">
            <a:avLst/>
          </a:prstGeom>
          <a:solidFill>
            <a:srgbClr val="2F7D4F"/>
          </a:solidFill>
          <a:ln w="12700">
            <a:solidFill>
              <a:srgbClr val="2F7D4F"/>
            </a:solidFill>
            <a:prstDash val="solid"/>
          </a:ln>
        </p:spPr>
      </p:sp>
      <p:sp>
        <p:nvSpPr>
          <p:cNvPr id="21" name="Text 19"/>
          <p:cNvSpPr txBox="1"/>
          <p:nvPr/>
        </p:nvSpPr>
        <p:spPr>
          <a:xfrm>
            <a:off x="7525512" y="2286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7525512" y="2880360"/>
            <a:ext cx="1554480" cy="365760"/>
          </a:xfrm>
          <a:prstGeom prst="rect">
            <a:avLst/>
          </a:prstGeom>
          <a:noFill/>
          <a:ln/>
        </p:spPr>
        <p:txBody>
          <a:bodyPr wrap="square" lIns="0" tIns="0" rIns="0" bIns="0" rtlCol="0" anchor="ctr"/>
          <a:lstStyle/>
          <a:p>
            <a:pPr indent="0" marL="0">
              <a:buNone/>
            </a:pPr>
            <a:r>
              <a:rPr lang="en-US" sz="1700" b="1" dirty="0">
                <a:solidFill>
                  <a:srgbClr val="24312A"/>
                </a:solidFill>
                <a:latin typeface="Cambria" pitchFamily="34" charset="0"/>
                <a:ea typeface="Cambria" pitchFamily="34" charset="-122"/>
                <a:cs typeface="Cambria" pitchFamily="34" charset="-120"/>
              </a:rPr>
              <a:t>Check</a:t>
            </a:r>
            <a:endParaRPr lang="en-US" sz="1700" dirty="0"/>
          </a:p>
        </p:txBody>
      </p:sp>
      <p:sp>
        <p:nvSpPr>
          <p:cNvPr id="23" name="Text 21"/>
          <p:cNvSpPr txBox="1"/>
          <p:nvPr/>
        </p:nvSpPr>
        <p:spPr>
          <a:xfrm>
            <a:off x="7525512" y="3291840"/>
            <a:ext cx="1536192" cy="1645920"/>
          </a:xfrm>
          <a:prstGeom prst="rect">
            <a:avLst/>
          </a:prstGeom>
          <a:noFill/>
          <a:ln/>
        </p:spPr>
        <p:txBody>
          <a:bodyPr wrap="square" lIns="0" tIns="0" rIns="0" bIns="0" rtlCol="0" anchor="ctr"/>
          <a:lstStyle/>
          <a:p>
            <a:pPr indent="0" marL="0">
              <a:lnSpc>
                <a:spcPts val="1700"/>
              </a:lnSpc>
              <a:buNone/>
            </a:pPr>
            <a:r>
              <a:rPr lang="en-US" sz="1100" dirty="0">
                <a:solidFill>
                  <a:srgbClr val="6E6A61"/>
                </a:solidFill>
                <a:latin typeface="Calibri" pitchFamily="34" charset="0"/>
                <a:ea typeface="Calibri" pitchFamily="34" charset="-122"/>
                <a:cs typeface="Calibri" pitchFamily="34" charset="-120"/>
              </a:rPr>
              <a:t>A visual critic inspects every frame against the locks and the family's must-not-show list, and re-shoots what fails.</a:t>
            </a:r>
            <a:endParaRPr lang="en-US" sz="1100" dirty="0"/>
          </a:p>
        </p:txBody>
      </p:sp>
      <p:sp>
        <p:nvSpPr>
          <p:cNvPr id="24" name="Shape 22"/>
          <p:cNvSpPr/>
          <p:nvPr/>
        </p:nvSpPr>
        <p:spPr>
          <a:xfrm>
            <a:off x="9464040" y="2011680"/>
            <a:ext cx="2011680" cy="3108960"/>
          </a:xfrm>
          <a:prstGeom prst="roundRect">
            <a:avLst>
              <a:gd name="adj" fmla="val 5455"/>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25" name="Shape 23"/>
          <p:cNvSpPr/>
          <p:nvPr/>
        </p:nvSpPr>
        <p:spPr>
          <a:xfrm>
            <a:off x="9720072" y="2286000"/>
            <a:ext cx="457200" cy="457200"/>
          </a:xfrm>
          <a:prstGeom prst="ellipse">
            <a:avLst/>
          </a:prstGeom>
          <a:solidFill>
            <a:srgbClr val="C2603E"/>
          </a:solidFill>
          <a:ln w="12700">
            <a:solidFill>
              <a:srgbClr val="C2603E"/>
            </a:solidFill>
            <a:prstDash val="solid"/>
          </a:ln>
        </p:spPr>
      </p:sp>
      <p:sp>
        <p:nvSpPr>
          <p:cNvPr id="26" name="Text 24"/>
          <p:cNvSpPr txBox="1"/>
          <p:nvPr/>
        </p:nvSpPr>
        <p:spPr>
          <a:xfrm>
            <a:off x="9720072" y="2286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txBox="1"/>
          <p:nvPr/>
        </p:nvSpPr>
        <p:spPr>
          <a:xfrm>
            <a:off x="9720072" y="2880360"/>
            <a:ext cx="1554480" cy="365760"/>
          </a:xfrm>
          <a:prstGeom prst="rect">
            <a:avLst/>
          </a:prstGeom>
          <a:noFill/>
          <a:ln/>
        </p:spPr>
        <p:txBody>
          <a:bodyPr wrap="square" lIns="0" tIns="0" rIns="0" bIns="0" rtlCol="0" anchor="ctr"/>
          <a:lstStyle/>
          <a:p>
            <a:pPr indent="0" marL="0">
              <a:buNone/>
            </a:pPr>
            <a:r>
              <a:rPr lang="en-US" sz="1700" b="1" dirty="0">
                <a:solidFill>
                  <a:srgbClr val="24312A"/>
                </a:solidFill>
                <a:latin typeface="Cambria" pitchFamily="34" charset="0"/>
                <a:ea typeface="Cambria" pitchFamily="34" charset="-122"/>
                <a:cs typeface="Cambria" pitchFamily="34" charset="-120"/>
              </a:rPr>
              <a:t>Approve</a:t>
            </a:r>
            <a:endParaRPr lang="en-US" sz="1700" dirty="0"/>
          </a:p>
        </p:txBody>
      </p:sp>
      <p:sp>
        <p:nvSpPr>
          <p:cNvPr id="28" name="Text 26"/>
          <p:cNvSpPr txBox="1"/>
          <p:nvPr/>
        </p:nvSpPr>
        <p:spPr>
          <a:xfrm>
            <a:off x="9720072" y="3291840"/>
            <a:ext cx="1536192" cy="1645920"/>
          </a:xfrm>
          <a:prstGeom prst="rect">
            <a:avLst/>
          </a:prstGeom>
          <a:noFill/>
          <a:ln/>
        </p:spPr>
        <p:txBody>
          <a:bodyPr wrap="square" lIns="0" tIns="0" rIns="0" bIns="0" rtlCol="0" anchor="ctr"/>
          <a:lstStyle/>
          <a:p>
            <a:pPr indent="0" marL="0">
              <a:lnSpc>
                <a:spcPts val="1700"/>
              </a:lnSpc>
              <a:buNone/>
            </a:pPr>
            <a:r>
              <a:rPr lang="en-US" sz="1100" dirty="0">
                <a:solidFill>
                  <a:srgbClr val="6E6A61"/>
                </a:solidFill>
                <a:latin typeface="Calibri" pitchFamily="34" charset="0"/>
                <a:ea typeface="Calibri" pitchFamily="34" charset="-122"/>
                <a:cs typeface="Calibri" pitchFamily="34" charset="-120"/>
              </a:rPr>
              <a:t>The adult sees the flagged frames and approves. Only then is the story unlocked for the child.</a:t>
            </a:r>
            <a:endParaRPr lang="en-US" sz="1100" dirty="0"/>
          </a:p>
        </p:txBody>
      </p:sp>
      <p:sp>
        <p:nvSpPr>
          <p:cNvPr id="29" name="Text 27"/>
          <p:cNvSpPr txBox="1"/>
          <p:nvPr/>
        </p:nvSpPr>
        <p:spPr>
          <a:xfrm>
            <a:off x="685800" y="5394960"/>
            <a:ext cx="10817352" cy="548640"/>
          </a:xfrm>
          <a:prstGeom prst="rect">
            <a:avLst/>
          </a:prstGeom>
          <a:noFill/>
          <a:ln/>
        </p:spPr>
        <p:txBody>
          <a:bodyPr wrap="square" lIns="0" tIns="0" rIns="0" bIns="0" rtlCol="0" anchor="ctr"/>
          <a:lstStyle/>
          <a:p>
            <a:pPr indent="0" marL="0">
              <a:buNone/>
            </a:pPr>
            <a:r>
              <a:rPr lang="en-US" sz="1500" dirty="0">
                <a:solidFill>
                  <a:srgbClr val="24312A"/>
                </a:solidFill>
                <a:latin typeface="Calibri" pitchFamily="34" charset="0"/>
                <a:ea typeface="Calibri" pitchFamily="34" charset="-122"/>
                <a:cs typeface="Calibri" pitchFamily="34" charset="-120"/>
              </a:rPr>
              <a:t>Every finished story carries a certificate: which pictures were checked, what was found, what was re-shot, and who approved it.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789920" cy="256032"/>
          </a:xfrm>
          <a:prstGeom prst="rect">
            <a:avLst/>
          </a:prstGeom>
          <a:noFill/>
          <a:ln/>
        </p:spPr>
        <p:txBody>
          <a:bodyPr wrap="square" lIns="0" tIns="0" rIns="0" bIns="0" rtlCol="0" anchor="ctr"/>
          <a:lstStyle/>
          <a:p>
            <a:pPr indent="0" marL="0">
              <a:buNone/>
            </a:pPr>
            <a:r>
              <a:rPr lang="en-US" sz="1100" b="1" spc="200" kern="0" dirty="0">
                <a:solidFill>
                  <a:srgbClr val="2F7D4F"/>
                </a:solidFill>
                <a:latin typeface="Calibri" pitchFamily="34" charset="0"/>
                <a:ea typeface="Calibri" pitchFamily="34" charset="-122"/>
                <a:cs typeface="Calibri" pitchFamily="34" charset="-120"/>
              </a:rPr>
              <a:t>SAFETY BY DESIGN</a:t>
            </a:r>
            <a:endParaRPr lang="en-US" sz="1100" dirty="0"/>
          </a:p>
        </p:txBody>
      </p:sp>
      <p:sp>
        <p:nvSpPr>
          <p:cNvPr id="3" name="Text 1"/>
          <p:cNvSpPr txBox="1"/>
          <p:nvPr/>
        </p:nvSpPr>
        <p:spPr>
          <a:xfrm>
            <a:off x="685800" y="713232"/>
            <a:ext cx="10789920" cy="1051560"/>
          </a:xfrm>
          <a:prstGeom prst="rect">
            <a:avLst/>
          </a:prstGeom>
          <a:noFill/>
          <a:ln/>
        </p:spPr>
        <p:txBody>
          <a:bodyPr wrap="square" lIns="0" tIns="0" rIns="0" bIns="0" rtlCol="0" anchor="t"/>
          <a:lstStyle/>
          <a:p>
            <a:pPr indent="0" marL="0">
              <a:buNone/>
            </a:pPr>
            <a:r>
              <a:rPr lang="en-US" sz="3400" b="1" dirty="0">
                <a:solidFill>
                  <a:srgbClr val="24312A"/>
                </a:solidFill>
                <a:latin typeface="Cambria" pitchFamily="34" charset="0"/>
                <a:ea typeface="Cambria" pitchFamily="34" charset="-122"/>
                <a:cs typeface="Cambria" pitchFamily="34" charset="-120"/>
              </a:rPr>
              <a:t>A story a child will trust has to be true</a:t>
            </a:r>
            <a:endParaRPr lang="en-US" sz="3400" dirty="0"/>
          </a:p>
        </p:txBody>
      </p:sp>
      <p:sp>
        <p:nvSpPr>
          <p:cNvPr id="4" name="Shape 2"/>
          <p:cNvSpPr/>
          <p:nvPr/>
        </p:nvSpPr>
        <p:spPr>
          <a:xfrm>
            <a:off x="685800" y="1920240"/>
            <a:ext cx="5285232" cy="1874520"/>
          </a:xfrm>
          <a:prstGeom prst="roundRect">
            <a:avLst>
              <a:gd name="adj" fmla="val 5854"/>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5" name="Shape 3"/>
          <p:cNvSpPr/>
          <p:nvPr/>
        </p:nvSpPr>
        <p:spPr>
          <a:xfrm>
            <a:off x="1069848" y="2267712"/>
            <a:ext cx="310896" cy="310896"/>
          </a:xfrm>
          <a:prstGeom prst="ellipse">
            <a:avLst/>
          </a:prstGeom>
          <a:solidFill>
            <a:srgbClr val="2F7D4F"/>
          </a:solidFill>
          <a:ln w="12700">
            <a:solidFill>
              <a:srgbClr val="2F7D4F"/>
            </a:solidFill>
            <a:prstDash val="solid"/>
          </a:ln>
        </p:spPr>
      </p:sp>
      <p:sp>
        <p:nvSpPr>
          <p:cNvPr id="6" name="Text 4"/>
          <p:cNvSpPr txBox="1"/>
          <p:nvPr/>
        </p:nvSpPr>
        <p:spPr>
          <a:xfrm>
            <a:off x="1581912" y="2221992"/>
            <a:ext cx="4114800" cy="411480"/>
          </a:xfrm>
          <a:prstGeom prst="rect">
            <a:avLst/>
          </a:prstGeom>
          <a:noFill/>
          <a:ln/>
        </p:spPr>
        <p:txBody>
          <a:bodyPr wrap="square" lIns="0" tIns="0" rIns="0" bIns="0" rtlCol="0" anchor="ctr"/>
          <a:lstStyle/>
          <a:p>
            <a:pPr indent="0" marL="0">
              <a:buNone/>
            </a:pPr>
            <a:r>
              <a:rPr lang="en-US" sz="1800" b="1" dirty="0">
                <a:solidFill>
                  <a:srgbClr val="24312A"/>
                </a:solidFill>
                <a:latin typeface="Cambria" pitchFamily="34" charset="0"/>
                <a:ea typeface="Cambria" pitchFamily="34" charset="-122"/>
                <a:cs typeface="Cambria" pitchFamily="34" charset="-120"/>
              </a:rPr>
              <a:t>The words are never changed</a:t>
            </a:r>
            <a:endParaRPr lang="en-US" sz="1800" dirty="0"/>
          </a:p>
        </p:txBody>
      </p:sp>
      <p:sp>
        <p:nvSpPr>
          <p:cNvPr id="7" name="Text 5"/>
          <p:cNvSpPr txBox="1"/>
          <p:nvPr/>
        </p:nvSpPr>
        <p:spPr>
          <a:xfrm>
            <a:off x="1581912" y="2697480"/>
            <a:ext cx="4114800" cy="914400"/>
          </a:xfrm>
          <a:prstGeom prst="rect">
            <a:avLst/>
          </a:prstGeom>
          <a:noFill/>
          <a:ln/>
        </p:spPr>
        <p:txBody>
          <a:bodyPr wrap="square" lIns="0" tIns="0" rIns="0" bIns="0" rtlCol="0" anchor="ctr"/>
          <a:lstStyle/>
          <a:p>
            <a:pPr indent="0" marL="0">
              <a:lnSpc>
                <a:spcPts val="1900"/>
              </a:lnSpc>
              <a:buNone/>
            </a:pPr>
            <a:r>
              <a:rPr lang="en-US" sz="1250" dirty="0">
                <a:solidFill>
                  <a:srgbClr val="6E6A61"/>
                </a:solidFill>
                <a:latin typeface="Calibri" pitchFamily="34" charset="0"/>
                <a:ea typeface="Calibri" pitchFamily="34" charset="-122"/>
                <a:cs typeface="Calibri" pitchFamily="34" charset="-120"/>
              </a:rPr>
              <a:t>The model composes pictures. It does not rewrite what the parent promised will happen — a story that over-promises is worse than no story.</a:t>
            </a:r>
            <a:endParaRPr lang="en-US" sz="1250" dirty="0"/>
          </a:p>
        </p:txBody>
      </p:sp>
      <p:sp>
        <p:nvSpPr>
          <p:cNvPr id="8" name="Shape 6"/>
          <p:cNvSpPr/>
          <p:nvPr/>
        </p:nvSpPr>
        <p:spPr>
          <a:xfrm>
            <a:off x="6217920" y="1920240"/>
            <a:ext cx="5285232" cy="1874520"/>
          </a:xfrm>
          <a:prstGeom prst="roundRect">
            <a:avLst>
              <a:gd name="adj" fmla="val 5854"/>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9" name="Shape 7"/>
          <p:cNvSpPr/>
          <p:nvPr/>
        </p:nvSpPr>
        <p:spPr>
          <a:xfrm>
            <a:off x="6601968" y="2267712"/>
            <a:ext cx="310896" cy="310896"/>
          </a:xfrm>
          <a:prstGeom prst="ellipse">
            <a:avLst/>
          </a:prstGeom>
          <a:solidFill>
            <a:srgbClr val="2F7D4F"/>
          </a:solidFill>
          <a:ln w="12700">
            <a:solidFill>
              <a:srgbClr val="2F7D4F"/>
            </a:solidFill>
            <a:prstDash val="solid"/>
          </a:ln>
        </p:spPr>
      </p:sp>
      <p:sp>
        <p:nvSpPr>
          <p:cNvPr id="10" name="Text 8"/>
          <p:cNvSpPr txBox="1"/>
          <p:nvPr/>
        </p:nvSpPr>
        <p:spPr>
          <a:xfrm>
            <a:off x="7114032" y="2221992"/>
            <a:ext cx="4114800" cy="411480"/>
          </a:xfrm>
          <a:prstGeom prst="rect">
            <a:avLst/>
          </a:prstGeom>
          <a:noFill/>
          <a:ln/>
        </p:spPr>
        <p:txBody>
          <a:bodyPr wrap="square" lIns="0" tIns="0" rIns="0" bIns="0" rtlCol="0" anchor="ctr"/>
          <a:lstStyle/>
          <a:p>
            <a:pPr indent="0" marL="0">
              <a:buNone/>
            </a:pPr>
            <a:r>
              <a:rPr lang="en-US" sz="1800" b="1" dirty="0">
                <a:solidFill>
                  <a:srgbClr val="24312A"/>
                </a:solidFill>
                <a:latin typeface="Cambria" pitchFamily="34" charset="0"/>
                <a:ea typeface="Cambria" pitchFamily="34" charset="-122"/>
                <a:cs typeface="Cambria" pitchFamily="34" charset="-120"/>
              </a:rPr>
              <a:t>The child stays the same child</a:t>
            </a:r>
            <a:endParaRPr lang="en-US" sz="1800" dirty="0"/>
          </a:p>
        </p:txBody>
      </p:sp>
      <p:sp>
        <p:nvSpPr>
          <p:cNvPr id="11" name="Text 9"/>
          <p:cNvSpPr txBox="1"/>
          <p:nvPr/>
        </p:nvSpPr>
        <p:spPr>
          <a:xfrm>
            <a:off x="7114032" y="2697480"/>
            <a:ext cx="4114800" cy="914400"/>
          </a:xfrm>
          <a:prstGeom prst="rect">
            <a:avLst/>
          </a:prstGeom>
          <a:noFill/>
          <a:ln/>
        </p:spPr>
        <p:txBody>
          <a:bodyPr wrap="square" lIns="0" tIns="0" rIns="0" bIns="0" rtlCol="0" anchor="ctr"/>
          <a:lstStyle/>
          <a:p>
            <a:pPr indent="0" marL="0">
              <a:lnSpc>
                <a:spcPts val="1900"/>
              </a:lnSpc>
              <a:buNone/>
            </a:pPr>
            <a:r>
              <a:rPr lang="en-US" sz="1250" dirty="0">
                <a:solidFill>
                  <a:srgbClr val="6E6A61"/>
                </a:solidFill>
                <a:latin typeface="Calibri" pitchFamily="34" charset="0"/>
                <a:ea typeface="Calibri" pitchFamily="34" charset="-122"/>
                <a:cs typeface="Calibri" pitchFamily="34" charset="-120"/>
              </a:rPr>
              <a:t>Face, hair, clothes and comfort items are locked across every picture and every story, so the child recognises themselves.</a:t>
            </a:r>
            <a:endParaRPr lang="en-US" sz="1250" dirty="0"/>
          </a:p>
        </p:txBody>
      </p:sp>
      <p:sp>
        <p:nvSpPr>
          <p:cNvPr id="12" name="Shape 10"/>
          <p:cNvSpPr/>
          <p:nvPr/>
        </p:nvSpPr>
        <p:spPr>
          <a:xfrm>
            <a:off x="685800" y="3977640"/>
            <a:ext cx="5285232" cy="1874520"/>
          </a:xfrm>
          <a:prstGeom prst="roundRect">
            <a:avLst>
              <a:gd name="adj" fmla="val 5854"/>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13" name="Shape 11"/>
          <p:cNvSpPr/>
          <p:nvPr/>
        </p:nvSpPr>
        <p:spPr>
          <a:xfrm>
            <a:off x="1069848" y="4325112"/>
            <a:ext cx="310896" cy="310896"/>
          </a:xfrm>
          <a:prstGeom prst="ellipse">
            <a:avLst/>
          </a:prstGeom>
          <a:solidFill>
            <a:srgbClr val="2F7D4F"/>
          </a:solidFill>
          <a:ln w="12700">
            <a:solidFill>
              <a:srgbClr val="2F7D4F"/>
            </a:solidFill>
            <a:prstDash val="solid"/>
          </a:ln>
        </p:spPr>
      </p:sp>
      <p:sp>
        <p:nvSpPr>
          <p:cNvPr id="14" name="Text 12"/>
          <p:cNvSpPr txBox="1"/>
          <p:nvPr/>
        </p:nvSpPr>
        <p:spPr>
          <a:xfrm>
            <a:off x="1581912" y="4279392"/>
            <a:ext cx="4114800" cy="411480"/>
          </a:xfrm>
          <a:prstGeom prst="rect">
            <a:avLst/>
          </a:prstGeom>
          <a:noFill/>
          <a:ln/>
        </p:spPr>
        <p:txBody>
          <a:bodyPr wrap="square" lIns="0" tIns="0" rIns="0" bIns="0" rtlCol="0" anchor="ctr"/>
          <a:lstStyle/>
          <a:p>
            <a:pPr indent="0" marL="0">
              <a:buNone/>
            </a:pPr>
            <a:r>
              <a:rPr lang="en-US" sz="1800" b="1" dirty="0">
                <a:solidFill>
                  <a:srgbClr val="24312A"/>
                </a:solidFill>
                <a:latin typeface="Cambria" pitchFamily="34" charset="0"/>
                <a:ea typeface="Cambria" pitchFamily="34" charset="-122"/>
                <a:cs typeface="Cambria" pitchFamily="34" charset="-120"/>
              </a:rPr>
              <a:t>A must-not-show list</a:t>
            </a:r>
            <a:endParaRPr lang="en-US" sz="1800" dirty="0"/>
          </a:p>
        </p:txBody>
      </p:sp>
      <p:sp>
        <p:nvSpPr>
          <p:cNvPr id="15" name="Text 13"/>
          <p:cNvSpPr txBox="1"/>
          <p:nvPr/>
        </p:nvSpPr>
        <p:spPr>
          <a:xfrm>
            <a:off x="1581912" y="4754880"/>
            <a:ext cx="4114800" cy="914400"/>
          </a:xfrm>
          <a:prstGeom prst="rect">
            <a:avLst/>
          </a:prstGeom>
          <a:noFill/>
          <a:ln/>
        </p:spPr>
        <p:txBody>
          <a:bodyPr wrap="square" lIns="0" tIns="0" rIns="0" bIns="0" rtlCol="0" anchor="ctr"/>
          <a:lstStyle/>
          <a:p>
            <a:pPr indent="0" marL="0">
              <a:lnSpc>
                <a:spcPts val="1900"/>
              </a:lnSpc>
              <a:buNone/>
            </a:pPr>
            <a:r>
              <a:rPr lang="en-US" sz="1250" dirty="0">
                <a:solidFill>
                  <a:srgbClr val="6E6A61"/>
                </a:solidFill>
                <a:latin typeface="Calibri" pitchFamily="34" charset="0"/>
                <a:ea typeface="Calibri" pitchFamily="34" charset="-122"/>
                <a:cs typeface="Calibri" pitchFamily="34" charset="-120"/>
              </a:rPr>
              <a:t>Families name what must never appear — a needle, a drill, a crowd. Anything that slips through is caught and re-shot.</a:t>
            </a:r>
            <a:endParaRPr lang="en-US" sz="1250" dirty="0"/>
          </a:p>
        </p:txBody>
      </p:sp>
      <p:sp>
        <p:nvSpPr>
          <p:cNvPr id="16" name="Shape 14"/>
          <p:cNvSpPr/>
          <p:nvPr/>
        </p:nvSpPr>
        <p:spPr>
          <a:xfrm>
            <a:off x="6217920" y="3977640"/>
            <a:ext cx="5285232" cy="1874520"/>
          </a:xfrm>
          <a:prstGeom prst="roundRect">
            <a:avLst>
              <a:gd name="adj" fmla="val 5854"/>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17" name="Shape 15"/>
          <p:cNvSpPr/>
          <p:nvPr/>
        </p:nvSpPr>
        <p:spPr>
          <a:xfrm>
            <a:off x="6601968" y="4325112"/>
            <a:ext cx="310896" cy="310896"/>
          </a:xfrm>
          <a:prstGeom prst="ellipse">
            <a:avLst/>
          </a:prstGeom>
          <a:solidFill>
            <a:srgbClr val="2F7D4F"/>
          </a:solidFill>
          <a:ln w="12700">
            <a:solidFill>
              <a:srgbClr val="2F7D4F"/>
            </a:solidFill>
            <a:prstDash val="solid"/>
          </a:ln>
        </p:spPr>
      </p:sp>
      <p:sp>
        <p:nvSpPr>
          <p:cNvPr id="18" name="Text 16"/>
          <p:cNvSpPr txBox="1"/>
          <p:nvPr/>
        </p:nvSpPr>
        <p:spPr>
          <a:xfrm>
            <a:off x="7114032" y="4279392"/>
            <a:ext cx="4114800" cy="411480"/>
          </a:xfrm>
          <a:prstGeom prst="rect">
            <a:avLst/>
          </a:prstGeom>
          <a:noFill/>
          <a:ln/>
        </p:spPr>
        <p:txBody>
          <a:bodyPr wrap="square" lIns="0" tIns="0" rIns="0" bIns="0" rtlCol="0" anchor="ctr"/>
          <a:lstStyle/>
          <a:p>
            <a:pPr indent="0" marL="0">
              <a:buNone/>
            </a:pPr>
            <a:r>
              <a:rPr lang="en-US" sz="1800" b="1" dirty="0">
                <a:solidFill>
                  <a:srgbClr val="24312A"/>
                </a:solidFill>
                <a:latin typeface="Cambria" pitchFamily="34" charset="0"/>
                <a:ea typeface="Cambria" pitchFamily="34" charset="-122"/>
                <a:cs typeface="Cambria" pitchFamily="34" charset="-120"/>
              </a:rPr>
              <a:t>An adult approves first</a:t>
            </a:r>
            <a:endParaRPr lang="en-US" sz="1800" dirty="0"/>
          </a:p>
        </p:txBody>
      </p:sp>
      <p:sp>
        <p:nvSpPr>
          <p:cNvPr id="19" name="Text 17"/>
          <p:cNvSpPr txBox="1"/>
          <p:nvPr/>
        </p:nvSpPr>
        <p:spPr>
          <a:xfrm>
            <a:off x="7114032" y="4754880"/>
            <a:ext cx="4114800" cy="914400"/>
          </a:xfrm>
          <a:prstGeom prst="rect">
            <a:avLst/>
          </a:prstGeom>
          <a:noFill/>
          <a:ln/>
        </p:spPr>
        <p:txBody>
          <a:bodyPr wrap="square" lIns="0" tIns="0" rIns="0" bIns="0" rtlCol="0" anchor="ctr"/>
          <a:lstStyle/>
          <a:p>
            <a:pPr indent="0" marL="0">
              <a:lnSpc>
                <a:spcPts val="1900"/>
              </a:lnSpc>
              <a:buNone/>
            </a:pPr>
            <a:r>
              <a:rPr lang="en-US" sz="1250" dirty="0">
                <a:solidFill>
                  <a:srgbClr val="6E6A61"/>
                </a:solidFill>
                <a:latin typeface="Calibri" pitchFamily="34" charset="0"/>
                <a:ea typeface="Calibri" pitchFamily="34" charset="-122"/>
                <a:cs typeface="Calibri" pitchFamily="34" charset="-120"/>
              </a:rPr>
              <a:t>Nothing reaches the child until a person has looked at the flagged frames and said yes.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789920" cy="256032"/>
          </a:xfrm>
          <a:prstGeom prst="rect">
            <a:avLst/>
          </a:prstGeom>
          <a:noFill/>
          <a:ln/>
        </p:spPr>
        <p:txBody>
          <a:bodyPr wrap="square" lIns="0" tIns="0" rIns="0" bIns="0" rtlCol="0" anchor="ctr"/>
          <a:lstStyle/>
          <a:p>
            <a:pPr indent="0" marL="0">
              <a:buNone/>
            </a:pPr>
            <a:r>
              <a:rPr lang="en-US" sz="1100" b="1" spc="200" kern="0" dirty="0">
                <a:solidFill>
                  <a:srgbClr val="2F7D4F"/>
                </a:solidFill>
                <a:latin typeface="Calibri" pitchFamily="34" charset="0"/>
                <a:ea typeface="Calibri" pitchFamily="34" charset="-122"/>
                <a:cs typeface="Calibri" pitchFamily="34" charset="-120"/>
              </a:rPr>
              <a:t>MEMORY</a:t>
            </a:r>
            <a:endParaRPr lang="en-US" sz="1100" dirty="0"/>
          </a:p>
        </p:txBody>
      </p:sp>
      <p:sp>
        <p:nvSpPr>
          <p:cNvPr id="3" name="Text 1"/>
          <p:cNvSpPr txBox="1"/>
          <p:nvPr/>
        </p:nvSpPr>
        <p:spPr>
          <a:xfrm>
            <a:off x="685800" y="713232"/>
            <a:ext cx="10789920" cy="1051560"/>
          </a:xfrm>
          <a:prstGeom prst="rect">
            <a:avLst/>
          </a:prstGeom>
          <a:noFill/>
          <a:ln/>
        </p:spPr>
        <p:txBody>
          <a:bodyPr wrap="square" lIns="0" tIns="0" rIns="0" bIns="0" rtlCol="0" anchor="t"/>
          <a:lstStyle/>
          <a:p>
            <a:pPr indent="0" marL="0">
              <a:buNone/>
            </a:pPr>
            <a:r>
              <a:rPr lang="en-US" sz="3400" b="1" dirty="0">
                <a:solidFill>
                  <a:srgbClr val="24312A"/>
                </a:solidFill>
                <a:latin typeface="Cambria" pitchFamily="34" charset="0"/>
                <a:ea typeface="Cambria" pitchFamily="34" charset="-122"/>
                <a:cs typeface="Cambria" pitchFamily="34" charset="-120"/>
              </a:rPr>
              <a:t>The second story is easier than the first</a:t>
            </a:r>
            <a:endParaRPr lang="en-US" sz="3400" dirty="0"/>
          </a:p>
        </p:txBody>
      </p:sp>
      <p:sp>
        <p:nvSpPr>
          <p:cNvPr id="4" name="Shape 2"/>
          <p:cNvSpPr/>
          <p:nvPr/>
        </p:nvSpPr>
        <p:spPr>
          <a:xfrm>
            <a:off x="685800" y="1920240"/>
            <a:ext cx="5285232" cy="3931920"/>
          </a:xfrm>
          <a:prstGeom prst="roundRect">
            <a:avLst>
              <a:gd name="adj" fmla="val 2791"/>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5" name="Text 3"/>
          <p:cNvSpPr txBox="1"/>
          <p:nvPr/>
        </p:nvSpPr>
        <p:spPr>
          <a:xfrm>
            <a:off x="1097280" y="2194560"/>
            <a:ext cx="4480560" cy="411480"/>
          </a:xfrm>
          <a:prstGeom prst="rect">
            <a:avLst/>
          </a:prstGeom>
          <a:noFill/>
          <a:ln/>
        </p:spPr>
        <p:txBody>
          <a:bodyPr wrap="square" lIns="0" tIns="0" rIns="0" bIns="0" rtlCol="0" anchor="ctr"/>
          <a:lstStyle/>
          <a:p>
            <a:pPr indent="0" marL="0">
              <a:buNone/>
            </a:pPr>
            <a:r>
              <a:rPr lang="en-US" sz="2000" b="1" dirty="0">
                <a:solidFill>
                  <a:srgbClr val="24312A"/>
                </a:solidFill>
                <a:latin typeface="Cambria" pitchFamily="34" charset="0"/>
                <a:ea typeface="Cambria" pitchFamily="34" charset="-122"/>
                <a:cs typeface="Cambria" pitchFamily="34" charset="-120"/>
              </a:rPr>
              <a:t>What the app remembers</a:t>
            </a:r>
            <a:endParaRPr lang="en-US" sz="2000" dirty="0"/>
          </a:p>
        </p:txBody>
      </p:sp>
      <p:sp>
        <p:nvSpPr>
          <p:cNvPr id="6" name="Text 4"/>
          <p:cNvSpPr txBox="1"/>
          <p:nvPr/>
        </p:nvSpPr>
        <p:spPr>
          <a:xfrm>
            <a:off x="1097280" y="2697480"/>
            <a:ext cx="4480560" cy="2834640"/>
          </a:xfrm>
          <a:prstGeom prst="rect">
            <a:avLst/>
          </a:prstGeom>
          <a:noFill/>
          <a:ln/>
        </p:spPr>
        <p:txBody>
          <a:bodyPr wrap="square" lIns="0" tIns="0" rIns="0" bIns="0" rtlCol="0" anchor="ctr"/>
          <a:lstStyle/>
          <a:p>
            <a:pPr marL="342900" indent="-342900">
              <a:lnSpc>
                <a:spcPts val="2200"/>
              </a:lnSpc>
              <a:spcAft>
                <a:spcPts val="1000"/>
              </a:spcAft>
              <a:buSzPct val="100000"/>
              <a:buChar char="•"/>
            </a:pPr>
            <a:r>
              <a:rPr lang="en-US" sz="1350" dirty="0">
                <a:solidFill>
                  <a:srgbClr val="24312A"/>
                </a:solidFill>
                <a:latin typeface="Calibri" pitchFamily="34" charset="0"/>
                <a:ea typeface="Calibri" pitchFamily="34" charset="-122"/>
                <a:cs typeface="Calibri" pitchFamily="34" charset="-120"/>
              </a:rPr>
              <a:t>The child's look, clothes and comfort items</a:t>
            </a:r>
            <a:endParaRPr lang="en-US" sz="1350" dirty="0"/>
          </a:p>
          <a:p>
            <a:pPr marL="342900" indent="-342900">
              <a:lnSpc>
                <a:spcPts val="2200"/>
              </a:lnSpc>
              <a:spcAft>
                <a:spcPts val="1000"/>
              </a:spcAft>
              <a:buSzPct val="100000"/>
              <a:buChar char="•"/>
            </a:pPr>
            <a:r>
              <a:rPr lang="en-US" sz="1350" dirty="0">
                <a:solidFill>
                  <a:srgbClr val="24312A"/>
                </a:solidFill>
                <a:latin typeface="Calibri" pitchFamily="34" charset="0"/>
                <a:ea typeface="Calibri" pitchFamily="34" charset="-122"/>
                <a:cs typeface="Calibri" pitchFamily="34" charset="-120"/>
              </a:rPr>
              <a:t>Places they have already been — the real dentist's door, the real classroom</a:t>
            </a:r>
            <a:endParaRPr lang="en-US" sz="1350" dirty="0"/>
          </a:p>
          <a:p>
            <a:pPr marL="342900" indent="-342900">
              <a:lnSpc>
                <a:spcPts val="2200"/>
              </a:lnSpc>
              <a:spcAft>
                <a:spcPts val="1000"/>
              </a:spcAft>
              <a:buSzPct val="100000"/>
              <a:buChar char="•"/>
            </a:pPr>
            <a:r>
              <a:rPr lang="en-US" sz="1350" dirty="0">
                <a:solidFill>
                  <a:srgbClr val="24312A"/>
                </a:solidFill>
                <a:latin typeface="Calibri" pitchFamily="34" charset="0"/>
                <a:ea typeface="Calibri" pitchFamily="34" charset="-122"/>
                <a:cs typeface="Calibri" pitchFamily="34" charset="-120"/>
              </a:rPr>
              <a:t>Their sensory profile: sound, brightness, motion</a:t>
            </a:r>
            <a:endParaRPr lang="en-US" sz="1350" dirty="0"/>
          </a:p>
          <a:p>
            <a:pPr marL="342900" indent="-342900">
              <a:lnSpc>
                <a:spcPts val="2200"/>
              </a:lnSpc>
              <a:spcAft>
                <a:spcPts val="1000"/>
              </a:spcAft>
              <a:buSzPct val="100000"/>
              <a:buChar char="•"/>
            </a:pPr>
            <a:r>
              <a:rPr lang="en-US" sz="1350" dirty="0">
                <a:solidFill>
                  <a:srgbClr val="24312A"/>
                </a:solidFill>
                <a:latin typeface="Calibri" pitchFamily="34" charset="0"/>
                <a:ea typeface="Calibri" pitchFamily="34" charset="-122"/>
                <a:cs typeface="Calibri" pitchFamily="34" charset="-120"/>
              </a:rPr>
              <a:t>How each real visit actually went, recorded by the adult afterwards</a:t>
            </a:r>
            <a:endParaRPr lang="en-US" sz="1350" dirty="0"/>
          </a:p>
        </p:txBody>
      </p:sp>
      <p:sp>
        <p:nvSpPr>
          <p:cNvPr id="7" name="Text 5"/>
          <p:cNvSpPr txBox="1"/>
          <p:nvPr/>
        </p:nvSpPr>
        <p:spPr>
          <a:xfrm>
            <a:off x="6492240" y="2011680"/>
            <a:ext cx="5029200" cy="411480"/>
          </a:xfrm>
          <a:prstGeom prst="rect">
            <a:avLst/>
          </a:prstGeom>
          <a:noFill/>
          <a:ln/>
        </p:spPr>
        <p:txBody>
          <a:bodyPr wrap="square" lIns="0" tIns="0" rIns="0" bIns="0" rtlCol="0" anchor="ctr"/>
          <a:lstStyle/>
          <a:p>
            <a:pPr indent="0" marL="0">
              <a:buNone/>
            </a:pPr>
            <a:r>
              <a:rPr lang="en-US" sz="2000" b="1" dirty="0">
                <a:solidFill>
                  <a:srgbClr val="24312A"/>
                </a:solidFill>
                <a:latin typeface="Cambria" pitchFamily="34" charset="0"/>
                <a:ea typeface="Cambria" pitchFamily="34" charset="-122"/>
                <a:cs typeface="Cambria" pitchFamily="34" charset="-120"/>
              </a:rPr>
              <a:t>Why that matters</a:t>
            </a:r>
            <a:endParaRPr lang="en-US" sz="2000" dirty="0"/>
          </a:p>
        </p:txBody>
      </p:sp>
      <p:sp>
        <p:nvSpPr>
          <p:cNvPr id="8" name="Text 6"/>
          <p:cNvSpPr txBox="1"/>
          <p:nvPr/>
        </p:nvSpPr>
        <p:spPr>
          <a:xfrm>
            <a:off x="6492240" y="2560320"/>
            <a:ext cx="5029200" cy="2194560"/>
          </a:xfrm>
          <a:prstGeom prst="rect">
            <a:avLst/>
          </a:prstGeom>
          <a:noFill/>
          <a:ln/>
        </p:spPr>
        <p:txBody>
          <a:bodyPr wrap="square" lIns="0" tIns="0" rIns="0" bIns="0" rtlCol="0" anchor="ctr"/>
          <a:lstStyle/>
          <a:p>
            <a:pPr indent="0" marL="0">
              <a:lnSpc>
                <a:spcPts val="2400"/>
              </a:lnSpc>
              <a:buNone/>
            </a:pPr>
            <a:r>
              <a:rPr lang="en-US" sz="1400" dirty="0">
                <a:solidFill>
                  <a:srgbClr val="6E6A61"/>
                </a:solidFill>
                <a:latin typeface="Calibri" pitchFamily="34" charset="0"/>
                <a:ea typeface="Calibri" pitchFamily="34" charset="-122"/>
                <a:cs typeface="Calibri" pitchFamily="34" charset="-120"/>
              </a:rPr>
              <a:t>The first story takes a few minutes of setup. The tenth takes a sentence, because the child, their world and what has already worked are all still there.</a:t>
            </a:r>
            <a:endParaRPr lang="en-US" sz="1400" dirty="0"/>
          </a:p>
          <a:p>
            <a:pPr indent="0" marL="0">
              <a:lnSpc>
                <a:spcPts val="2400"/>
              </a:lnSpc>
              <a:buNone/>
            </a:pPr>
            <a:endParaRPr lang="en-US" sz="1400" dirty="0"/>
          </a:p>
          <a:p>
            <a:pPr indent="0" marL="0">
              <a:lnSpc>
                <a:spcPts val="2400"/>
              </a:lnSpc>
              <a:buNone/>
            </a:pPr>
            <a:r>
              <a:rPr lang="en-US" sz="1400" dirty="0">
                <a:solidFill>
                  <a:srgbClr val="6E6A61"/>
                </a:solidFill>
                <a:latin typeface="Calibri" pitchFamily="34" charset="0"/>
                <a:ea typeface="Calibri" pitchFamily="34" charset="-122"/>
                <a:cs typeface="Calibri" pitchFamily="34" charset="-120"/>
              </a:rPr>
              <a:t>And when a parent says the waiting room was the hard part, the next story spends more time in the waiting room. The tool gets better at this particular child.</a:t>
            </a:r>
            <a:endParaRPr lang="en-US" sz="1400" dirty="0"/>
          </a:p>
        </p:txBody>
      </p:sp>
      <p:sp>
        <p:nvSpPr>
          <p:cNvPr id="9" name="Shape 7"/>
          <p:cNvSpPr/>
          <p:nvPr/>
        </p:nvSpPr>
        <p:spPr>
          <a:xfrm>
            <a:off x="6492240" y="4892040"/>
            <a:ext cx="5029200" cy="960120"/>
          </a:xfrm>
          <a:prstGeom prst="roundRect">
            <a:avLst>
              <a:gd name="adj" fmla="val 11429"/>
            </a:avLst>
          </a:prstGeom>
          <a:solidFill>
            <a:srgbClr val="EAF1EB"/>
          </a:solidFill>
          <a:ln w="12700">
            <a:solidFill>
              <a:srgbClr val="EAF1EB"/>
            </a:solidFill>
            <a:prstDash val="solid"/>
          </a:ln>
          <a:effectLst>
            <a:outerShdw sx="100000" sy="100000" kx="0" ky="0" algn="bl" rotWithShape="0" blurRad="127000" dist="25400" dir="5400000">
              <a:srgbClr val="8A8578">
                <a:alpha val="18000"/>
              </a:srgbClr>
            </a:outerShdw>
          </a:effectLst>
        </p:spPr>
      </p:sp>
      <p:sp>
        <p:nvSpPr>
          <p:cNvPr id="10" name="Text 8"/>
          <p:cNvSpPr txBox="1"/>
          <p:nvPr/>
        </p:nvSpPr>
        <p:spPr>
          <a:xfrm>
            <a:off x="6812280" y="5029200"/>
            <a:ext cx="4480560" cy="685800"/>
          </a:xfrm>
          <a:prstGeom prst="rect">
            <a:avLst/>
          </a:prstGeom>
          <a:noFill/>
          <a:ln/>
        </p:spPr>
        <p:txBody>
          <a:bodyPr wrap="square" lIns="0" tIns="0" rIns="0" bIns="0" rtlCol="0" anchor="ctr"/>
          <a:lstStyle/>
          <a:p>
            <a:pPr indent="0" marL="0">
              <a:buNone/>
            </a:pPr>
            <a:r>
              <a:rPr lang="en-US" sz="1350" b="1" dirty="0">
                <a:solidFill>
                  <a:srgbClr val="215B39"/>
                </a:solidFill>
                <a:latin typeface="Calibri" pitchFamily="34" charset="0"/>
                <a:ea typeface="Calibri" pitchFamily="34" charset="-122"/>
                <a:cs typeface="Calibri" pitchFamily="34" charset="-120"/>
              </a:rPr>
              <a:t>Profiles, outcomes and every generation event are stored in ClickHouse.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23"/>
        </a:solidFill>
      </p:bgPr>
    </p:bg>
    <p:spTree>
      <p:nvGrpSpPr>
        <p:cNvPr id="1" name=""/>
        <p:cNvGrpSpPr/>
        <p:nvPr/>
      </p:nvGrpSpPr>
      <p:grpSpPr>
        <a:xfrm>
          <a:off x="0" y="0"/>
          <a:ext cx="0" cy="0"/>
          <a:chOff x="0" y="0"/>
          <a:chExt cx="0" cy="0"/>
        </a:xfrm>
      </p:grpSpPr>
      <p:sp>
        <p:nvSpPr>
          <p:cNvPr id="2" name="Text 0"/>
          <p:cNvSpPr txBox="1"/>
          <p:nvPr/>
        </p:nvSpPr>
        <p:spPr>
          <a:xfrm>
            <a:off x="685800" y="548640"/>
            <a:ext cx="7315200" cy="274320"/>
          </a:xfrm>
          <a:prstGeom prst="rect">
            <a:avLst/>
          </a:prstGeom>
          <a:noFill/>
          <a:ln/>
        </p:spPr>
        <p:txBody>
          <a:bodyPr wrap="square" lIns="0" tIns="0" rIns="0" bIns="0" rtlCol="0" anchor="ctr"/>
          <a:lstStyle/>
          <a:p>
            <a:pPr indent="0" marL="0">
              <a:buNone/>
            </a:pPr>
            <a:r>
              <a:rPr lang="en-US" sz="1100" b="1" spc="200" kern="0" dirty="0">
                <a:solidFill>
                  <a:srgbClr val="2F7D4F"/>
                </a:solidFill>
                <a:latin typeface="Calibri" pitchFamily="34" charset="0"/>
                <a:ea typeface="Calibri" pitchFamily="34" charset="-122"/>
                <a:cs typeface="Calibri" pitchFamily="34" charset="-120"/>
              </a:rPr>
              <a:t>BUILT WITH</a:t>
            </a:r>
            <a:endParaRPr lang="en-US" sz="1100" dirty="0"/>
          </a:p>
        </p:txBody>
      </p:sp>
      <p:sp>
        <p:nvSpPr>
          <p:cNvPr id="3" name="Text 1"/>
          <p:cNvSpPr txBox="1"/>
          <p:nvPr/>
        </p:nvSpPr>
        <p:spPr>
          <a:xfrm>
            <a:off x="685800" y="868680"/>
            <a:ext cx="105156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Real calls, real checks, no mock-ups</a:t>
            </a:r>
            <a:endParaRPr lang="en-US" sz="3400" dirty="0"/>
          </a:p>
        </p:txBody>
      </p:sp>
      <p:sp>
        <p:nvSpPr>
          <p:cNvPr id="4" name="Shape 2"/>
          <p:cNvSpPr/>
          <p:nvPr/>
        </p:nvSpPr>
        <p:spPr>
          <a:xfrm>
            <a:off x="685800" y="1965960"/>
            <a:ext cx="3410712" cy="1828800"/>
          </a:xfrm>
          <a:prstGeom prst="roundRect">
            <a:avLst>
              <a:gd name="adj" fmla="val 6000"/>
            </a:avLst>
          </a:prstGeom>
          <a:solidFill>
            <a:srgbClr val="24352C"/>
          </a:solidFill>
          <a:ln w="12700">
            <a:solidFill>
              <a:srgbClr val="31463A"/>
            </a:solidFill>
            <a:prstDash val="solid"/>
          </a:ln>
        </p:spPr>
      </p:sp>
      <p:sp>
        <p:nvSpPr>
          <p:cNvPr id="5" name="Text 3"/>
          <p:cNvSpPr txBox="1"/>
          <p:nvPr/>
        </p:nvSpPr>
        <p:spPr>
          <a:xfrm>
            <a:off x="1005840" y="2221992"/>
            <a:ext cx="283464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Gemini</a:t>
            </a:r>
            <a:endParaRPr lang="en-US" sz="1900" dirty="0"/>
          </a:p>
        </p:txBody>
      </p:sp>
      <p:sp>
        <p:nvSpPr>
          <p:cNvPr id="6" name="Text 4"/>
          <p:cNvSpPr txBox="1"/>
          <p:nvPr/>
        </p:nvSpPr>
        <p:spPr>
          <a:xfrm>
            <a:off x="1005840" y="2679192"/>
            <a:ext cx="2788920" cy="960120"/>
          </a:xfrm>
          <a:prstGeom prst="rect">
            <a:avLst/>
          </a:prstGeom>
          <a:noFill/>
          <a:ln/>
        </p:spPr>
        <p:txBody>
          <a:bodyPr wrap="square" lIns="0" tIns="0" rIns="0" bIns="0" rtlCol="0" anchor="ctr"/>
          <a:lstStyle/>
          <a:p>
            <a:pPr indent="0" marL="0">
              <a:lnSpc>
                <a:spcPts val="1800"/>
              </a:lnSpc>
              <a:buNone/>
            </a:pPr>
            <a:r>
              <a:rPr lang="en-US" sz="1150" dirty="0">
                <a:solidFill>
                  <a:srgbClr val="A8B3AC"/>
                </a:solidFill>
                <a:latin typeface="Calibri" pitchFamily="34" charset="0"/>
                <a:ea typeface="Calibri" pitchFamily="34" charset="-122"/>
                <a:cs typeface="Calibri" pitchFamily="34" charset="-120"/>
              </a:rPr>
              <a:t>Directs each picture under the locked constraints, writes nothing the parent did not say, and speaks the narration.</a:t>
            </a:r>
            <a:endParaRPr lang="en-US" sz="1150" dirty="0"/>
          </a:p>
        </p:txBody>
      </p:sp>
      <p:sp>
        <p:nvSpPr>
          <p:cNvPr id="7" name="Shape 5"/>
          <p:cNvSpPr/>
          <p:nvPr/>
        </p:nvSpPr>
        <p:spPr>
          <a:xfrm>
            <a:off x="4370832" y="1965960"/>
            <a:ext cx="3410712" cy="1828800"/>
          </a:xfrm>
          <a:prstGeom prst="roundRect">
            <a:avLst>
              <a:gd name="adj" fmla="val 6000"/>
            </a:avLst>
          </a:prstGeom>
          <a:solidFill>
            <a:srgbClr val="24352C"/>
          </a:solidFill>
          <a:ln w="12700">
            <a:solidFill>
              <a:srgbClr val="31463A"/>
            </a:solidFill>
            <a:prstDash val="solid"/>
          </a:ln>
        </p:spPr>
      </p:sp>
      <p:sp>
        <p:nvSpPr>
          <p:cNvPr id="8" name="Text 6"/>
          <p:cNvSpPr txBox="1"/>
          <p:nvPr/>
        </p:nvSpPr>
        <p:spPr>
          <a:xfrm>
            <a:off x="4690872" y="2221992"/>
            <a:ext cx="283464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Veo</a:t>
            </a:r>
            <a:endParaRPr lang="en-US" sz="1900" dirty="0"/>
          </a:p>
        </p:txBody>
      </p:sp>
      <p:sp>
        <p:nvSpPr>
          <p:cNvPr id="9" name="Text 7"/>
          <p:cNvSpPr txBox="1"/>
          <p:nvPr/>
        </p:nvSpPr>
        <p:spPr>
          <a:xfrm>
            <a:off x="4690872" y="2679192"/>
            <a:ext cx="2788920" cy="960120"/>
          </a:xfrm>
          <a:prstGeom prst="rect">
            <a:avLst/>
          </a:prstGeom>
          <a:noFill/>
          <a:ln/>
        </p:spPr>
        <p:txBody>
          <a:bodyPr wrap="square" lIns="0" tIns="0" rIns="0" bIns="0" rtlCol="0" anchor="ctr"/>
          <a:lstStyle/>
          <a:p>
            <a:pPr indent="0" marL="0">
              <a:lnSpc>
                <a:spcPts val="1800"/>
              </a:lnSpc>
              <a:buNone/>
            </a:pPr>
            <a:r>
              <a:rPr lang="en-US" sz="1150" dirty="0">
                <a:solidFill>
                  <a:srgbClr val="A8B3AC"/>
                </a:solidFill>
                <a:latin typeface="Calibri" pitchFamily="34" charset="0"/>
                <a:ea typeface="Calibri" pitchFamily="34" charset="-122"/>
                <a:cs typeface="Calibri" pitchFamily="34" charset="-120"/>
              </a:rPr>
              <a:t>Turns each step of the story into a short moving clip, which are rendered into one film with the voice track.</a:t>
            </a:r>
            <a:endParaRPr lang="en-US" sz="1150" dirty="0"/>
          </a:p>
        </p:txBody>
      </p:sp>
      <p:sp>
        <p:nvSpPr>
          <p:cNvPr id="10" name="Shape 8"/>
          <p:cNvSpPr/>
          <p:nvPr/>
        </p:nvSpPr>
        <p:spPr>
          <a:xfrm>
            <a:off x="8055864" y="1965960"/>
            <a:ext cx="3410712" cy="1828800"/>
          </a:xfrm>
          <a:prstGeom prst="roundRect">
            <a:avLst>
              <a:gd name="adj" fmla="val 6000"/>
            </a:avLst>
          </a:prstGeom>
          <a:solidFill>
            <a:srgbClr val="24352C"/>
          </a:solidFill>
          <a:ln w="12700">
            <a:solidFill>
              <a:srgbClr val="31463A"/>
            </a:solidFill>
            <a:prstDash val="solid"/>
          </a:ln>
        </p:spPr>
      </p:sp>
      <p:sp>
        <p:nvSpPr>
          <p:cNvPr id="11" name="Text 9"/>
          <p:cNvSpPr txBox="1"/>
          <p:nvPr/>
        </p:nvSpPr>
        <p:spPr>
          <a:xfrm>
            <a:off x="8375904" y="2221992"/>
            <a:ext cx="283464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Visual critic</a:t>
            </a:r>
            <a:endParaRPr lang="en-US" sz="1900" dirty="0"/>
          </a:p>
        </p:txBody>
      </p:sp>
      <p:sp>
        <p:nvSpPr>
          <p:cNvPr id="12" name="Text 10"/>
          <p:cNvSpPr txBox="1"/>
          <p:nvPr/>
        </p:nvSpPr>
        <p:spPr>
          <a:xfrm>
            <a:off x="8375904" y="2679192"/>
            <a:ext cx="2788920" cy="960120"/>
          </a:xfrm>
          <a:prstGeom prst="rect">
            <a:avLst/>
          </a:prstGeom>
          <a:noFill/>
          <a:ln/>
        </p:spPr>
        <p:txBody>
          <a:bodyPr wrap="square" lIns="0" tIns="0" rIns="0" bIns="0" rtlCol="0" anchor="ctr"/>
          <a:lstStyle/>
          <a:p>
            <a:pPr indent="0" marL="0">
              <a:lnSpc>
                <a:spcPts val="1800"/>
              </a:lnSpc>
              <a:buNone/>
            </a:pPr>
            <a:r>
              <a:rPr lang="en-US" sz="1150" dirty="0">
                <a:solidFill>
                  <a:srgbClr val="A8B3AC"/>
                </a:solidFill>
                <a:latin typeface="Calibri" pitchFamily="34" charset="0"/>
                <a:ea typeface="Calibri" pitchFamily="34" charset="-122"/>
                <a:cs typeface="Calibri" pitchFamily="34" charset="-120"/>
              </a:rPr>
              <a:t>A second model inspects the generated frames — including the last frame of every clip — against the locks.</a:t>
            </a:r>
            <a:endParaRPr lang="en-US" sz="1150" dirty="0"/>
          </a:p>
        </p:txBody>
      </p:sp>
      <p:sp>
        <p:nvSpPr>
          <p:cNvPr id="13" name="Shape 11"/>
          <p:cNvSpPr/>
          <p:nvPr/>
        </p:nvSpPr>
        <p:spPr>
          <a:xfrm>
            <a:off x="685800" y="4160520"/>
            <a:ext cx="3410712" cy="1828800"/>
          </a:xfrm>
          <a:prstGeom prst="roundRect">
            <a:avLst>
              <a:gd name="adj" fmla="val 6000"/>
            </a:avLst>
          </a:prstGeom>
          <a:solidFill>
            <a:srgbClr val="24352C"/>
          </a:solidFill>
          <a:ln w="12700">
            <a:solidFill>
              <a:srgbClr val="31463A"/>
            </a:solidFill>
            <a:prstDash val="solid"/>
          </a:ln>
        </p:spPr>
      </p:sp>
      <p:sp>
        <p:nvSpPr>
          <p:cNvPr id="14" name="Text 12"/>
          <p:cNvSpPr txBox="1"/>
          <p:nvPr/>
        </p:nvSpPr>
        <p:spPr>
          <a:xfrm>
            <a:off x="1005840" y="4416552"/>
            <a:ext cx="283464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ClickHouse</a:t>
            </a:r>
            <a:endParaRPr lang="en-US" sz="1900" dirty="0"/>
          </a:p>
        </p:txBody>
      </p:sp>
      <p:sp>
        <p:nvSpPr>
          <p:cNvPr id="15" name="Text 13"/>
          <p:cNvSpPr txBox="1"/>
          <p:nvPr/>
        </p:nvSpPr>
        <p:spPr>
          <a:xfrm>
            <a:off x="1005840" y="4873752"/>
            <a:ext cx="2788920" cy="960120"/>
          </a:xfrm>
          <a:prstGeom prst="rect">
            <a:avLst/>
          </a:prstGeom>
          <a:noFill/>
          <a:ln/>
        </p:spPr>
        <p:txBody>
          <a:bodyPr wrap="square" lIns="0" tIns="0" rIns="0" bIns="0" rtlCol="0" anchor="ctr"/>
          <a:lstStyle/>
          <a:p>
            <a:pPr indent="0" marL="0">
              <a:lnSpc>
                <a:spcPts val="1800"/>
              </a:lnSpc>
              <a:buNone/>
            </a:pPr>
            <a:r>
              <a:rPr lang="en-US" sz="1150" dirty="0">
                <a:solidFill>
                  <a:srgbClr val="A8B3AC"/>
                </a:solidFill>
                <a:latin typeface="Calibri" pitchFamily="34" charset="0"/>
                <a:ea typeface="Calibri" pitchFamily="34" charset="-122"/>
                <a:cs typeface="Calibri" pitchFamily="34" charset="-120"/>
              </a:rPr>
              <a:t>Child profiles, story outcomes and every generation event: the memory that makes story ten cheap.</a:t>
            </a:r>
            <a:endParaRPr lang="en-US" sz="1150" dirty="0"/>
          </a:p>
        </p:txBody>
      </p:sp>
      <p:sp>
        <p:nvSpPr>
          <p:cNvPr id="16" name="Shape 14"/>
          <p:cNvSpPr/>
          <p:nvPr/>
        </p:nvSpPr>
        <p:spPr>
          <a:xfrm>
            <a:off x="4370832" y="4160520"/>
            <a:ext cx="3410712" cy="1828800"/>
          </a:xfrm>
          <a:prstGeom prst="roundRect">
            <a:avLst>
              <a:gd name="adj" fmla="val 6000"/>
            </a:avLst>
          </a:prstGeom>
          <a:solidFill>
            <a:srgbClr val="24352C"/>
          </a:solidFill>
          <a:ln w="12700">
            <a:solidFill>
              <a:srgbClr val="31463A"/>
            </a:solidFill>
            <a:prstDash val="solid"/>
          </a:ln>
        </p:spPr>
      </p:sp>
      <p:sp>
        <p:nvSpPr>
          <p:cNvPr id="17" name="Text 15"/>
          <p:cNvSpPr txBox="1"/>
          <p:nvPr/>
        </p:nvSpPr>
        <p:spPr>
          <a:xfrm>
            <a:off x="4690872" y="4416552"/>
            <a:ext cx="283464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Agent Development Kit</a:t>
            </a:r>
            <a:endParaRPr lang="en-US" sz="1900" dirty="0"/>
          </a:p>
        </p:txBody>
      </p:sp>
      <p:sp>
        <p:nvSpPr>
          <p:cNvPr id="18" name="Text 16"/>
          <p:cNvSpPr txBox="1"/>
          <p:nvPr/>
        </p:nvSpPr>
        <p:spPr>
          <a:xfrm>
            <a:off x="4690872" y="4873752"/>
            <a:ext cx="2788920" cy="960120"/>
          </a:xfrm>
          <a:prstGeom prst="rect">
            <a:avLst/>
          </a:prstGeom>
          <a:noFill/>
          <a:ln/>
        </p:spPr>
        <p:txBody>
          <a:bodyPr wrap="square" lIns="0" tIns="0" rIns="0" bIns="0" rtlCol="0" anchor="ctr"/>
          <a:lstStyle/>
          <a:p>
            <a:pPr indent="0" marL="0">
              <a:lnSpc>
                <a:spcPts val="1800"/>
              </a:lnSpc>
              <a:buNone/>
            </a:pPr>
            <a:r>
              <a:rPr lang="en-US" sz="1150" dirty="0">
                <a:solidFill>
                  <a:srgbClr val="A8B3AC"/>
                </a:solidFill>
                <a:latin typeface="Calibri" pitchFamily="34" charset="0"/>
                <a:ea typeface="Calibri" pitchFamily="34" charset="-122"/>
                <a:cs typeface="Calibri" pitchFamily="34" charset="-120"/>
              </a:rPr>
              <a:t>The producer agent that runs the pipeline and queries the memory through the ClickHouse MCP server.</a:t>
            </a:r>
            <a:endParaRPr lang="en-US" sz="1150" dirty="0"/>
          </a:p>
        </p:txBody>
      </p:sp>
      <p:sp>
        <p:nvSpPr>
          <p:cNvPr id="19" name="Shape 17"/>
          <p:cNvSpPr/>
          <p:nvPr/>
        </p:nvSpPr>
        <p:spPr>
          <a:xfrm>
            <a:off x="8055864" y="4160520"/>
            <a:ext cx="3410712" cy="1828800"/>
          </a:xfrm>
          <a:prstGeom prst="roundRect">
            <a:avLst>
              <a:gd name="adj" fmla="val 6000"/>
            </a:avLst>
          </a:prstGeom>
          <a:solidFill>
            <a:srgbClr val="24352C"/>
          </a:solidFill>
          <a:ln w="12700">
            <a:solidFill>
              <a:srgbClr val="31463A"/>
            </a:solidFill>
            <a:prstDash val="solid"/>
          </a:ln>
        </p:spPr>
      </p:sp>
      <p:sp>
        <p:nvSpPr>
          <p:cNvPr id="20" name="Text 18"/>
          <p:cNvSpPr txBox="1"/>
          <p:nvPr/>
        </p:nvSpPr>
        <p:spPr>
          <a:xfrm>
            <a:off x="8375904" y="4416552"/>
            <a:ext cx="2834640" cy="3657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Next.js + Hono</a:t>
            </a:r>
            <a:endParaRPr lang="en-US" sz="1900" dirty="0"/>
          </a:p>
        </p:txBody>
      </p:sp>
      <p:sp>
        <p:nvSpPr>
          <p:cNvPr id="21" name="Text 19"/>
          <p:cNvSpPr txBox="1"/>
          <p:nvPr/>
        </p:nvSpPr>
        <p:spPr>
          <a:xfrm>
            <a:off x="8375904" y="4873752"/>
            <a:ext cx="2788920" cy="960120"/>
          </a:xfrm>
          <a:prstGeom prst="rect">
            <a:avLst/>
          </a:prstGeom>
          <a:noFill/>
          <a:ln/>
        </p:spPr>
        <p:txBody>
          <a:bodyPr wrap="square" lIns="0" tIns="0" rIns="0" bIns="0" rtlCol="0" anchor="ctr"/>
          <a:lstStyle/>
          <a:p>
            <a:pPr indent="0" marL="0">
              <a:lnSpc>
                <a:spcPts val="1800"/>
              </a:lnSpc>
              <a:buNone/>
            </a:pPr>
            <a:r>
              <a:rPr lang="en-US" sz="1150" dirty="0">
                <a:solidFill>
                  <a:srgbClr val="A8B3AC"/>
                </a:solidFill>
                <a:latin typeface="Calibri" pitchFamily="34" charset="0"/>
                <a:ea typeface="Calibri" pitchFamily="34" charset="-122"/>
                <a:cs typeface="Calibri" pitchFamily="34" charset="-120"/>
              </a:rPr>
              <a:t>The family app and the API, live on a single small VM behind automatic HTTPS.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789920" cy="256032"/>
          </a:xfrm>
          <a:prstGeom prst="rect">
            <a:avLst/>
          </a:prstGeom>
          <a:noFill/>
          <a:ln/>
        </p:spPr>
        <p:txBody>
          <a:bodyPr wrap="square" lIns="0" tIns="0" rIns="0" bIns="0" rtlCol="0" anchor="ctr"/>
          <a:lstStyle/>
          <a:p>
            <a:pPr indent="0" marL="0">
              <a:buNone/>
            </a:pPr>
            <a:r>
              <a:rPr lang="en-US" sz="1100" b="1" spc="200" kern="0" dirty="0">
                <a:solidFill>
                  <a:srgbClr val="2F7D4F"/>
                </a:solidFill>
                <a:latin typeface="Calibri" pitchFamily="34" charset="0"/>
                <a:ea typeface="Calibri" pitchFamily="34" charset="-122"/>
                <a:cs typeface="Calibri" pitchFamily="34" charset="-120"/>
              </a:rPr>
              <a:t>WHO USES IT</a:t>
            </a:r>
            <a:endParaRPr lang="en-US" sz="1100" dirty="0"/>
          </a:p>
        </p:txBody>
      </p:sp>
      <p:sp>
        <p:nvSpPr>
          <p:cNvPr id="3" name="Text 1"/>
          <p:cNvSpPr txBox="1"/>
          <p:nvPr/>
        </p:nvSpPr>
        <p:spPr>
          <a:xfrm>
            <a:off x="685800" y="713232"/>
            <a:ext cx="10789920" cy="1051560"/>
          </a:xfrm>
          <a:prstGeom prst="rect">
            <a:avLst/>
          </a:prstGeom>
          <a:noFill/>
          <a:ln/>
        </p:spPr>
        <p:txBody>
          <a:bodyPr wrap="square" lIns="0" tIns="0" rIns="0" bIns="0" rtlCol="0" anchor="t"/>
          <a:lstStyle/>
          <a:p>
            <a:pPr indent="0" marL="0">
              <a:buNone/>
            </a:pPr>
            <a:r>
              <a:rPr lang="en-US" sz="3400" b="1" dirty="0">
                <a:solidFill>
                  <a:srgbClr val="24312A"/>
                </a:solidFill>
                <a:latin typeface="Cambria" pitchFamily="34" charset="0"/>
                <a:ea typeface="Cambria" pitchFamily="34" charset="-122"/>
                <a:cs typeface="Cambria" pitchFamily="34" charset="-120"/>
              </a:rPr>
              <a:t>One app, three sets of hands</a:t>
            </a:r>
            <a:endParaRPr lang="en-US" sz="3400" dirty="0"/>
          </a:p>
        </p:txBody>
      </p:sp>
      <p:sp>
        <p:nvSpPr>
          <p:cNvPr id="4" name="Shape 2"/>
          <p:cNvSpPr/>
          <p:nvPr/>
        </p:nvSpPr>
        <p:spPr>
          <a:xfrm>
            <a:off x="685800" y="2011680"/>
            <a:ext cx="3410712" cy="2468880"/>
          </a:xfrm>
          <a:prstGeom prst="roundRect">
            <a:avLst>
              <a:gd name="adj" fmla="val 4444"/>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5" name="Shape 3"/>
          <p:cNvSpPr/>
          <p:nvPr/>
        </p:nvSpPr>
        <p:spPr>
          <a:xfrm>
            <a:off x="1005840" y="2331720"/>
            <a:ext cx="457200" cy="457200"/>
          </a:xfrm>
          <a:prstGeom prst="ellipse">
            <a:avLst/>
          </a:prstGeom>
          <a:solidFill>
            <a:srgbClr val="2F7D4F"/>
          </a:solidFill>
          <a:ln w="12700">
            <a:solidFill>
              <a:srgbClr val="2F7D4F"/>
            </a:solidFill>
            <a:prstDash val="solid"/>
          </a:ln>
        </p:spPr>
      </p:sp>
      <p:sp>
        <p:nvSpPr>
          <p:cNvPr id="6" name="Text 4"/>
          <p:cNvSpPr txBox="1"/>
          <p:nvPr/>
        </p:nvSpPr>
        <p:spPr>
          <a:xfrm>
            <a:off x="1005840"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005840" y="2926080"/>
            <a:ext cx="2788920" cy="411480"/>
          </a:xfrm>
          <a:prstGeom prst="rect">
            <a:avLst/>
          </a:prstGeom>
          <a:noFill/>
          <a:ln/>
        </p:spPr>
        <p:txBody>
          <a:bodyPr wrap="square" lIns="0" tIns="0" rIns="0" bIns="0" rtlCol="0" anchor="ctr"/>
          <a:lstStyle/>
          <a:p>
            <a:pPr indent="0" marL="0">
              <a:buNone/>
            </a:pPr>
            <a:r>
              <a:rPr lang="en-US" sz="2000" b="1" dirty="0">
                <a:solidFill>
                  <a:srgbClr val="24312A"/>
                </a:solidFill>
                <a:latin typeface="Cambria" pitchFamily="34" charset="0"/>
                <a:ea typeface="Cambria" pitchFamily="34" charset="-122"/>
                <a:cs typeface="Cambria" pitchFamily="34" charset="-120"/>
              </a:rPr>
              <a:t>Families</a:t>
            </a:r>
            <a:endParaRPr lang="en-US" sz="2000" dirty="0"/>
          </a:p>
        </p:txBody>
      </p:sp>
      <p:sp>
        <p:nvSpPr>
          <p:cNvPr id="8" name="Text 6"/>
          <p:cNvSpPr txBox="1"/>
          <p:nvPr/>
        </p:nvSpPr>
        <p:spPr>
          <a:xfrm>
            <a:off x="1005840" y="3401568"/>
            <a:ext cx="2788920" cy="1005840"/>
          </a:xfrm>
          <a:prstGeom prst="rect">
            <a:avLst/>
          </a:prstGeom>
          <a:noFill/>
          <a:ln/>
        </p:spPr>
        <p:txBody>
          <a:bodyPr wrap="square" lIns="0" tIns="0" rIns="0" bIns="0" rtlCol="0" anchor="ctr"/>
          <a:lstStyle/>
          <a:p>
            <a:pPr indent="0" marL="0">
              <a:lnSpc>
                <a:spcPts val="1900"/>
              </a:lnSpc>
              <a:buNone/>
            </a:pPr>
            <a:r>
              <a:rPr lang="en-US" sz="1250" dirty="0">
                <a:solidFill>
                  <a:srgbClr val="6E6A61"/>
                </a:solidFill>
                <a:latin typeface="Calibri" pitchFamily="34" charset="0"/>
                <a:ea typeface="Calibri" pitchFamily="34" charset="-122"/>
                <a:cs typeface="Calibri" pitchFamily="34" charset="-120"/>
              </a:rPr>
              <a:t>A parent prepares their own child for the ordinary events that go wrong — the dentist, the haircut, the first day, the flight.</a:t>
            </a:r>
            <a:endParaRPr lang="en-US" sz="1250" dirty="0"/>
          </a:p>
        </p:txBody>
      </p:sp>
      <p:sp>
        <p:nvSpPr>
          <p:cNvPr id="9" name="Shape 7"/>
          <p:cNvSpPr/>
          <p:nvPr/>
        </p:nvSpPr>
        <p:spPr>
          <a:xfrm>
            <a:off x="4370832" y="2011680"/>
            <a:ext cx="3410712" cy="2468880"/>
          </a:xfrm>
          <a:prstGeom prst="roundRect">
            <a:avLst>
              <a:gd name="adj" fmla="val 4444"/>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10" name="Shape 8"/>
          <p:cNvSpPr/>
          <p:nvPr/>
        </p:nvSpPr>
        <p:spPr>
          <a:xfrm>
            <a:off x="4690872" y="2331720"/>
            <a:ext cx="457200" cy="457200"/>
          </a:xfrm>
          <a:prstGeom prst="ellipse">
            <a:avLst/>
          </a:prstGeom>
          <a:solidFill>
            <a:srgbClr val="2F7D4F"/>
          </a:solidFill>
          <a:ln w="12700">
            <a:solidFill>
              <a:srgbClr val="2F7D4F"/>
            </a:solidFill>
            <a:prstDash val="solid"/>
          </a:ln>
        </p:spPr>
      </p:sp>
      <p:sp>
        <p:nvSpPr>
          <p:cNvPr id="11" name="Text 9"/>
          <p:cNvSpPr txBox="1"/>
          <p:nvPr/>
        </p:nvSpPr>
        <p:spPr>
          <a:xfrm>
            <a:off x="4690872"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4690872" y="2926080"/>
            <a:ext cx="2788920" cy="411480"/>
          </a:xfrm>
          <a:prstGeom prst="rect">
            <a:avLst/>
          </a:prstGeom>
          <a:noFill/>
          <a:ln/>
        </p:spPr>
        <p:txBody>
          <a:bodyPr wrap="square" lIns="0" tIns="0" rIns="0" bIns="0" rtlCol="0" anchor="ctr"/>
          <a:lstStyle/>
          <a:p>
            <a:pPr indent="0" marL="0">
              <a:buNone/>
            </a:pPr>
            <a:r>
              <a:rPr lang="en-US" sz="2000" b="1" dirty="0">
                <a:solidFill>
                  <a:srgbClr val="24312A"/>
                </a:solidFill>
                <a:latin typeface="Cambria" pitchFamily="34" charset="0"/>
                <a:ea typeface="Cambria" pitchFamily="34" charset="-122"/>
                <a:cs typeface="Cambria" pitchFamily="34" charset="-120"/>
              </a:rPr>
              <a:t>Clinics</a:t>
            </a:r>
            <a:endParaRPr lang="en-US" sz="2000" dirty="0"/>
          </a:p>
        </p:txBody>
      </p:sp>
      <p:sp>
        <p:nvSpPr>
          <p:cNvPr id="13" name="Text 11"/>
          <p:cNvSpPr txBox="1"/>
          <p:nvPr/>
        </p:nvSpPr>
        <p:spPr>
          <a:xfrm>
            <a:off x="4690872" y="3401568"/>
            <a:ext cx="2788920" cy="1005840"/>
          </a:xfrm>
          <a:prstGeom prst="rect">
            <a:avLst/>
          </a:prstGeom>
          <a:noFill/>
          <a:ln/>
        </p:spPr>
        <p:txBody>
          <a:bodyPr wrap="square" lIns="0" tIns="0" rIns="0" bIns="0" rtlCol="0" anchor="ctr"/>
          <a:lstStyle/>
          <a:p>
            <a:pPr indent="0" marL="0">
              <a:lnSpc>
                <a:spcPts val="1900"/>
              </a:lnSpc>
              <a:buNone/>
            </a:pPr>
            <a:r>
              <a:rPr lang="en-US" sz="1250" dirty="0">
                <a:solidFill>
                  <a:srgbClr val="6E6A61"/>
                </a:solidFill>
                <a:latin typeface="Calibri" pitchFamily="34" charset="0"/>
                <a:ea typeface="Calibri" pitchFamily="34" charset="-122"/>
                <a:cs typeface="Calibri" pitchFamily="34" charset="-120"/>
              </a:rPr>
              <a:t>A practice keeps a story for its own waiting room and its own chair, and sends it home before the appointment.</a:t>
            </a:r>
            <a:endParaRPr lang="en-US" sz="1250" dirty="0"/>
          </a:p>
        </p:txBody>
      </p:sp>
      <p:sp>
        <p:nvSpPr>
          <p:cNvPr id="14" name="Shape 12"/>
          <p:cNvSpPr/>
          <p:nvPr/>
        </p:nvSpPr>
        <p:spPr>
          <a:xfrm>
            <a:off x="8055864" y="2011680"/>
            <a:ext cx="3410712" cy="2468880"/>
          </a:xfrm>
          <a:prstGeom prst="roundRect">
            <a:avLst>
              <a:gd name="adj" fmla="val 4444"/>
            </a:avLst>
          </a:prstGeom>
          <a:solidFill>
            <a:srgbClr val="F3F1EA"/>
          </a:solidFill>
          <a:ln w="12700">
            <a:solidFill>
              <a:srgbClr val="F3F1EA"/>
            </a:solidFill>
            <a:prstDash val="solid"/>
          </a:ln>
          <a:effectLst>
            <a:outerShdw sx="100000" sy="100000" kx="0" ky="0" algn="bl" rotWithShape="0" blurRad="127000" dist="25400" dir="5400000">
              <a:srgbClr val="8A8578">
                <a:alpha val="18000"/>
              </a:srgbClr>
            </a:outerShdw>
          </a:effectLst>
        </p:spPr>
      </p:sp>
      <p:sp>
        <p:nvSpPr>
          <p:cNvPr id="15" name="Shape 13"/>
          <p:cNvSpPr/>
          <p:nvPr/>
        </p:nvSpPr>
        <p:spPr>
          <a:xfrm>
            <a:off x="8375904" y="2331720"/>
            <a:ext cx="457200" cy="457200"/>
          </a:xfrm>
          <a:prstGeom prst="ellipse">
            <a:avLst/>
          </a:prstGeom>
          <a:solidFill>
            <a:srgbClr val="2F7D4F"/>
          </a:solidFill>
          <a:ln w="12700">
            <a:solidFill>
              <a:srgbClr val="2F7D4F"/>
            </a:solidFill>
            <a:prstDash val="solid"/>
          </a:ln>
        </p:spPr>
      </p:sp>
      <p:sp>
        <p:nvSpPr>
          <p:cNvPr id="16" name="Text 14"/>
          <p:cNvSpPr txBox="1"/>
          <p:nvPr/>
        </p:nvSpPr>
        <p:spPr>
          <a:xfrm>
            <a:off x="8375904"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8375904" y="2926080"/>
            <a:ext cx="2788920" cy="411480"/>
          </a:xfrm>
          <a:prstGeom prst="rect">
            <a:avLst/>
          </a:prstGeom>
          <a:noFill/>
          <a:ln/>
        </p:spPr>
        <p:txBody>
          <a:bodyPr wrap="square" lIns="0" tIns="0" rIns="0" bIns="0" rtlCol="0" anchor="ctr"/>
          <a:lstStyle/>
          <a:p>
            <a:pPr indent="0" marL="0">
              <a:buNone/>
            </a:pPr>
            <a:r>
              <a:rPr lang="en-US" sz="2000" b="1" dirty="0">
                <a:solidFill>
                  <a:srgbClr val="24312A"/>
                </a:solidFill>
                <a:latin typeface="Cambria" pitchFamily="34" charset="0"/>
                <a:ea typeface="Cambria" pitchFamily="34" charset="-122"/>
                <a:cs typeface="Cambria" pitchFamily="34" charset="-120"/>
              </a:rPr>
              <a:t>Schools</a:t>
            </a:r>
            <a:endParaRPr lang="en-US" sz="2000" dirty="0"/>
          </a:p>
        </p:txBody>
      </p:sp>
      <p:sp>
        <p:nvSpPr>
          <p:cNvPr id="18" name="Text 16"/>
          <p:cNvSpPr txBox="1"/>
          <p:nvPr/>
        </p:nvSpPr>
        <p:spPr>
          <a:xfrm>
            <a:off x="8375904" y="3401568"/>
            <a:ext cx="2788920" cy="1005840"/>
          </a:xfrm>
          <a:prstGeom prst="rect">
            <a:avLst/>
          </a:prstGeom>
          <a:noFill/>
          <a:ln/>
        </p:spPr>
        <p:txBody>
          <a:bodyPr wrap="square" lIns="0" tIns="0" rIns="0" bIns="0" rtlCol="0" anchor="ctr"/>
          <a:lstStyle/>
          <a:p>
            <a:pPr indent="0" marL="0">
              <a:lnSpc>
                <a:spcPts val="1900"/>
              </a:lnSpc>
              <a:buNone/>
            </a:pPr>
            <a:r>
              <a:rPr lang="en-US" sz="1250" dirty="0">
                <a:solidFill>
                  <a:srgbClr val="6E6A61"/>
                </a:solidFill>
                <a:latin typeface="Calibri" pitchFamily="34" charset="0"/>
                <a:ea typeface="Calibri" pitchFamily="34" charset="-122"/>
                <a:cs typeface="Calibri" pitchFamily="34" charset="-120"/>
              </a:rPr>
              <a:t>A teacher or speech therapist builds a library per child, and keeps what actually worked from term to term.</a:t>
            </a:r>
            <a:endParaRPr lang="en-US" sz="1250" dirty="0"/>
          </a:p>
        </p:txBody>
      </p:sp>
      <p:sp>
        <p:nvSpPr>
          <p:cNvPr id="19" name="Text 17"/>
          <p:cNvSpPr txBox="1"/>
          <p:nvPr/>
        </p:nvSpPr>
        <p:spPr>
          <a:xfrm>
            <a:off x="685800" y="4800600"/>
            <a:ext cx="10817352" cy="1097280"/>
          </a:xfrm>
          <a:prstGeom prst="rect">
            <a:avLst/>
          </a:prstGeom>
          <a:noFill/>
          <a:ln/>
        </p:spPr>
        <p:txBody>
          <a:bodyPr wrap="square" lIns="0" tIns="0" rIns="0" bIns="0" rtlCol="0" anchor="ctr"/>
          <a:lstStyle/>
          <a:p>
            <a:pPr indent="0" marL="0">
              <a:lnSpc>
                <a:spcPts val="2800"/>
              </a:lnSpc>
              <a:buNone/>
            </a:pPr>
            <a:r>
              <a:rPr lang="en-US" sz="1600" dirty="0">
                <a:solidFill>
                  <a:srgbClr val="24312A"/>
                </a:solidFill>
                <a:latin typeface="Calibri" pitchFamily="34" charset="0"/>
                <a:ea typeface="Calibri" pitchFamily="34" charset="-122"/>
                <a:cs typeface="Calibri" pitchFamily="34" charset="-120"/>
              </a:rPr>
              <a:t>A child who has already seen the room walks in having been there once. That is the whole product: the second time is easier than the first, so we give them the first time on a screen, at home, where nothing can go wrong.</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23"/>
        </a:solidFill>
      </p:bgPr>
    </p:bg>
    <p:spTree>
      <p:nvGrpSpPr>
        <p:cNvPr id="1" name=""/>
        <p:cNvGrpSpPr/>
        <p:nvPr/>
      </p:nvGrpSpPr>
      <p:grpSpPr>
        <a:xfrm>
          <a:off x="0" y="0"/>
          <a:ext cx="0" cy="0"/>
          <a:chOff x="0" y="0"/>
          <a:chExt cx="0" cy="0"/>
        </a:xfrm>
      </p:grpSpPr>
      <p:sp>
        <p:nvSpPr>
          <p:cNvPr id="2" name="Shape 0"/>
          <p:cNvSpPr/>
          <p:nvPr/>
        </p:nvSpPr>
        <p:spPr>
          <a:xfrm>
            <a:off x="685800" y="1417320"/>
            <a:ext cx="731520" cy="731520"/>
          </a:xfrm>
          <a:prstGeom prst="roundRect">
            <a:avLst>
              <a:gd name="adj" fmla="val 22500"/>
            </a:avLst>
          </a:prstGeom>
          <a:solidFill>
            <a:srgbClr val="2F7D4F"/>
          </a:solidFill>
          <a:ln w="12700">
            <a:solidFill>
              <a:srgbClr val="2F7D4F"/>
            </a:solidFill>
            <a:prstDash val="solid"/>
          </a:ln>
        </p:spPr>
      </p:sp>
      <p:sp>
        <p:nvSpPr>
          <p:cNvPr id="3" name="Text 1"/>
          <p:cNvSpPr txBox="1"/>
          <p:nvPr/>
        </p:nvSpPr>
        <p:spPr>
          <a:xfrm>
            <a:off x="685800" y="1417320"/>
            <a:ext cx="731520" cy="73152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P</a:t>
            </a:r>
            <a:endParaRPr lang="en-US" sz="3600" dirty="0"/>
          </a:p>
        </p:txBody>
      </p:sp>
      <p:sp>
        <p:nvSpPr>
          <p:cNvPr id="4" name="Text 2"/>
          <p:cNvSpPr txBox="1"/>
          <p:nvPr/>
        </p:nvSpPr>
        <p:spPr>
          <a:xfrm>
            <a:off x="685800" y="2377440"/>
            <a:ext cx="1051560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It is live. Try it.</a:t>
            </a:r>
            <a:endParaRPr lang="en-US" sz="4600" dirty="0"/>
          </a:p>
        </p:txBody>
      </p:sp>
      <p:sp>
        <p:nvSpPr>
          <p:cNvPr id="5" name="Text 3"/>
          <p:cNvSpPr txBox="1"/>
          <p:nvPr/>
        </p:nvSpPr>
        <p:spPr>
          <a:xfrm>
            <a:off x="685800" y="3337560"/>
            <a:ext cx="7315200" cy="502920"/>
          </a:xfrm>
          <a:prstGeom prst="rect">
            <a:avLst/>
          </a:prstGeom>
          <a:noFill/>
          <a:ln/>
        </p:spPr>
        <p:txBody>
          <a:bodyPr wrap="square" lIns="0" tIns="0" rIns="0" bIns="0" rtlCol="0" anchor="ctr"/>
          <a:lstStyle/>
          <a:p>
            <a:pPr indent="0" marL="0">
              <a:buNone/>
            </a:pPr>
            <a:r>
              <a:rPr lang="en-US" sz="2600" b="1" dirty="0">
                <a:solidFill>
                  <a:srgbClr val="2F7D4F"/>
                </a:solidFill>
                <a:latin typeface="Calibri" pitchFamily="34" charset="0"/>
                <a:ea typeface="Calibri" pitchFamily="34" charset="-122"/>
                <a:cs typeface="Calibri" pitchFamily="34" charset="-120"/>
              </a:rPr>
              <a:t>previewpal.duckdns.org</a:t>
            </a:r>
            <a:endParaRPr lang="en-US" sz="2600" dirty="0"/>
          </a:p>
        </p:txBody>
      </p:sp>
      <p:sp>
        <p:nvSpPr>
          <p:cNvPr id="6" name="Text 4"/>
          <p:cNvSpPr txBox="1"/>
          <p:nvPr/>
        </p:nvSpPr>
        <p:spPr>
          <a:xfrm>
            <a:off x="685800" y="3886200"/>
            <a:ext cx="7315200" cy="411480"/>
          </a:xfrm>
          <a:prstGeom prst="rect">
            <a:avLst/>
          </a:prstGeom>
          <a:noFill/>
          <a:ln/>
        </p:spPr>
        <p:txBody>
          <a:bodyPr wrap="square" lIns="0" tIns="0" rIns="0" bIns="0" rtlCol="0" anchor="ctr"/>
          <a:lstStyle/>
          <a:p>
            <a:pPr indent="0" marL="0">
              <a:buNone/>
            </a:pPr>
            <a:r>
              <a:rPr lang="en-US" sz="1700" dirty="0">
                <a:solidFill>
                  <a:srgbClr val="E8E4D9"/>
                </a:solidFill>
                <a:latin typeface="Calibri" pitchFamily="34" charset="0"/>
                <a:ea typeface="Calibri" pitchFamily="34" charset="-122"/>
                <a:cs typeface="Calibri" pitchFamily="34" charset="-120"/>
              </a:rPr>
              <a:t>github.com/ParishruthiGanesh/Agentic_Cinema</a:t>
            </a:r>
            <a:endParaRPr lang="en-US" sz="1700" dirty="0"/>
          </a:p>
        </p:txBody>
      </p:sp>
      <p:sp>
        <p:nvSpPr>
          <p:cNvPr id="7" name="Text 5"/>
          <p:cNvSpPr txBox="1"/>
          <p:nvPr/>
        </p:nvSpPr>
        <p:spPr>
          <a:xfrm>
            <a:off x="685800" y="4846320"/>
            <a:ext cx="10515600" cy="457200"/>
          </a:xfrm>
          <a:prstGeom prst="rect">
            <a:avLst/>
          </a:prstGeom>
          <a:noFill/>
          <a:ln/>
        </p:spPr>
        <p:txBody>
          <a:bodyPr wrap="square" lIns="0" tIns="0" rIns="0" bIns="0" rtlCol="0" anchor="ctr"/>
          <a:lstStyle/>
          <a:p>
            <a:pPr indent="0" marL="0">
              <a:buNone/>
            </a:pPr>
            <a:r>
              <a:rPr lang="en-US" sz="2000" i="1" dirty="0">
                <a:solidFill>
                  <a:srgbClr val="A8B3AC"/>
                </a:solidFill>
                <a:latin typeface="Cambria" pitchFamily="34" charset="0"/>
                <a:ea typeface="Cambria" pitchFamily="34" charset="-122"/>
                <a:cs typeface="Cambria" pitchFamily="34" charset="-120"/>
              </a:rPr>
              <a:t>No surprises. Your child's day, pictured before it happens.</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411480"/>
            <a:ext cx="10789920" cy="256032"/>
          </a:xfrm>
          <a:prstGeom prst="rect">
            <a:avLst/>
          </a:prstGeom>
          <a:noFill/>
          <a:ln/>
        </p:spPr>
        <p:txBody>
          <a:bodyPr wrap="square" lIns="0" tIns="0" rIns="0" bIns="0" rtlCol="0" anchor="ctr"/>
          <a:lstStyle/>
          <a:p>
            <a:pPr indent="0" marL="0">
              <a:buNone/>
            </a:pPr>
            <a:r>
              <a:rPr lang="en-US" sz="1100" b="1" spc="200" kern="0" dirty="0">
                <a:solidFill>
                  <a:srgbClr val="2F7D4F"/>
                </a:solidFill>
                <a:latin typeface="Calibri" pitchFamily="34" charset="0"/>
                <a:ea typeface="Calibri" pitchFamily="34" charset="-122"/>
                <a:cs typeface="Calibri" pitchFamily="34" charset="-120"/>
              </a:rPr>
              <a:t>EVERY FIGURE IN THIS DECK</a:t>
            </a:r>
            <a:endParaRPr lang="en-US" sz="1100" dirty="0"/>
          </a:p>
        </p:txBody>
      </p:sp>
      <p:sp>
        <p:nvSpPr>
          <p:cNvPr id="3" name="Text 1"/>
          <p:cNvSpPr txBox="1"/>
          <p:nvPr/>
        </p:nvSpPr>
        <p:spPr>
          <a:xfrm>
            <a:off x="685800" y="713232"/>
            <a:ext cx="10789920" cy="1051560"/>
          </a:xfrm>
          <a:prstGeom prst="rect">
            <a:avLst/>
          </a:prstGeom>
          <a:noFill/>
          <a:ln/>
        </p:spPr>
        <p:txBody>
          <a:bodyPr wrap="square" lIns="0" tIns="0" rIns="0" bIns="0" rtlCol="0" anchor="t"/>
          <a:lstStyle/>
          <a:p>
            <a:pPr indent="0" marL="0">
              <a:buNone/>
            </a:pPr>
            <a:r>
              <a:rPr lang="en-US" sz="3400" b="1" dirty="0">
                <a:solidFill>
                  <a:srgbClr val="24312A"/>
                </a:solidFill>
                <a:latin typeface="Cambria" pitchFamily="34" charset="0"/>
                <a:ea typeface="Cambria" pitchFamily="34" charset="-122"/>
                <a:cs typeface="Cambria" pitchFamily="34" charset="-120"/>
              </a:rPr>
              <a:t>Sources</a:t>
            </a:r>
            <a:endParaRPr lang="en-US" sz="3400" dirty="0"/>
          </a:p>
        </p:txBody>
      </p:sp>
      <p:sp>
        <p:nvSpPr>
          <p:cNvPr id="4" name="Text 2"/>
          <p:cNvSpPr txBox="1"/>
          <p:nvPr/>
        </p:nvSpPr>
        <p:spPr>
          <a:xfrm>
            <a:off x="685800" y="1965960"/>
            <a:ext cx="10817352" cy="256032"/>
          </a:xfrm>
          <a:prstGeom prst="rect">
            <a:avLst/>
          </a:prstGeom>
          <a:noFill/>
          <a:ln/>
        </p:spPr>
        <p:txBody>
          <a:bodyPr wrap="square" lIns="0" tIns="0" rIns="0" bIns="0" rtlCol="0" anchor="ctr"/>
          <a:lstStyle/>
          <a:p>
            <a:pPr indent="0" marL="0">
              <a:buNone/>
            </a:pPr>
            <a:r>
              <a:rPr lang="en-US" sz="1300" b="1" dirty="0">
                <a:solidFill>
                  <a:srgbClr val="24312A"/>
                </a:solidFill>
                <a:latin typeface="Calibri" pitchFamily="34" charset="0"/>
                <a:ea typeface="Calibri" pitchFamily="34" charset="-122"/>
                <a:cs typeface="Calibri" pitchFamily="34" charset="-120"/>
              </a:rPr>
              <a:t>1 in 31 US 8-year-olds; 1 in 34 at age 4 (2022 surveillance year)</a:t>
            </a:r>
            <a:endParaRPr lang="en-US" sz="1300" dirty="0"/>
          </a:p>
        </p:txBody>
      </p:sp>
      <p:sp>
        <p:nvSpPr>
          <p:cNvPr id="5" name="Text 3"/>
          <p:cNvSpPr txBox="1"/>
          <p:nvPr/>
        </p:nvSpPr>
        <p:spPr>
          <a:xfrm>
            <a:off x="685800" y="2240280"/>
            <a:ext cx="10817352" cy="566928"/>
          </a:xfrm>
          <a:prstGeom prst="rect">
            <a:avLst/>
          </a:prstGeom>
          <a:noFill/>
          <a:ln/>
        </p:spPr>
        <p:txBody>
          <a:bodyPr wrap="square" lIns="0" tIns="0" rIns="0" bIns="0" rtlCol="0" anchor="ctr"/>
          <a:lstStyle/>
          <a:p>
            <a:pPr indent="0" marL="0">
              <a:lnSpc>
                <a:spcPts val="1600"/>
              </a:lnSpc>
              <a:buNone/>
            </a:pPr>
            <a:r>
              <a:rPr lang="en-US" sz="1150" dirty="0">
                <a:solidFill>
                  <a:srgbClr val="6E6A61"/>
                </a:solidFill>
                <a:latin typeface="Calibri" pitchFamily="34" charset="0"/>
                <a:ea typeface="Calibri" pitchFamily="34" charset="-122"/>
                <a:cs typeface="Calibri" pitchFamily="34" charset="-120"/>
              </a:rPr>
              <a:t>Prevalence and Early Identification of Autism Spectrum Disorder Among Children Aged 4 and 8 Years — Autism and Developmental Disabilities Monitoring Network, 16 Sites, United States, 2022. MMWR Surveillance Summaries, CDC, April 2025.</a:t>
            </a:r>
            <a:endParaRPr lang="en-US" sz="1150" dirty="0"/>
          </a:p>
        </p:txBody>
      </p:sp>
      <p:sp>
        <p:nvSpPr>
          <p:cNvPr id="6" name="Text 4"/>
          <p:cNvSpPr txBox="1"/>
          <p:nvPr/>
        </p:nvSpPr>
        <p:spPr>
          <a:xfrm>
            <a:off x="685800" y="2834640"/>
            <a:ext cx="10817352" cy="256032"/>
          </a:xfrm>
          <a:prstGeom prst="rect">
            <a:avLst/>
          </a:prstGeom>
          <a:noFill/>
          <a:ln/>
        </p:spPr>
        <p:txBody>
          <a:bodyPr wrap="square" lIns="0" tIns="0" rIns="0" bIns="0" rtlCol="0" anchor="ctr"/>
          <a:lstStyle/>
          <a:p>
            <a:pPr indent="0" marL="0">
              <a:buNone/>
            </a:pPr>
            <a:r>
              <a:rPr lang="en-US" sz="1300" b="1" dirty="0">
                <a:solidFill>
                  <a:srgbClr val="24312A"/>
                </a:solidFill>
                <a:latin typeface="Calibri" pitchFamily="34" charset="0"/>
                <a:ea typeface="Calibri" pitchFamily="34" charset="-122"/>
                <a:cs typeface="Calibri" pitchFamily="34" charset="-120"/>
              </a:rPr>
              <a:t>61.8 million people worldwide, about 1 in 127 (2021)</a:t>
            </a:r>
            <a:endParaRPr lang="en-US" sz="1300" dirty="0"/>
          </a:p>
        </p:txBody>
      </p:sp>
      <p:sp>
        <p:nvSpPr>
          <p:cNvPr id="7" name="Text 5"/>
          <p:cNvSpPr txBox="1"/>
          <p:nvPr/>
        </p:nvSpPr>
        <p:spPr>
          <a:xfrm>
            <a:off x="685800" y="3108960"/>
            <a:ext cx="10817352" cy="566928"/>
          </a:xfrm>
          <a:prstGeom prst="rect">
            <a:avLst/>
          </a:prstGeom>
          <a:noFill/>
          <a:ln/>
        </p:spPr>
        <p:txBody>
          <a:bodyPr wrap="square" lIns="0" tIns="0" rIns="0" bIns="0" rtlCol="0" anchor="ctr"/>
          <a:lstStyle/>
          <a:p>
            <a:pPr indent="0" marL="0">
              <a:lnSpc>
                <a:spcPts val="1600"/>
              </a:lnSpc>
              <a:buNone/>
            </a:pPr>
            <a:r>
              <a:rPr lang="en-US" sz="1150" dirty="0">
                <a:solidFill>
                  <a:srgbClr val="6E6A61"/>
                </a:solidFill>
                <a:latin typeface="Calibri" pitchFamily="34" charset="0"/>
                <a:ea typeface="Calibri" pitchFamily="34" charset="-122"/>
                <a:cs typeface="Calibri" pitchFamily="34" charset="-120"/>
              </a:rPr>
              <a:t>The global epidemiology and health burden of the autism spectrum: findings from the Global Burden of Disease Study 2021. The Lancet Psychiatry, December 2024.</a:t>
            </a:r>
            <a:endParaRPr lang="en-US" sz="1150" dirty="0"/>
          </a:p>
        </p:txBody>
      </p:sp>
      <p:sp>
        <p:nvSpPr>
          <p:cNvPr id="8" name="Text 6"/>
          <p:cNvSpPr txBox="1"/>
          <p:nvPr/>
        </p:nvSpPr>
        <p:spPr>
          <a:xfrm>
            <a:off x="685800" y="3703320"/>
            <a:ext cx="10817352" cy="256032"/>
          </a:xfrm>
          <a:prstGeom prst="rect">
            <a:avLst/>
          </a:prstGeom>
          <a:noFill/>
          <a:ln/>
        </p:spPr>
        <p:txBody>
          <a:bodyPr wrap="square" lIns="0" tIns="0" rIns="0" bIns="0" rtlCol="0" anchor="ctr"/>
          <a:lstStyle/>
          <a:p>
            <a:pPr indent="0" marL="0">
              <a:buNone/>
            </a:pPr>
            <a:r>
              <a:rPr lang="en-US" sz="1300" b="1" dirty="0">
                <a:solidFill>
                  <a:srgbClr val="24312A"/>
                </a:solidFill>
                <a:latin typeface="Calibri" pitchFamily="34" charset="0"/>
                <a:ea typeface="Calibri" pitchFamily="34" charset="-122"/>
                <a:cs typeface="Calibri" pitchFamily="34" charset="-120"/>
              </a:rPr>
              <a:t>74% of autistic children had documented sensory features</a:t>
            </a:r>
            <a:endParaRPr lang="en-US" sz="1300" dirty="0"/>
          </a:p>
        </p:txBody>
      </p:sp>
      <p:sp>
        <p:nvSpPr>
          <p:cNvPr id="9" name="Text 7"/>
          <p:cNvSpPr txBox="1"/>
          <p:nvPr/>
        </p:nvSpPr>
        <p:spPr>
          <a:xfrm>
            <a:off x="685800" y="3977640"/>
            <a:ext cx="10817352" cy="566928"/>
          </a:xfrm>
          <a:prstGeom prst="rect">
            <a:avLst/>
          </a:prstGeom>
          <a:noFill/>
          <a:ln/>
        </p:spPr>
        <p:txBody>
          <a:bodyPr wrap="square" lIns="0" tIns="0" rIns="0" bIns="0" rtlCol="0" anchor="ctr"/>
          <a:lstStyle/>
          <a:p>
            <a:pPr indent="0" marL="0">
              <a:lnSpc>
                <a:spcPts val="1600"/>
              </a:lnSpc>
              <a:buNone/>
            </a:pPr>
            <a:r>
              <a:rPr lang="en-US" sz="1150" dirty="0">
                <a:solidFill>
                  <a:srgbClr val="6E6A61"/>
                </a:solidFill>
                <a:latin typeface="Calibri" pitchFamily="34" charset="0"/>
                <a:ea typeface="Calibri" pitchFamily="34" charset="-122"/>
                <a:cs typeface="Calibri" pitchFamily="34" charset="-120"/>
              </a:rPr>
              <a:t>Sensory features in autism: findings from a large population-based surveillance system. ADDM Network, 25,627 children aged 4 and 8, 2006–2014. Autism Research, 2022.</a:t>
            </a:r>
            <a:endParaRPr lang="en-US" sz="1150" dirty="0"/>
          </a:p>
        </p:txBody>
      </p:sp>
      <p:sp>
        <p:nvSpPr>
          <p:cNvPr id="10" name="Text 8"/>
          <p:cNvSpPr txBox="1"/>
          <p:nvPr/>
        </p:nvSpPr>
        <p:spPr>
          <a:xfrm>
            <a:off x="685800" y="4572000"/>
            <a:ext cx="10817352" cy="256032"/>
          </a:xfrm>
          <a:prstGeom prst="rect">
            <a:avLst/>
          </a:prstGeom>
          <a:noFill/>
          <a:ln/>
        </p:spPr>
        <p:txBody>
          <a:bodyPr wrap="square" lIns="0" tIns="0" rIns="0" bIns="0" rtlCol="0" anchor="ctr"/>
          <a:lstStyle/>
          <a:p>
            <a:pPr indent="0" marL="0">
              <a:buNone/>
            </a:pPr>
            <a:r>
              <a:rPr lang="en-US" sz="1300" b="1" dirty="0">
                <a:solidFill>
                  <a:srgbClr val="24312A"/>
                </a:solidFill>
                <a:latin typeface="Calibri" pitchFamily="34" charset="0"/>
                <a:ea typeface="Calibri" pitchFamily="34" charset="-122"/>
                <a:cs typeface="Calibri" pitchFamily="34" charset="-120"/>
              </a:rPr>
              <a:t>15.1% unmet dental need among US children with autism</a:t>
            </a:r>
            <a:endParaRPr lang="en-US" sz="1300" dirty="0"/>
          </a:p>
        </p:txBody>
      </p:sp>
      <p:sp>
        <p:nvSpPr>
          <p:cNvPr id="11" name="Text 9"/>
          <p:cNvSpPr txBox="1"/>
          <p:nvPr/>
        </p:nvSpPr>
        <p:spPr>
          <a:xfrm>
            <a:off x="685800" y="4846320"/>
            <a:ext cx="10817352" cy="566928"/>
          </a:xfrm>
          <a:prstGeom prst="rect">
            <a:avLst/>
          </a:prstGeom>
          <a:noFill/>
          <a:ln/>
        </p:spPr>
        <p:txBody>
          <a:bodyPr wrap="square" lIns="0" tIns="0" rIns="0" bIns="0" rtlCol="0" anchor="ctr"/>
          <a:lstStyle/>
          <a:p>
            <a:pPr indent="0" marL="0">
              <a:lnSpc>
                <a:spcPts val="1600"/>
              </a:lnSpc>
              <a:buNone/>
            </a:pPr>
            <a:r>
              <a:rPr lang="en-US" sz="1150" dirty="0">
                <a:solidFill>
                  <a:srgbClr val="6E6A61"/>
                </a:solidFill>
                <a:latin typeface="Calibri" pitchFamily="34" charset="0"/>
                <a:ea typeface="Calibri" pitchFamily="34" charset="-122"/>
                <a:cs typeface="Calibri" pitchFamily="34" charset="-120"/>
              </a:rPr>
              <a:t>Predictors of unmet dental need in children with autism spectrum disorder: results from a national sample. Academic Pediatrics, 2014.</a:t>
            </a:r>
            <a:endParaRPr lang="en-US" sz="1150" dirty="0"/>
          </a:p>
        </p:txBody>
      </p:sp>
      <p:sp>
        <p:nvSpPr>
          <p:cNvPr id="12" name="Text 10"/>
          <p:cNvSpPr txBox="1"/>
          <p:nvPr/>
        </p:nvSpPr>
        <p:spPr>
          <a:xfrm>
            <a:off x="685800" y="5440680"/>
            <a:ext cx="10817352" cy="256032"/>
          </a:xfrm>
          <a:prstGeom prst="rect">
            <a:avLst/>
          </a:prstGeom>
          <a:noFill/>
          <a:ln/>
        </p:spPr>
        <p:txBody>
          <a:bodyPr wrap="square" lIns="0" tIns="0" rIns="0" bIns="0" rtlCol="0" anchor="ctr"/>
          <a:lstStyle/>
          <a:p>
            <a:pPr indent="0" marL="0">
              <a:buNone/>
            </a:pPr>
            <a:r>
              <a:rPr lang="en-US" sz="1300" b="1" dirty="0">
                <a:solidFill>
                  <a:srgbClr val="24312A"/>
                </a:solidFill>
                <a:latin typeface="Calibri" pitchFamily="34" charset="0"/>
                <a:ea typeface="Calibri" pitchFamily="34" charset="-122"/>
                <a:cs typeface="Calibri" pitchFamily="34" charset="-120"/>
              </a:rPr>
              <a:t>Social stories: moderate overall effect, strongest for school-aged children</a:t>
            </a:r>
            <a:endParaRPr lang="en-US" sz="1300" dirty="0"/>
          </a:p>
        </p:txBody>
      </p:sp>
      <p:sp>
        <p:nvSpPr>
          <p:cNvPr id="13" name="Text 11"/>
          <p:cNvSpPr txBox="1"/>
          <p:nvPr/>
        </p:nvSpPr>
        <p:spPr>
          <a:xfrm>
            <a:off x="685800" y="5715000"/>
            <a:ext cx="10817352" cy="566928"/>
          </a:xfrm>
          <a:prstGeom prst="rect">
            <a:avLst/>
          </a:prstGeom>
          <a:noFill/>
          <a:ln/>
        </p:spPr>
        <p:txBody>
          <a:bodyPr wrap="square" lIns="0" tIns="0" rIns="0" bIns="0" rtlCol="0" anchor="ctr"/>
          <a:lstStyle/>
          <a:p>
            <a:pPr indent="0" marL="0">
              <a:lnSpc>
                <a:spcPts val="1600"/>
              </a:lnSpc>
              <a:buNone/>
            </a:pPr>
            <a:r>
              <a:rPr lang="en-US" sz="1150" dirty="0">
                <a:solidFill>
                  <a:srgbClr val="6E6A61"/>
                </a:solidFill>
                <a:latin typeface="Calibri" pitchFamily="34" charset="0"/>
                <a:ea typeface="Calibri" pitchFamily="34" charset="-122"/>
                <a:cs typeface="Calibri" pitchFamily="34" charset="-120"/>
              </a:rPr>
              <a:t>The effects of social story interventions on individuals with autism spectrum disorders and influencing factors: a meta-analysis of single-case experimental studies. Frontiers in Psychology, 2026.</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Preview Pal</dc:title>
  <dc:subject>PptxGenJS Presentation</dc:subject>
  <dc:creator>Preview Pal</dc:creator>
  <cp:lastModifiedBy>Preview Pal</cp:lastModifiedBy>
  <cp:revision>1</cp:revision>
  <dcterms:created xsi:type="dcterms:W3CDTF">2026-09-08T04:16:16Z</dcterms:created>
  <dcterms:modified xsi:type="dcterms:W3CDTF">2026-09-08T04:16:16Z</dcterms:modified>
</cp:coreProperties>
</file>